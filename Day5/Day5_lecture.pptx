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9" Type="http://schemas.openxmlformats.org/officeDocument/2006/relationships/viewProps" Target="viewProps.xml" /><Relationship Id="rId4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1" Type="http://schemas.openxmlformats.org/officeDocument/2006/relationships/tableStyles" Target="tableStyles.xml" /><Relationship Id="rId5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/>
          </a:bodyPr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703320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600">
          <a:solidFill>
            <a:srgbClr val="1F4E5F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35000"/>
        </a:spcBef>
        <a:buFont typeface="Arial"/>
        <a:buChar char="•"/>
        <a:defRPr kern="1200" sz="17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35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35000"/>
        </a:spcBef>
        <a:buFont typeface="Arial"/>
        <a:buChar char="•"/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35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35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35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35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35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35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Clustering, Annotation, and What Comes Next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Day 5 — Transcriptomics Summer School, Sarajevo</a:t>
            </a:r>
            <a:br/>
            <a:br/>
            <a:r>
              <a:rPr/>
              <a:t>Instructor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30 September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Block 1 — Clustering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have a UMAP with visible groups of cells and no names for anything.</a:t>
            </a:r>
          </a:p>
          <a:p>
            <a:pPr lvl="0" indent="0" marL="0">
              <a:buNone/>
            </a:pPr>
            <a:r>
              <a:rPr/>
              <a:t>Today: turn that into named populations, then survey everything this week did not cover.</a:t>
            </a:r>
          </a:p>
          <a:p>
            <a:pPr lvl="0" indent="0" marL="0">
              <a:buNone/>
            </a:pPr>
            <a:r>
              <a:rPr/>
              <a:t>The hard part is not the clustering. It is knowing how much to believe.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Graph-based clustering, in four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kNN graph</a:t>
            </a:r>
            <a:r>
              <a:rPr/>
              <a:t> — for each cell, find its </a:t>
            </a:r>
            <a:r>
              <a:rPr i="1"/>
              <a:t>k</a:t>
            </a:r>
            <a:r>
              <a:rPr/>
              <a:t> nearest neighbours in PCA space (not gene space, not UMAP space)</a:t>
            </a:r>
          </a:p>
          <a:p>
            <a:pPr lvl="0" indent="-342900" marL="342900">
              <a:buAutoNum type="arabicPeriod"/>
            </a:pPr>
            <a:r>
              <a:rPr b="1"/>
              <a:t>SNN weighting</a:t>
            </a:r>
            <a:r>
              <a:rPr/>
              <a:t> — reweight each edge by how many neighbours the two cells </a:t>
            </a:r>
            <a:r>
              <a:rPr i="1"/>
              <a:t>share</a:t>
            </a:r>
            <a:r>
              <a:rPr/>
              <a:t>. Shared-nearest-neighbour weighting suppresses the spurious edges that plague kNN in high dimensions</a:t>
            </a:r>
          </a:p>
          <a:p>
            <a:pPr lvl="0" indent="-342900" marL="342900">
              <a:buAutoNum type="arabicPeriod"/>
            </a:pPr>
            <a:r>
              <a:rPr b="1"/>
              <a:t>Community detection</a:t>
            </a:r>
            <a:r>
              <a:rPr/>
              <a:t> — partition the graph to maximise modularity: more edges within communities than expected by chance</a:t>
            </a:r>
          </a:p>
          <a:p>
            <a:pPr lvl="0" indent="-342900" marL="342900">
              <a:buAutoNum type="arabicPeriod"/>
            </a:pPr>
            <a:r>
              <a:rPr b="1"/>
              <a:t>Assign</a:t>
            </a:r>
            <a:r>
              <a:rPr/>
              <a:t> each cell its community label</a:t>
            </a:r>
          </a:p>
          <a:p>
            <a:pPr lvl="0" indent="0">
              <a:buNone/>
            </a:pPr>
            <a:r>
              <a:rPr sz="1300">
                <a:latin typeface="Consolas"/>
              </a:rPr>
              <a:t>obj </a:t>
            </a:r>
            <a:r>
              <a:rPr>
                <a:solidFill>
                  <a:srgbClr val="007020"/>
                </a:solidFill>
                <a:latin typeface="Consolas"/>
              </a:rPr>
              <a:t>&lt;-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06287E"/>
                </a:solidFill>
                <a:latin typeface="Consolas"/>
              </a:rPr>
              <a:t>FindNeighbors</a:t>
            </a:r>
            <a:r>
              <a:rPr sz="1300">
                <a:latin typeface="Consolas"/>
              </a:rPr>
              <a:t>(obj, </a:t>
            </a:r>
            <a:r>
              <a:rPr>
                <a:solidFill>
                  <a:srgbClr val="7D9029"/>
                </a:solidFill>
                <a:latin typeface="Consolas"/>
              </a:rPr>
              <a:t>dims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40A070"/>
                </a:solidFill>
                <a:latin typeface="Consolas"/>
              </a:rPr>
              <a:t>1</a:t>
            </a:r>
            <a:r>
              <a:rPr>
                <a:solidFill>
                  <a:srgbClr val="4070A0"/>
                </a:solidFill>
                <a:latin typeface="Consolas"/>
              </a:rPr>
              <a:t>:</a:t>
            </a:r>
            <a:r>
              <a:rPr>
                <a:solidFill>
                  <a:srgbClr val="40A070"/>
                </a:solidFill>
                <a:latin typeface="Consolas"/>
              </a:rPr>
              <a:t>15</a:t>
            </a:r>
            <a:r>
              <a:rPr sz="1300">
                <a:latin typeface="Consolas"/>
              </a:rPr>
              <a:t>)        </a:t>
            </a:r>
            <a:r>
              <a:rPr i="1">
                <a:solidFill>
                  <a:srgbClr val="60A0B0"/>
                </a:solidFill>
                <a:latin typeface="Consolas"/>
              </a:rPr>
              <a:t># steps 1-2</a:t>
            </a:r>
            <a:br/>
            <a:r>
              <a:rPr sz="1300">
                <a:latin typeface="Consolas"/>
              </a:rPr>
              <a:t>obj </a:t>
            </a:r>
            <a:r>
              <a:rPr>
                <a:solidFill>
                  <a:srgbClr val="007020"/>
                </a:solidFill>
                <a:latin typeface="Consolas"/>
              </a:rPr>
              <a:t>&lt;-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06287E"/>
                </a:solidFill>
                <a:latin typeface="Consolas"/>
              </a:rPr>
              <a:t>FindClusters</a:t>
            </a:r>
            <a:r>
              <a:rPr sz="1300">
                <a:latin typeface="Consolas"/>
              </a:rPr>
              <a:t>(obj, </a:t>
            </a:r>
            <a:r>
              <a:rPr>
                <a:solidFill>
                  <a:srgbClr val="7D9029"/>
                </a:solidFill>
                <a:latin typeface="Consolas"/>
              </a:rPr>
              <a:t>resolution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40A070"/>
                </a:solidFill>
                <a:latin typeface="Consolas"/>
              </a:rPr>
              <a:t>0.5</a:t>
            </a:r>
            <a:r>
              <a:rPr sz="1300">
                <a:latin typeface="Consolas"/>
              </a:rPr>
              <a:t>)    </a:t>
            </a:r>
            <a:r>
              <a:rPr i="1">
                <a:solidFill>
                  <a:srgbClr val="60A0B0"/>
                </a:solidFill>
                <a:latin typeface="Consolas"/>
              </a:rPr>
              <a:t># steps 3-4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graph-based and not k-means?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k-means</a:t>
            </a:r>
            <a:r>
              <a:rPr/>
              <a:t> requires you to specify </a:t>
            </a:r>
            <a:r>
              <a:rPr i="1"/>
              <a:t>k</a:t>
            </a:r>
            <a:r>
              <a:rPr/>
              <a:t>, assumes roughly spherical clusters of similar size, and uses Euclidean distance in the full space. Single-cell populations are none of those things — they differ in abundance by orders of magnitude and have elongated, curved shapes.</a:t>
            </a:r>
          </a:p>
          <a:p>
            <a:pPr lvl="0" indent="0" marL="0">
              <a:buNone/>
            </a:pPr>
            <a:r>
              <a:rPr b="1"/>
              <a:t>Hierarchical clustering</a:t>
            </a:r>
            <a:r>
              <a:rPr/>
              <a:t> scales as O(n²) in memory: impossible past ~50,000 cells.</a:t>
            </a:r>
          </a:p>
          <a:p>
            <a:pPr lvl="0" indent="0" marL="0">
              <a:buNone/>
            </a:pPr>
            <a:r>
              <a:rPr b="1"/>
              <a:t>Graph-based</a:t>
            </a:r>
            <a:r>
              <a:rPr/>
              <a:t> methods handle arbitrary shapes, wildly unequal cluster sizes, and hundreds of thousands of cells. That is why the field standardised on them.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Louvain and Leiden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Louvain</a:t>
            </a:r>
            <a:r>
              <a:rPr/>
              <a:t> (2008) — greedily move nodes between communities to increase modularity, then collapse communities into super-nodes and repeat. Fast. Seurat’s default (</a:t>
            </a:r>
            <a:r>
              <a:rPr sz="1300">
                <a:latin typeface="Consolas"/>
              </a:rPr>
              <a:t>algorithm = 1</a:t>
            </a:r>
            <a:r>
              <a:rPr/>
              <a:t>).</a:t>
            </a:r>
          </a:p>
          <a:p>
            <a:pPr lvl="0" indent="0" marL="0">
              <a:buNone/>
            </a:pPr>
            <a:r>
              <a:rPr b="1"/>
              <a:t>Leiden</a:t>
            </a:r>
            <a:r>
              <a:rPr/>
              <a:t> (2019) — adds a refinement phase that guarantees communities are </a:t>
            </a:r>
            <a:r>
              <a:rPr b="1"/>
              <a:t>internally connected</a:t>
            </a:r>
            <a:r>
              <a:rPr/>
              <a:t>. Louvain can produce a “cluster” made of two pieces that are not connected to each other, which is clearly wrong.</a:t>
            </a:r>
          </a:p>
          <a:p>
            <a:pPr lvl="0" indent="0" marL="0">
              <a:buNone/>
            </a:pPr>
            <a:r>
              <a:rPr/>
              <a:t>Leiden is better and is the default in scanpy. In Seurat it is </a:t>
            </a:r>
            <a:r>
              <a:rPr sz="1300">
                <a:latin typeface="Consolas"/>
              </a:rPr>
              <a:t>algorithm = 4</a:t>
            </a:r>
            <a:r>
              <a:rPr/>
              <a:t> and needs </a:t>
            </a:r>
            <a:r>
              <a:rPr sz="1300">
                <a:latin typeface="Consolas"/>
              </a:rPr>
              <a:t>leidenalg</a:t>
            </a:r>
            <a:r>
              <a:rPr/>
              <a:t> via reticulate. In practice the difference is modest on clean data.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resolution parameter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nsolas"/>
              </a:rPr>
              <a:t>FindClusters</a:t>
            </a:r>
            <a:r>
              <a:rPr sz="1300">
                <a:latin typeface="Consolas"/>
              </a:rPr>
              <a:t>(obj, </a:t>
            </a:r>
            <a:r>
              <a:rPr>
                <a:solidFill>
                  <a:srgbClr val="7D9029"/>
                </a:solidFill>
                <a:latin typeface="Consolas"/>
              </a:rPr>
              <a:t>resolution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40A070"/>
                </a:solidFill>
                <a:latin typeface="Consolas"/>
              </a:rPr>
              <a:t>0.5</a:t>
            </a:r>
            <a:r>
              <a:rPr sz="1300">
                <a:latin typeface="Consolas"/>
              </a:rPr>
              <a:t>)</a:t>
            </a:r>
          </a:p>
          <a:p>
            <a:pPr lvl="0" indent="0" marL="0">
              <a:buNone/>
            </a:pPr>
            <a:r>
              <a:rPr/>
              <a:t>Resolution controls the granularity of the modularity optimisation. Higher resolution → more, smaller clusters.</a:t>
            </a:r>
          </a:p>
        </p:txBody>
      </p:sp>
      <p:pic>
        <p:nvPicPr>
          <p:cNvPr descr="Day5_lecture_files/figure-pptx/re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31900"/>
            <a:ext cx="5105400" cy="2336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There is no correct value, and no automatic way to pick one.</a:t>
            </a:r>
            <a:r>
              <a:rPr/>
              <a:t> It is a scientific decision about the granularity your question needs.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Choosing a resolution defensibly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 all four:</a:t>
            </a:r>
          </a:p>
          <a:p>
            <a:pPr lvl="0" indent="-342900" marL="342900">
              <a:buAutoNum type="arabicPeriod"/>
            </a:pPr>
            <a:r>
              <a:rPr b="1"/>
              <a:t>Cluster at several resolutions</a:t>
            </a:r>
            <a:r>
              <a:rPr/>
              <a:t> (0.1 to 1.5) and keep them all</a:t>
            </a:r>
          </a:p>
          <a:p>
            <a:pPr lvl="0" indent="-342900" marL="342900">
              <a:buAutoNum type="arabicPeriod"/>
            </a:pPr>
            <a:r>
              <a:rPr b="1"/>
              <a:t>Look at a clustering tree</a:t>
            </a:r>
            <a:r>
              <a:rPr/>
              <a:t> (</a:t>
            </a:r>
            <a:r>
              <a:rPr sz="1300">
                <a:latin typeface="Consolas"/>
              </a:rPr>
              <a:t>clustree</a:t>
            </a:r>
            <a:r>
              <a:rPr/>
              <a:t>): watch where clusters split and where labels start flip-flopping between resolutions. Instability is the signature of over-clustering</a:t>
            </a:r>
          </a:p>
          <a:p>
            <a:pPr lvl="0" indent="-342900" marL="342900">
              <a:buAutoNum type="arabicPeriod"/>
            </a:pPr>
            <a:r>
              <a:rPr b="1"/>
              <a:t>Check marker genes at each level.</a:t>
            </a:r>
            <a:r>
              <a:rPr/>
              <a:t> A cluster with no distinguishing marker is not a cell type</a:t>
            </a:r>
          </a:p>
          <a:p>
            <a:pPr lvl="0" indent="-342900" marL="342900">
              <a:buAutoNum type="arabicPeriod"/>
            </a:pPr>
            <a:r>
              <a:rPr b="1"/>
              <a:t>Match the granularity to the question.</a:t>
            </a:r>
            <a:r>
              <a:rPr/>
              <a:t> “T cells vs monocytes” needs resolution 0.2. “Naive vs memory vs exhausted CD8” needs 1.0+ and probably subclustering</a:t>
            </a:r>
          </a:p>
          <a:p>
            <a:pPr lvl="0" indent="0" marL="0">
              <a:buNone/>
            </a:pPr>
            <a:r>
              <a:rPr/>
              <a:t>Then </a:t>
            </a:r>
            <a:r>
              <a:rPr b="1"/>
              <a:t>report the value you used</a:t>
            </a:r>
            <a:r>
              <a:rPr/>
              <a:t>. It is a parameter, not a discovery.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Over- and under-clustering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Under-clustering</a:t>
            </a:r>
            <a:r>
              <a:rPr/>
              <a:t> merges distinct populations. You lose them silently — there is nothing in the output that says “two cell types are hiding in cluster 3”.</a:t>
            </a:r>
          </a:p>
          <a:p>
            <a:pPr lvl="0" indent="0" marL="0">
              <a:buNone/>
            </a:pPr>
            <a:r>
              <a:rPr b="1"/>
              <a:t>Over-clustering</a:t>
            </a:r>
            <a:r>
              <a:rPr/>
              <a:t> splits one population into arbitrary pieces. Detectable: the fragments have no distinguishing markers, differ only in a gradient (usually depth or cell cycle), and are unstable across resolutions.</a:t>
            </a:r>
          </a:p>
          <a:p>
            <a:pPr lvl="0" indent="0" marL="0">
              <a:buNone/>
            </a:pPr>
            <a:r>
              <a:rPr/>
              <a:t>Over-clustering is the less dangerous error because you can find it. So: cluster a bit finer than you think you need, then </a:t>
            </a:r>
            <a:r>
              <a:rPr b="1"/>
              <a:t>merge clusters that you cannot tell apart by markers</a:t>
            </a:r>
            <a:r>
              <a:rPr/>
              <a:t>, and say that you did.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Subclustering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right tool when populations differ enormously in scale.</a:t>
            </a:r>
          </a:p>
          <a:p>
            <a:pPr lvl="0" indent="0" marL="0">
              <a:buNone/>
            </a:pPr>
            <a:r>
              <a:rPr/>
              <a:t>At the resolution that separates T cells from monocytes, all CD4 T-cell subsets are one cluster. Rather than raising the global resolution — which shatters the monocytes — </a:t>
            </a:r>
            <a:r>
              <a:rPr b="1"/>
              <a:t>subset and re-analyse</a:t>
            </a:r>
            <a:r>
              <a:rPr/>
              <a:t>:</a:t>
            </a:r>
          </a:p>
          <a:p>
            <a:pPr lvl="0" indent="0">
              <a:buNone/>
            </a:pPr>
            <a:r>
              <a:rPr sz="1300">
                <a:latin typeface="Consolas"/>
              </a:rPr>
              <a:t>tcells </a:t>
            </a:r>
            <a:r>
              <a:rPr>
                <a:solidFill>
                  <a:srgbClr val="007020"/>
                </a:solidFill>
                <a:latin typeface="Consolas"/>
              </a:rPr>
              <a:t>&lt;-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06287E"/>
                </a:solidFill>
                <a:latin typeface="Consolas"/>
              </a:rPr>
              <a:t>subset</a:t>
            </a:r>
            <a:r>
              <a:rPr sz="1300">
                <a:latin typeface="Consolas"/>
              </a:rPr>
              <a:t>(obj, </a:t>
            </a:r>
            <a:r>
              <a:rPr>
                <a:solidFill>
                  <a:srgbClr val="7D9029"/>
                </a:solidFill>
                <a:latin typeface="Consolas"/>
              </a:rPr>
              <a:t>idents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06287E"/>
                </a:solidFill>
                <a:latin typeface="Consolas"/>
              </a:rPr>
              <a:t>c</a:t>
            </a:r>
            <a:r>
              <a:rPr sz="1300">
                <a:latin typeface="Consolas"/>
              </a:rPr>
              <a:t>(</a:t>
            </a:r>
            <a:r>
              <a:rPr>
                <a:solidFill>
                  <a:srgbClr val="4070A0"/>
                </a:solidFill>
                <a:latin typeface="Consolas"/>
              </a:rPr>
              <a:t>"CD4 T"</a:t>
            </a:r>
            <a:r>
              <a:rPr sz="1300">
                <a:latin typeface="Consolas"/>
              </a:rPr>
              <a:t>, </a:t>
            </a:r>
            <a:r>
              <a:rPr>
                <a:solidFill>
                  <a:srgbClr val="4070A0"/>
                </a:solidFill>
                <a:latin typeface="Consolas"/>
              </a:rPr>
              <a:t>"CD8 T"</a:t>
            </a:r>
            <a:r>
              <a:rPr sz="1300">
                <a:latin typeface="Consolas"/>
              </a:rPr>
              <a:t>))</a:t>
            </a:r>
            <a:br/>
            <a:r>
              <a:rPr sz="1300">
                <a:latin typeface="Consolas"/>
              </a:rPr>
              <a:t>tcells </a:t>
            </a:r>
            <a:r>
              <a:rPr>
                <a:solidFill>
                  <a:srgbClr val="007020"/>
                </a:solidFill>
                <a:latin typeface="Consolas"/>
              </a:rPr>
              <a:t>&lt;-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06287E"/>
                </a:solidFill>
                <a:latin typeface="Consolas"/>
              </a:rPr>
              <a:t>FindVariableFeatures</a:t>
            </a:r>
            <a:r>
              <a:rPr sz="1300">
                <a:latin typeface="Consolas"/>
              </a:rPr>
              <a:t>(tcells) </a:t>
            </a:r>
            <a:r>
              <a:rPr>
                <a:solidFill>
                  <a:srgbClr val="4070A0"/>
                </a:solidFill>
                <a:latin typeface="Consolas"/>
              </a:rPr>
              <a:t>|&gt;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06287E"/>
                </a:solidFill>
                <a:latin typeface="Consolas"/>
              </a:rPr>
              <a:t>ScaleData</a:t>
            </a:r>
            <a:r>
              <a:rPr sz="1300">
                <a:latin typeface="Consolas"/>
              </a:rPr>
              <a:t>() </a:t>
            </a:r>
            <a:r>
              <a:rPr>
                <a:solidFill>
                  <a:srgbClr val="4070A0"/>
                </a:solidFill>
                <a:latin typeface="Consolas"/>
              </a:rPr>
              <a:t>|&gt;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06287E"/>
                </a:solidFill>
                <a:latin typeface="Consolas"/>
              </a:rPr>
              <a:t>RunPCA</a:t>
            </a:r>
            <a:r>
              <a:rPr sz="1300">
                <a:latin typeface="Consolas"/>
              </a:rPr>
              <a:t>()</a:t>
            </a:r>
            <a:br/>
            <a:r>
              <a:rPr sz="1300">
                <a:latin typeface="Consolas"/>
              </a:rPr>
              <a:t>tcells </a:t>
            </a:r>
            <a:r>
              <a:rPr>
                <a:solidFill>
                  <a:srgbClr val="007020"/>
                </a:solidFill>
                <a:latin typeface="Consolas"/>
              </a:rPr>
              <a:t>&lt;-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06287E"/>
                </a:solidFill>
                <a:latin typeface="Consolas"/>
              </a:rPr>
              <a:t>FindNeighbors</a:t>
            </a:r>
            <a:r>
              <a:rPr sz="1300">
                <a:latin typeface="Consolas"/>
              </a:rPr>
              <a:t>(tcells, </a:t>
            </a:r>
            <a:r>
              <a:rPr>
                <a:solidFill>
                  <a:srgbClr val="7D9029"/>
                </a:solidFill>
                <a:latin typeface="Consolas"/>
              </a:rPr>
              <a:t>dims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40A070"/>
                </a:solidFill>
                <a:latin typeface="Consolas"/>
              </a:rPr>
              <a:t>1</a:t>
            </a:r>
            <a:r>
              <a:rPr>
                <a:solidFill>
                  <a:srgbClr val="4070A0"/>
                </a:solidFill>
                <a:latin typeface="Consolas"/>
              </a:rPr>
              <a:t>:</a:t>
            </a:r>
            <a:r>
              <a:rPr>
                <a:solidFill>
                  <a:srgbClr val="40A070"/>
                </a:solidFill>
                <a:latin typeface="Consolas"/>
              </a:rPr>
              <a:t>10</a:t>
            </a:r>
            <a:r>
              <a:rPr sz="1300">
                <a:latin typeface="Consolas"/>
              </a:rPr>
              <a:t>) </a:t>
            </a:r>
            <a:r>
              <a:rPr>
                <a:solidFill>
                  <a:srgbClr val="4070A0"/>
                </a:solidFill>
                <a:latin typeface="Consolas"/>
              </a:rPr>
              <a:t>|&gt;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06287E"/>
                </a:solidFill>
                <a:latin typeface="Consolas"/>
              </a:rPr>
              <a:t>FindClusters</a:t>
            </a:r>
            <a:r>
              <a:rPr sz="1300">
                <a:latin typeface="Consolas"/>
              </a:rPr>
              <a:t>(</a:t>
            </a:r>
            <a:r>
              <a:rPr>
                <a:solidFill>
                  <a:srgbClr val="7D9029"/>
                </a:solidFill>
                <a:latin typeface="Consolas"/>
              </a:rPr>
              <a:t>resolution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40A070"/>
                </a:solidFill>
                <a:latin typeface="Consolas"/>
              </a:rPr>
              <a:t>0.6</a:t>
            </a:r>
            <a:r>
              <a:rPr sz="1300">
                <a:latin typeface="Consolas"/>
              </a:rPr>
              <a:t>)</a:t>
            </a:r>
          </a:p>
          <a:p>
            <a:pPr lvl="0" indent="0" marL="0">
              <a:buNone/>
            </a:pPr>
            <a:r>
              <a:rPr/>
              <a:t>Re-selecting HVGs on the subset is the essential part: now the variable genes describe variation </a:t>
            </a:r>
            <a:r>
              <a:rPr i="1"/>
              <a:t>within</a:t>
            </a:r>
            <a:r>
              <a:rPr/>
              <a:t> T cells instead of T vs monocyte.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Block 2 — Markers and annotation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Finding marker genes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sz="1300">
                <a:latin typeface="Consolas"/>
              </a:rPr>
              <a:t>markers </a:t>
            </a:r>
            <a:r>
              <a:rPr>
                <a:solidFill>
                  <a:srgbClr val="007020"/>
                </a:solidFill>
                <a:latin typeface="Consolas"/>
              </a:rPr>
              <a:t>&lt;-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06287E"/>
                </a:solidFill>
                <a:latin typeface="Consolas"/>
              </a:rPr>
              <a:t>FindAllMarkers</a:t>
            </a:r>
            <a:r>
              <a:rPr sz="1300">
                <a:latin typeface="Consolas"/>
              </a:rPr>
              <a:t>(obj, </a:t>
            </a:r>
            <a:r>
              <a:rPr>
                <a:solidFill>
                  <a:srgbClr val="7D9029"/>
                </a:solidFill>
                <a:latin typeface="Consolas"/>
              </a:rPr>
              <a:t>only.pos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880000"/>
                </a:solidFill>
                <a:latin typeface="Consolas"/>
              </a:rPr>
              <a:t>TRUE</a:t>
            </a:r>
            <a:r>
              <a:rPr sz="1300">
                <a:latin typeface="Consolas"/>
              </a:rPr>
              <a:t>,</a:t>
            </a:r>
            <a:br/>
            <a:r>
              <a:rPr sz="1300">
                <a:latin typeface="Consolas"/>
              </a:rPr>
              <a:t>                          </a:t>
            </a:r>
            <a:r>
              <a:rPr>
                <a:solidFill>
                  <a:srgbClr val="7D9029"/>
                </a:solidFill>
                <a:latin typeface="Consolas"/>
              </a:rPr>
              <a:t>min.pct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40A070"/>
                </a:solidFill>
                <a:latin typeface="Consolas"/>
              </a:rPr>
              <a:t>0.25</a:t>
            </a:r>
            <a:r>
              <a:rPr sz="1300">
                <a:latin typeface="Consolas"/>
              </a:rPr>
              <a:t>, </a:t>
            </a:r>
            <a:r>
              <a:rPr>
                <a:solidFill>
                  <a:srgbClr val="7D9029"/>
                </a:solidFill>
                <a:latin typeface="Consolas"/>
              </a:rPr>
              <a:t>logfc.threshold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40A070"/>
                </a:solidFill>
                <a:latin typeface="Consolas"/>
              </a:rPr>
              <a:t>0.25</a:t>
            </a:r>
            <a:r>
              <a:rPr sz="1300">
                <a:latin typeface="Consolas"/>
              </a:rPr>
              <a:t>)</a:t>
            </a:r>
          </a:p>
          <a:p>
            <a:pPr lvl="0" indent="0" marL="0">
              <a:buNone/>
            </a:pPr>
            <a:r>
              <a:rPr/>
              <a:t>For each cluster, test every gene: cluster </a:t>
            </a:r>
            <a:r>
              <a:rPr i="1"/>
              <a:t>versus all other cells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Default test: </a:t>
            </a:r>
            <a:r>
              <a:rPr b="1"/>
              <a:t>Wilcoxon rank-sum</a:t>
            </a:r>
            <a:r>
              <a:rPr/>
              <a:t>. Non-parametric, fast, and robust to the fact that the data are not normally distributed.</a:t>
            </a:r>
          </a:p>
          <a:p>
            <a:pPr lvl="0" indent="0" marL="0">
              <a:buNone/>
            </a:pPr>
            <a:r>
              <a:rPr/>
              <a:t>Other options: </a:t>
            </a:r>
            <a:r>
              <a:rPr sz="1300">
                <a:latin typeface="Consolas"/>
              </a:rPr>
              <a:t>roc</a:t>
            </a:r>
            <a:r>
              <a:rPr/>
              <a:t> (returns an AUC — a directly interpretable classification power, my preference for choosing labelling markers), </a:t>
            </a:r>
            <a:r>
              <a:rPr sz="1300">
                <a:latin typeface="Consolas"/>
              </a:rPr>
              <a:t>MAST</a:t>
            </a:r>
            <a:r>
              <a:rPr/>
              <a:t> (hurdle model), </a:t>
            </a:r>
            <a:r>
              <a:rPr sz="1300">
                <a:latin typeface="Consolas"/>
              </a:rPr>
              <a:t>DESeq2</a:t>
            </a:r>
            <a:r>
              <a:rPr/>
              <a:t>/</a:t>
            </a:r>
            <a:r>
              <a:rPr sz="1300">
                <a:latin typeface="Consolas"/>
              </a:rPr>
              <a:t>negbinom</a:t>
            </a:r>
            <a:r>
              <a:rPr/>
              <a:t> (do not use on cells — see the pseudoreplication slides).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p-values are not real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defined the clusters by finding groups of cells that differ in expression. Then you test whether those groups differ in expression.</a:t>
            </a:r>
          </a:p>
          <a:p>
            <a:pPr lvl="0" indent="0" marL="0">
              <a:buNone/>
            </a:pPr>
            <a:r>
              <a:rPr/>
              <a:t>This is </a:t>
            </a:r>
            <a:r>
              <a:rPr b="1"/>
              <a:t>circular</a:t>
            </a:r>
            <a:r>
              <a:rPr/>
              <a:t> — the literature calls it double dipping or selection-induced bias. The p-values are anticonservative by a very large factor, which is why you routinely see p = 10⁻²⁰⁰ from 40 cells.</a:t>
            </a:r>
          </a:p>
          <a:p>
            <a:pPr lvl="0" indent="0" marL="0">
              <a:buNone/>
            </a:pPr>
            <a:r>
              <a:rPr/>
              <a:t>Consequences:</a:t>
            </a:r>
          </a:p>
          <a:p>
            <a:pPr lvl="0"/>
            <a:r>
              <a:rPr/>
              <a:t>use the p-values to </a:t>
            </a:r>
            <a:r>
              <a:rPr b="1"/>
              <a:t>rank</a:t>
            </a:r>
            <a:r>
              <a:rPr/>
              <a:t> genes, never as evidence</a:t>
            </a:r>
          </a:p>
          <a:p>
            <a:pPr lvl="0"/>
            <a:r>
              <a:rPr/>
              <a:t>do not report “cluster 3 markers were significant at p &lt; 10⁻⁵⁰”</a:t>
            </a:r>
          </a:p>
          <a:p>
            <a:pPr lvl="0"/>
            <a:r>
              <a:rPr/>
              <a:t>do not use them to claim two clusters are distinct — that is the claim the circularity invalidates</a:t>
            </a:r>
          </a:p>
          <a:p>
            <a:pPr lvl="0" indent="0" marL="0">
              <a:buNone/>
            </a:pPr>
            <a:r>
              <a:rPr/>
              <a:t>Methods that correct for this exist (</a:t>
            </a:r>
            <a:r>
              <a:rPr sz="1300">
                <a:latin typeface="Consolas"/>
              </a:rPr>
              <a:t>countsplit</a:t>
            </a:r>
            <a:r>
              <a:rPr/>
              <a:t>, TN test, </a:t>
            </a:r>
            <a:r>
              <a:rPr sz="1300">
                <a:latin typeface="Consolas"/>
              </a:rPr>
              <a:t>scDEED</a:t>
            </a:r>
            <a:r>
              <a:rPr/>
              <a:t>), and are not yet standard.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to look at instead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marker gene, the informative numbers are:</a:t>
            </a:r>
          </a:p>
          <a:p>
            <a:pPr lvl="0"/>
            <a:r>
              <a:rPr b="1">
                <a:latin typeface="Consolas"/>
              </a:rPr>
              <a:t>pct.1</a:t>
            </a:r>
            <a:r>
              <a:rPr b="1"/>
              <a:t> and </a:t>
            </a:r>
            <a:r>
              <a:rPr b="1">
                <a:latin typeface="Consolas"/>
              </a:rPr>
              <a:t>pct.2</a:t>
            </a:r>
            <a:r>
              <a:rPr/>
              <a:t> — the fraction of cells expressing it inside and outside the cluster. A good marker is 0.9 vs 0.05. A gene at 0.4 vs 0.3 is not a marker whatever its p-value</a:t>
            </a:r>
          </a:p>
          <a:p>
            <a:pPr lvl="0"/>
            <a:r>
              <a:rPr b="1">
                <a:latin typeface="Consolas"/>
              </a:rPr>
              <a:t>avg_log2FC</a:t>
            </a:r>
            <a:r>
              <a:rPr/>
              <a:t> — effect size</a:t>
            </a:r>
          </a:p>
          <a:p>
            <a:pPr lvl="0"/>
            <a:r>
              <a:rPr b="1"/>
              <a:t>AUC</a:t>
            </a:r>
            <a:r>
              <a:rPr/>
              <a:t> from </a:t>
            </a:r>
            <a:r>
              <a:rPr sz="1300">
                <a:latin typeface="Consolas"/>
              </a:rPr>
              <a:t>test.use = "roc"</a:t>
            </a:r>
            <a:r>
              <a:rPr/>
              <a:t> — how well this single gene classifies the cluster. Above 0.8 is a usable marker</a:t>
            </a:r>
          </a:p>
          <a:p>
            <a:pPr lvl="0" indent="0" marL="0">
              <a:buNone/>
            </a:pPr>
            <a:r>
              <a:rPr/>
              <a:t>A cluster whose best marker is 0.45 vs 0.35 with AUC 0.6 is probably not a distinct population.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Manual annotation with canonical markers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3683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most reliable approach when you know the tissue.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89100"/>
          <a:ext cx="8229600" cy="2578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Population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Markers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 cells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CD3D, CD3E, TRAC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CD4 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IL7R, CD4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CD8 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CD8A, CD8B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GNLY, NKG7, KLRD1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 cells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MS4A1, CD79A, CD19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Plasma cells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JCHAIN, MZB1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Monocytes (classical)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CD14, LYZ, S100A8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Monocytes (non-classical)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FCGR3A, MS4A7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Dendritic cells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FCER1A, CST3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Platelets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PPBP, PF4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394200"/>
            <a:ext cx="8229600" cy="3683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Workflow: </a:t>
            </a:r>
            <a:r>
              <a:rPr sz="1300">
                <a:latin typeface="Consolas"/>
              </a:rPr>
              <a:t>DotPlot</a:t>
            </a:r>
            <a:r>
              <a:rPr/>
              <a:t> your marker panel across clusters → read off which cluster is which → </a:t>
            </a:r>
            <a:r>
              <a:rPr sz="1300">
                <a:latin typeface="Consolas"/>
              </a:rPr>
              <a:t>RenameIdents</a:t>
            </a:r>
            <a:r>
              <a:rPr/>
              <a:t>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Manual annotation: the traps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CD4 is a bad marker for CD4 T cells.</a:t>
            </a:r>
            <a:r>
              <a:rPr/>
              <a:t> It is lowly expressed and frequently undetected; it is also on monocytes. Use IL7R.</a:t>
            </a:r>
          </a:p>
          <a:p>
            <a:pPr lvl="0" indent="0" marL="0">
              <a:buNone/>
            </a:pPr>
            <a:r>
              <a:rPr b="1"/>
              <a:t>Absence of a marker is not absence of the cell type.</a:t>
            </a:r>
            <a:r>
              <a:rPr/>
              <a:t> With 2,000 genes per cell, a moderately expressed transcription factor is missing from most cells that express it.</a:t>
            </a:r>
          </a:p>
          <a:p>
            <a:pPr lvl="0" indent="0" marL="0">
              <a:buNone/>
            </a:pPr>
            <a:r>
              <a:rPr b="1"/>
              <a:t>Ambient RNA puts markers everywhere.</a:t>
            </a:r>
            <a:r>
              <a:rPr/>
              <a:t> If the tissue is 60% hepatocytes, every cell has some albumin. Judge markers </a:t>
            </a:r>
            <a:r>
              <a:rPr i="1"/>
              <a:t>relative to other clusters</a:t>
            </a:r>
            <a:r>
              <a:rPr/>
              <a:t>, not against zero.</a:t>
            </a:r>
          </a:p>
          <a:p>
            <a:pPr lvl="0" indent="0" marL="0">
              <a:buNone/>
            </a:pPr>
            <a:r>
              <a:rPr b="1"/>
              <a:t>Doublet clusters co-express two programmes.</a:t>
            </a:r>
            <a:r>
              <a:rPr/>
              <a:t> A cluster that is CD3D⁺ and LYZ⁺ is a T-cell/monocyte doublet, not a novel cell type. Check </a:t>
            </a:r>
            <a:r>
              <a:rPr sz="1300">
                <a:latin typeface="Consolas"/>
              </a:rPr>
              <a:t>nCount_RNA</a:t>
            </a:r>
            <a:r>
              <a:rPr/>
              <a:t>: doublets are high.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Automated annotation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Reference-based scoring</a:t>
            </a:r>
            <a:r>
              <a:rPr/>
              <a:t> — </a:t>
            </a:r>
            <a:r>
              <a:rPr sz="1300">
                <a:latin typeface="Consolas"/>
              </a:rPr>
              <a:t>SingleR</a:t>
            </a:r>
            <a:r>
              <a:rPr/>
              <a:t>, </a:t>
            </a:r>
            <a:r>
              <a:rPr sz="1300">
                <a:latin typeface="Consolas"/>
              </a:rPr>
              <a:t>scmap</a:t>
            </a:r>
            <a:r>
              <a:rPr/>
              <a:t>. Correlate each cell (or cluster) against a reference of purified bulk or annotated single-cell profiles. Gives per-cell labels plus a score you can threshold.</a:t>
            </a:r>
          </a:p>
          <a:p>
            <a:pPr lvl="0" indent="0" marL="0">
              <a:buNone/>
            </a:pPr>
            <a:r>
              <a:rPr b="1"/>
              <a:t>Reference mapping</a:t>
            </a:r>
            <a:r>
              <a:rPr/>
              <a:t> — Seurat’s </a:t>
            </a:r>
            <a:r>
              <a:rPr sz="1300">
                <a:latin typeface="Consolas"/>
              </a:rPr>
              <a:t>FindTransferAnchors</a:t>
            </a:r>
            <a:r>
              <a:rPr/>
              <a:t> / </a:t>
            </a:r>
            <a:r>
              <a:rPr sz="1300">
                <a:latin typeface="Consolas"/>
              </a:rPr>
              <a:t>MapQuery</a:t>
            </a:r>
            <a:r>
              <a:rPr/>
              <a:t>, </a:t>
            </a:r>
            <a:r>
              <a:rPr sz="1300">
                <a:latin typeface="Consolas"/>
              </a:rPr>
              <a:t>scArches</a:t>
            </a:r>
            <a:r>
              <a:rPr/>
              <a:t>. Project your cells into an existing annotated atlas’s space and transfer labels. Better when the reference is a large, well-annotated single-cell atlas.</a:t>
            </a:r>
          </a:p>
          <a:p>
            <a:pPr lvl="0" indent="0" marL="0">
              <a:buNone/>
            </a:pPr>
            <a:r>
              <a:rPr b="1"/>
              <a:t>Marker-set scoring</a:t>
            </a:r>
            <a:r>
              <a:rPr/>
              <a:t> — </a:t>
            </a:r>
            <a:r>
              <a:rPr sz="1300">
                <a:latin typeface="Consolas"/>
              </a:rPr>
              <a:t>AddModuleScore</a:t>
            </a:r>
            <a:r>
              <a:rPr/>
              <a:t>, </a:t>
            </a:r>
            <a:r>
              <a:rPr sz="1300">
                <a:latin typeface="Consolas"/>
              </a:rPr>
              <a:t>AUCell</a:t>
            </a:r>
            <a:r>
              <a:rPr/>
              <a:t>, </a:t>
            </a:r>
            <a:r>
              <a:rPr sz="1300">
                <a:latin typeface="Consolas"/>
              </a:rPr>
              <a:t>scType</a:t>
            </a:r>
            <a:r>
              <a:rPr/>
              <a:t>. Score each cell against published marker lists. No reference dataset needed.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Automated annotation: honest caveats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 reference cannot invent labels it does not contain.</a:t>
            </a:r>
            <a:r>
              <a:rPr/>
              <a:t> Run a tumour against a blood reference and every malignant cell will be called something plausible and wrong.</a:t>
            </a:r>
          </a:p>
          <a:p>
            <a:pPr lvl="0"/>
            <a:r>
              <a:rPr b="1"/>
              <a:t>Scores need thresholds.</a:t>
            </a:r>
            <a:r>
              <a:rPr/>
              <a:t> </a:t>
            </a:r>
            <a:r>
              <a:rPr sz="1300">
                <a:latin typeface="Consolas"/>
              </a:rPr>
              <a:t>SingleR</a:t>
            </a:r>
            <a:r>
              <a:rPr/>
              <a:t> returns a delta between best and next-best; use </a:t>
            </a:r>
            <a:r>
              <a:rPr sz="1300">
                <a:latin typeface="Consolas"/>
              </a:rPr>
              <a:t>pruneScores</a:t>
            </a:r>
            <a:r>
              <a:rPr/>
              <a:t> and show the unlabelled fraction rather than hiding it.</a:t>
            </a:r>
          </a:p>
          <a:p>
            <a:pPr lvl="0"/>
            <a:r>
              <a:rPr b="1"/>
              <a:t>Granularity mismatch.</a:t>
            </a:r>
            <a:r>
              <a:rPr/>
              <a:t> A reference with “T cell” cannot give you “T</a:t>
            </a:r>
            <a:r>
              <a:rPr baseline="-25000"/>
              <a:t>reg</a:t>
            </a:r>
            <a:r>
              <a:rPr/>
              <a:t>”.</a:t>
            </a:r>
          </a:p>
          <a:p>
            <a:pPr lvl="0"/>
            <a:r>
              <a:rPr b="1"/>
              <a:t>Batch and platform differ</a:t>
            </a:r>
            <a:r>
              <a:rPr/>
              <a:t> between your data and the reference.</a:t>
            </a:r>
          </a:p>
          <a:p>
            <a:pPr lvl="0" indent="0" marL="0">
              <a:buNone/>
            </a:pPr>
            <a:r>
              <a:rPr/>
              <a:t>Best practice: </a:t>
            </a:r>
            <a:r>
              <a:rPr b="1"/>
              <a:t>automate first, then verify with canonical markers.</a:t>
            </a:r>
            <a:r>
              <a:rPr/>
              <a:t> Disagreements between the two are the interesting cells.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Reporting an annotation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each cluster, state:</a:t>
            </a:r>
          </a:p>
          <a:p>
            <a:pPr lvl="0" indent="-342900" marL="342900">
              <a:buAutoNum type="arabicPeriod"/>
            </a:pPr>
            <a:r>
              <a:rPr/>
              <a:t>the label</a:t>
            </a:r>
          </a:p>
          <a:p>
            <a:pPr lvl="0" indent="-342900" marL="342900">
              <a:buAutoNum type="arabicPeriod"/>
            </a:pPr>
            <a:r>
              <a:rPr/>
              <a:t>the markers that support it, with pct.1 / pct.2 or AUC</a:t>
            </a:r>
          </a:p>
          <a:p>
            <a:pPr lvl="0" indent="-342900" marL="342900">
              <a:buAutoNum type="arabicPeriod"/>
            </a:pPr>
            <a:r>
              <a:rPr/>
              <a:t>how confident you are, and what else it could be</a:t>
            </a:r>
          </a:p>
          <a:p>
            <a:pPr lvl="0" indent="-342900" marL="342900">
              <a:buAutoNum type="arabicPeriod"/>
            </a:pPr>
            <a:r>
              <a:rPr/>
              <a:t>the number of cells</a:t>
            </a:r>
          </a:p>
          <a:p>
            <a:pPr lvl="0" indent="0" marL="0">
              <a:buNone/>
            </a:pPr>
            <a:r>
              <a:rPr/>
              <a:t>And show a </a:t>
            </a:r>
            <a:r>
              <a:rPr sz="1300">
                <a:latin typeface="Consolas"/>
              </a:rPr>
              <a:t>DotPlot</a:t>
            </a:r>
            <a:r>
              <a:rPr/>
              <a:t> of your marker panel across all clusters. A reader can then disagree with your labelling, which is the point.</a:t>
            </a:r>
          </a:p>
          <a:p>
            <a:pPr lvl="0" indent="0" marL="0">
              <a:buNone/>
            </a:pPr>
            <a:r>
              <a:rPr/>
              <a:t>Clusters you cannot label: call them “unassigned”. That is a legitimate and honest result. Naming them “novel population X” is not.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Block 3 — Differential expression between conditions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question everyone actually has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“Which genes change in macrophages between treated and control?”</a:t>
            </a:r>
          </a:p>
          <a:p>
            <a:pPr lvl="0" indent="0" marL="0">
              <a:buNone/>
            </a:pPr>
            <a:r>
              <a:rPr/>
              <a:t>This is where most published single-cell analyses go wrong, and the error is the one from Thursday morning: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nsolas"/>
              </a:rPr>
              <a:t># WRONG</a:t>
            </a:r>
            <a:br/>
            <a:r>
              <a:rPr sz="1300">
                <a:latin typeface="Consolas"/>
              </a:rPr>
              <a:t>mac </a:t>
            </a:r>
            <a:r>
              <a:rPr>
                <a:solidFill>
                  <a:srgbClr val="007020"/>
                </a:solidFill>
                <a:latin typeface="Consolas"/>
              </a:rPr>
              <a:t>&lt;-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06287E"/>
                </a:solidFill>
                <a:latin typeface="Consolas"/>
              </a:rPr>
              <a:t>subset</a:t>
            </a:r>
            <a:r>
              <a:rPr sz="1300">
                <a:latin typeface="Consolas"/>
              </a:rPr>
              <a:t>(obj, </a:t>
            </a:r>
            <a:r>
              <a:rPr>
                <a:solidFill>
                  <a:srgbClr val="7D9029"/>
                </a:solidFill>
                <a:latin typeface="Consolas"/>
              </a:rPr>
              <a:t>idents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4070A0"/>
                </a:solidFill>
                <a:latin typeface="Consolas"/>
              </a:rPr>
              <a:t>"Macrophage"</a:t>
            </a:r>
            <a:r>
              <a:rPr sz="1300">
                <a:latin typeface="Consolas"/>
              </a:rPr>
              <a:t>)</a:t>
            </a:r>
            <a:br/>
            <a:r>
              <a:rPr>
                <a:solidFill>
                  <a:srgbClr val="06287E"/>
                </a:solidFill>
                <a:latin typeface="Consolas"/>
              </a:rPr>
              <a:t>FindMarkers</a:t>
            </a:r>
            <a:r>
              <a:rPr sz="1300">
                <a:latin typeface="Consolas"/>
              </a:rPr>
              <a:t>(mac, </a:t>
            </a:r>
            <a:r>
              <a:rPr>
                <a:solidFill>
                  <a:srgbClr val="7D9029"/>
                </a:solidFill>
                <a:latin typeface="Consolas"/>
              </a:rPr>
              <a:t>group.by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4070A0"/>
                </a:solidFill>
                <a:latin typeface="Consolas"/>
              </a:rPr>
              <a:t>"condition"</a:t>
            </a:r>
            <a:r>
              <a:rPr sz="1300">
                <a:latin typeface="Consolas"/>
              </a:rPr>
              <a:t>,</a:t>
            </a:r>
            <a:br/>
            <a:r>
              <a:rPr sz="1300">
                <a:latin typeface="Consolas"/>
              </a:rPr>
              <a:t>            </a:t>
            </a:r>
            <a:r>
              <a:rPr>
                <a:solidFill>
                  <a:srgbClr val="7D9029"/>
                </a:solidFill>
                <a:latin typeface="Consolas"/>
              </a:rPr>
              <a:t>ident.1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4070A0"/>
                </a:solidFill>
                <a:latin typeface="Consolas"/>
              </a:rPr>
              <a:t>"treated"</a:t>
            </a:r>
            <a:r>
              <a:rPr sz="1300">
                <a:latin typeface="Consolas"/>
              </a:rPr>
              <a:t>, </a:t>
            </a:r>
            <a:r>
              <a:rPr>
                <a:solidFill>
                  <a:srgbClr val="7D9029"/>
                </a:solidFill>
                <a:latin typeface="Consolas"/>
              </a:rPr>
              <a:t>ident.2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4070A0"/>
                </a:solidFill>
                <a:latin typeface="Consolas"/>
              </a:rPr>
              <a:t>"control"</a:t>
            </a:r>
            <a:r>
              <a:rPr sz="1300">
                <a:latin typeface="Consolas"/>
              </a:rPr>
              <a:t>)</a:t>
            </a:r>
          </a:p>
          <a:p>
            <a:pPr lvl="0" indent="0" marL="0">
              <a:buNone/>
            </a:pPr>
            <a:r>
              <a:rPr/>
              <a:t>3,000 cells from 2 mice treated as n = 3,000. p-values around 10⁻¹⁰⁰ for genes with a 1.1-fold change.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it fails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Cells from the same animal are </a:t>
            </a:r>
            <a:r>
              <a:rPr b="1"/>
              <a:t>correlated</a:t>
            </a:r>
            <a:r>
              <a:rPr/>
              <a:t>: they share its genotype, its age, its diet, its dissociation batch, its sequencing run.</a:t>
            </a:r>
          </a:p>
          <a:p>
            <a:pPr lvl="0" indent="0" marL="0">
              <a:buNone/>
            </a:pPr>
            <a:r>
              <a:rPr/>
              <a:t>The number of independent observations is the number of </a:t>
            </a:r>
            <a:r>
              <a:rPr b="1"/>
              <a:t>animals</a:t>
            </a:r>
            <a:r>
              <a:rPr/>
              <a:t>, not the number of cells. Treating cells as independent inflates the effective sample size by a factor of ~1,000, and p-values by correspondingly absurd amounts.</a:t>
            </a:r>
          </a:p>
          <a:p>
            <a:pPr lvl="0" indent="0" marL="0">
              <a:buNone/>
            </a:pPr>
            <a:r>
              <a:rPr/>
              <a:t>Simulation studies are unambiguous: cell-level DE has false positive rates of 40–80% at nominal 5%.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Pseudobulk: the correct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Sum the raw counts</a:t>
            </a:r>
            <a:r>
              <a:rPr/>
              <a:t> per cell type per </a:t>
            </a:r>
            <a:r>
              <a:rPr b="1"/>
              <a:t>sample</a:t>
            </a:r>
            <a:r>
              <a:rPr/>
              <a:t>, then run DESeq2 or edgeR on the resulting matrix.</a:t>
            </a:r>
          </a:p>
          <a:p>
            <a:pPr lvl="0" indent="0">
              <a:buNone/>
            </a:pPr>
            <a:r>
              <a:rPr sz="1300">
                <a:latin typeface="Consolas"/>
              </a:rPr>
              <a:t>pb </a:t>
            </a:r>
            <a:r>
              <a:rPr>
                <a:solidFill>
                  <a:srgbClr val="007020"/>
                </a:solidFill>
                <a:latin typeface="Consolas"/>
              </a:rPr>
              <a:t>&lt;-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06287E"/>
                </a:solidFill>
                <a:latin typeface="Consolas"/>
              </a:rPr>
              <a:t>AggregateExpression</a:t>
            </a:r>
            <a:r>
              <a:rPr sz="1300">
                <a:latin typeface="Consolas"/>
              </a:rPr>
              <a:t>(obj, </a:t>
            </a:r>
            <a:r>
              <a:rPr>
                <a:solidFill>
                  <a:srgbClr val="7D9029"/>
                </a:solidFill>
                <a:latin typeface="Consolas"/>
              </a:rPr>
              <a:t>group.by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06287E"/>
                </a:solidFill>
                <a:latin typeface="Consolas"/>
              </a:rPr>
              <a:t>c</a:t>
            </a:r>
            <a:r>
              <a:rPr sz="1300">
                <a:latin typeface="Consolas"/>
              </a:rPr>
              <a:t>(</a:t>
            </a:r>
            <a:r>
              <a:rPr>
                <a:solidFill>
                  <a:srgbClr val="4070A0"/>
                </a:solidFill>
                <a:latin typeface="Consolas"/>
              </a:rPr>
              <a:t>"celltype"</a:t>
            </a:r>
            <a:r>
              <a:rPr sz="1300">
                <a:latin typeface="Consolas"/>
              </a:rPr>
              <a:t>, </a:t>
            </a:r>
            <a:r>
              <a:rPr>
                <a:solidFill>
                  <a:srgbClr val="4070A0"/>
                </a:solidFill>
                <a:latin typeface="Consolas"/>
              </a:rPr>
              <a:t>"donor"</a:t>
            </a:r>
            <a:r>
              <a:rPr sz="1300">
                <a:latin typeface="Consolas"/>
              </a:rPr>
              <a:t>),</a:t>
            </a:r>
            <a:br/>
            <a:r>
              <a:rPr sz="1300">
                <a:latin typeface="Consolas"/>
              </a:rPr>
              <a:t>                          </a:t>
            </a:r>
            <a:r>
              <a:rPr>
                <a:solidFill>
                  <a:srgbClr val="7D9029"/>
                </a:solidFill>
                <a:latin typeface="Consolas"/>
              </a:rPr>
              <a:t>assays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4070A0"/>
                </a:solidFill>
                <a:latin typeface="Consolas"/>
              </a:rPr>
              <a:t>"RNA"</a:t>
            </a:r>
            <a:r>
              <a:rPr sz="1300">
                <a:latin typeface="Consolas"/>
              </a:rPr>
              <a:t>, </a:t>
            </a:r>
            <a:r>
              <a:rPr>
                <a:solidFill>
                  <a:srgbClr val="7D9029"/>
                </a:solidFill>
                <a:latin typeface="Consolas"/>
              </a:rPr>
              <a:t>slot =</a:t>
            </a:r>
            <a:r>
              <a:rPr sz="1300">
                <a:latin typeface="Consolas"/>
              </a:rPr>
              <a:t> </a:t>
            </a:r>
            <a:r>
              <a:rPr>
                <a:solidFill>
                  <a:srgbClr val="4070A0"/>
                </a:solidFill>
                <a:latin typeface="Consolas"/>
              </a:rPr>
              <a:t>"counts"</a:t>
            </a:r>
            <a:r>
              <a:rPr sz="1300">
                <a:latin typeface="Consolas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nsolas"/>
              </a:rPr>
              <a:t># then: DESeqDataSetFromMatrix(pb, coldata, ~ donor_covariates + condition)</a:t>
            </a:r>
          </a:p>
          <a:p>
            <a:pPr lvl="0" indent="0" marL="0">
              <a:buNone/>
            </a:pPr>
            <a:r>
              <a:rPr/>
              <a:t>You are back to Tuesday’s analysis, with one row per gene and one column per (cell type × donor). Everything you learned about design formulae, dispersion and FDR applies directly.</a:t>
            </a:r>
          </a:p>
          <a:p>
            <a:pPr lvl="0" indent="0" marL="0">
              <a:buNone/>
            </a:pPr>
            <a:r>
              <a:rPr/>
              <a:t>Requirement: </a:t>
            </a:r>
            <a:r>
              <a:rPr b="1"/>
              <a:t>≥ 4–5 donors per group</a:t>
            </a:r>
            <a:r>
              <a:rPr/>
              <a:t>. With n = 1 there is no test, and no amount of cells fixes that.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summing and not averaging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 the </a:t>
            </a:r>
            <a:r>
              <a:rPr b="1"/>
              <a:t>raw counts</a:t>
            </a:r>
            <a:r>
              <a:rPr/>
              <a:t>: the result is a count matrix, so the negative binomial model still applies, and cells with more RNA contribute more — which is correct, because they had more molecules.</a:t>
            </a:r>
          </a:p>
          <a:p>
            <a:pPr lvl="0" indent="0" marL="0">
              <a:buNone/>
            </a:pPr>
            <a:r>
              <a:rPr/>
              <a:t>Averaging normalised values gives you a mean of ratios, which is not a count, has no natural variance model, and weights a 500-UMI cell the same as a 20,000-UMI cell.</a:t>
            </a:r>
          </a:p>
          <a:p>
            <a:pPr lvl="0" indent="0" marL="0">
              <a:buNone/>
            </a:pPr>
            <a:r>
              <a:rPr/>
              <a:t>Practical details: drop (cell type × donor) combinations with fewer than ~10 cells; consider including the cell count as a covariate; and report how many cells went into each pseudobulk sample.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Mixed models, for completeness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1300">
                <a:latin typeface="Consolas"/>
              </a:rPr>
              <a:t>glmmTMB</a:t>
            </a:r>
            <a:r>
              <a:rPr/>
              <a:t>, </a:t>
            </a:r>
            <a:r>
              <a:rPr sz="1300">
                <a:latin typeface="Consolas"/>
              </a:rPr>
              <a:t>NEBULA</a:t>
            </a:r>
            <a:r>
              <a:rPr/>
              <a:t>, </a:t>
            </a:r>
            <a:r>
              <a:rPr sz="1300">
                <a:latin typeface="Consolas"/>
              </a:rPr>
              <a:t>muscat</a:t>
            </a:r>
            <a:r>
              <a:rPr/>
              <a:t>’s mixed-model mode: fit a random effect for donor at the cell level.</a:t>
            </a:r>
          </a:p>
          <a:p>
            <a:pPr lvl="0"/>
            <a:r>
              <a:rPr b="1"/>
              <a:t>Pro:</a:t>
            </a:r>
            <a:r>
              <a:rPr/>
              <a:t> uses within-donor information; can gain power over pseudobulk when cell numbers per donor are very unequal</a:t>
            </a:r>
          </a:p>
          <a:p>
            <a:pPr lvl="0"/>
            <a:r>
              <a:rPr b="1"/>
              <a:t>Con:</a:t>
            </a:r>
            <a:r>
              <a:rPr/>
              <a:t> slow, convergence problems, harder to explain</a:t>
            </a:r>
          </a:p>
          <a:p>
            <a:pPr lvl="0" indent="0" marL="0">
              <a:buNone/>
            </a:pPr>
            <a:r>
              <a:rPr/>
              <a:t>Benchmarks (Squair </a:t>
            </a:r>
            <a:r>
              <a:rPr i="1"/>
              <a:t>et al.</a:t>
            </a:r>
            <a:r>
              <a:rPr/>
              <a:t> 2021; Murphy &amp; Skene 2022; Zimmerman 2021) find </a:t>
            </a:r>
            <a:r>
              <a:rPr b="1"/>
              <a:t>pseudobulk performs as well or better</a:t>
            </a:r>
            <a:r>
              <a:rPr/>
              <a:t> than mixed models in most realistic settings, and far better than cell-level tests.</a:t>
            </a:r>
          </a:p>
          <a:p>
            <a:pPr lvl="0" indent="0" marL="0">
              <a:buNone/>
            </a:pPr>
            <a:r>
              <a:rPr/>
              <a:t>Recommendation: pseudobulk by default. Mixed models when you have a specific reason.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Comparing cell-type proportions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Also tempting, also easy to get wrong.</a:t>
            </a:r>
          </a:p>
          <a:p>
            <a:pPr lvl="0" indent="0" marL="0">
              <a:buNone/>
            </a:pPr>
            <a:r>
              <a:rPr/>
              <a:t>Proportions are </a:t>
            </a:r>
            <a:r>
              <a:rPr b="1"/>
              <a:t>compositional</a:t>
            </a:r>
            <a:r>
              <a:rPr/>
              <a:t> — they sum to 1, so if one type goes up every other must go down. A naive per-type test is neither independent nor correctly calibrated.</a:t>
            </a:r>
          </a:p>
          <a:p>
            <a:pPr lvl="0" indent="0" marL="0">
              <a:buNone/>
            </a:pPr>
            <a:r>
              <a:rPr/>
              <a:t>Proper tools: </a:t>
            </a:r>
            <a:r>
              <a:rPr sz="1300">
                <a:latin typeface="Consolas"/>
              </a:rPr>
              <a:t>scCODA</a:t>
            </a:r>
            <a:r>
              <a:rPr/>
              <a:t> (Bayesian, compositional), </a:t>
            </a:r>
            <a:r>
              <a:rPr sz="1300">
                <a:latin typeface="Consolas"/>
              </a:rPr>
              <a:t>propeller</a:t>
            </a:r>
            <a:r>
              <a:rPr/>
              <a:t> (in </a:t>
            </a:r>
            <a:r>
              <a:rPr sz="1300">
                <a:latin typeface="Consolas"/>
              </a:rPr>
              <a:t>speckle</a:t>
            </a:r>
            <a:r>
              <a:rPr/>
              <a:t>; logit transform + limma), </a:t>
            </a:r>
            <a:r>
              <a:rPr sz="1300">
                <a:latin typeface="Consolas"/>
              </a:rPr>
              <a:t>sccomp</a:t>
            </a:r>
            <a:r>
              <a:rPr/>
              <a:t>, or a Dirichlet-multinomial model.</a:t>
            </a:r>
          </a:p>
          <a:p>
            <a:pPr lvl="0" indent="0" marL="0">
              <a:buNone/>
            </a:pPr>
            <a:r>
              <a:rPr/>
              <a:t>And remember Thursday: </a:t>
            </a:r>
            <a:r>
              <a:rPr b="1"/>
              <a:t>dissociation bias means scRNA-seq proportions are not tissue proportions.</a:t>
            </a:r>
            <a:r>
              <a:rPr/>
              <a:t> Validate with imaging or flow before making a quantitative claim.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Block 4 — Integration, and the landscape beyond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 need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Multiple samples, batches, donors, or technologies. Without correction, cells cluster by </a:t>
            </a:r>
            <a:r>
              <a:rPr b="1"/>
              <a:t>sample</a:t>
            </a:r>
            <a:r>
              <a:rPr/>
              <a:t> rather than by cell type, and every cell type appears once per batch.</a:t>
            </a:r>
          </a:p>
          <a:p>
            <a:pPr lvl="0" indent="0" marL="0">
              <a:buNone/>
            </a:pPr>
            <a:r>
              <a:rPr/>
              <a:t>Before reaching for a method, ask: </a:t>
            </a:r>
            <a:r>
              <a:rPr b="1"/>
              <a:t>is this a batch effect or is it biology?</a:t>
            </a:r>
            <a:r>
              <a:rPr/>
              <a:t> If your two samples are tumour and normal, the “batch effect” you are about to remove may be the result.</a:t>
            </a:r>
          </a:p>
          <a:p>
            <a:pPr lvl="0" indent="0" marL="0">
              <a:buNone/>
            </a:pPr>
            <a:r>
              <a:rPr/>
              <a:t>Integration removes differences between samples. Choose it deliberately.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Harmony</a:t>
            </a:r>
            <a:r>
              <a:rPr/>
              <a:t> — iteratively corrects cell positions in PCA space towards batch-mixed cluster centroids. Fast, scales to millions, usually the first thing to try.</a:t>
            </a:r>
          </a:p>
          <a:p>
            <a:pPr lvl="0" indent="0" marL="0">
              <a:buNone/>
            </a:pPr>
            <a:r>
              <a:rPr b="1"/>
              <a:t>Seurat CCA/RPCA anchors</a:t>
            </a:r>
            <a:r>
              <a:rPr/>
              <a:t> — find mutual nearest neighbours between datasets and use them to align. RPCA is faster and more conservative than CCA; CCA handles bigger differences but can over-align.</a:t>
            </a:r>
          </a:p>
          <a:p>
            <a:pPr lvl="0" indent="0" marL="0">
              <a:buNone/>
            </a:pPr>
            <a:r>
              <a:rPr b="1"/>
              <a:t>scVI / scANVI</a:t>
            </a:r>
            <a:r>
              <a:rPr/>
              <a:t> — variational autoencoder; models counts directly, handles many covariates, state of the art for large atlases. Needs Python and a GPU for large data.</a:t>
            </a:r>
          </a:p>
          <a:p>
            <a:pPr lvl="0" indent="0" marL="0">
              <a:buNone/>
            </a:pPr>
            <a:r>
              <a:rPr b="1"/>
              <a:t>MNN</a:t>
            </a:r>
            <a:r>
              <a:rPr/>
              <a:t>, </a:t>
            </a:r>
            <a:r>
              <a:rPr b="1"/>
              <a:t>Scanorama</a:t>
            </a:r>
            <a:r>
              <a:rPr/>
              <a:t>, </a:t>
            </a:r>
            <a:r>
              <a:rPr b="1"/>
              <a:t>LIGER</a:t>
            </a:r>
            <a:r>
              <a:rPr/>
              <a:t>, </a:t>
            </a:r>
            <a:r>
              <a:rPr b="1"/>
              <a:t>scArches</a:t>
            </a:r>
            <a:r>
              <a:rPr/>
              <a:t> (reference mapping).</a:t>
            </a:r>
          </a:p>
          <a:p>
            <a:pPr lvl="0" indent="0" marL="0">
              <a:buNone/>
            </a:pPr>
            <a:r>
              <a:rPr/>
              <a:t>Benchmarks (Luecken </a:t>
            </a:r>
            <a:r>
              <a:rPr i="1"/>
              <a:t>et al.</a:t>
            </a:r>
            <a:r>
              <a:rPr/>
              <a:t> 2022): no universal winner. Harmony and scVI/scANVI do consistently well.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tell whether integration worked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things must be true simultaneously:</a:t>
            </a:r>
          </a:p>
          <a:p>
            <a:pPr lvl="0" indent="0" marL="0">
              <a:buNone/>
            </a:pPr>
            <a:r>
              <a:rPr b="1"/>
              <a:t>Batches must mix</a:t>
            </a:r>
            <a:r>
              <a:rPr/>
              <a:t> — measure with kBET, iLISI, or batch ASW. Not by looking at a UMAP.</a:t>
            </a:r>
          </a:p>
          <a:p>
            <a:pPr lvl="0" indent="0" marL="0">
              <a:buNone/>
            </a:pPr>
            <a:r>
              <a:rPr b="1"/>
              <a:t>Cell types must not merge</a:t>
            </a:r>
            <a:r>
              <a:rPr/>
              <a:t> — measure with ARI or NMI against labels, or cLISI. Over-correction is the real danger: it makes a beautiful UMAP in which distinct populations have been fused.</a:t>
            </a:r>
          </a:p>
          <a:p>
            <a:pPr lvl="0" indent="0" marL="0">
              <a:buNone/>
            </a:pPr>
            <a:r>
              <a:rPr sz="1300">
                <a:latin typeface="Consolas"/>
              </a:rPr>
              <a:t>scIB</a:t>
            </a:r>
            <a:r>
              <a:rPr/>
              <a:t> implements both families of metric. And always look at the </a:t>
            </a:r>
            <a:r>
              <a:rPr b="1"/>
              <a:t>uncorrected</a:t>
            </a:r>
            <a:r>
              <a:rPr/>
              <a:t> UMAP first, so you know what you changed.</a:t>
            </a:r>
          </a:p>
          <a:p>
            <a:pPr lvl="0" indent="0" marL="1270000">
              <a:buNone/>
            </a:pPr>
            <a:r>
              <a:rPr sz="2000"/>
              <a:t>Correct the embedding for clustering; run differential expression on the </a:t>
            </a:r>
            <a:r>
              <a:rPr sz="2000" b="1"/>
              <a:t>uncorrected</a:t>
            </a:r>
            <a:r>
              <a:rPr sz="2000"/>
              <a:t> counts with batch in the model.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Trajectory inference and pseudotime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continuous processes — differentiation, activation, reprogramming — discrete clusters are the wrong model.</a:t>
            </a:r>
          </a:p>
          <a:p>
            <a:pPr lvl="0" indent="0" marL="0">
              <a:buNone/>
            </a:pPr>
            <a:r>
              <a:rPr/>
              <a:t>Order cells along a path and call their position </a:t>
            </a:r>
            <a:r>
              <a:rPr b="1"/>
              <a:t>pseudotime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Tools: </a:t>
            </a:r>
            <a:r>
              <a:rPr b="1"/>
              <a:t>Monocle3</a:t>
            </a:r>
            <a:r>
              <a:rPr/>
              <a:t> (graph on UMAP space), </a:t>
            </a:r>
            <a:r>
              <a:rPr b="1"/>
              <a:t>Slingshot</a:t>
            </a:r>
            <a:r>
              <a:rPr/>
              <a:t> (principal curves through cluster centroids; robust, my default), </a:t>
            </a:r>
            <a:r>
              <a:rPr b="1"/>
              <a:t>PAGA</a:t>
            </a:r>
            <a:r>
              <a:rPr/>
              <a:t> (coarse cluster-graph abstraction), </a:t>
            </a:r>
            <a:r>
              <a:rPr b="1"/>
              <a:t>Palantir</a:t>
            </a:r>
            <a:r>
              <a:rPr/>
              <a:t>, </a:t>
            </a:r>
            <a:r>
              <a:rPr b="1"/>
              <a:t>CellRank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Uses: find genes that change along the trajectory, find branch points, order a lineage without a time course.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Trajectory inference: the caveats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You must choose the root.</a:t>
            </a:r>
            <a:r>
              <a:rPr/>
              <a:t> Tools infer topology, not direction. Get the root wrong and your differentiation runs backwards.</a:t>
            </a:r>
          </a:p>
          <a:p>
            <a:pPr lvl="0"/>
            <a:r>
              <a:rPr b="1"/>
              <a:t>Every method will give you a trajectory</a:t>
            </a:r>
            <a:r>
              <a:rPr/>
              <a:t>, including on data with no continuous structure at all. Fitting a curve through discrete clusters produces a confident and meaningless pseudotime.</a:t>
            </a:r>
          </a:p>
          <a:p>
            <a:pPr lvl="0"/>
            <a:r>
              <a:rPr b="1"/>
              <a:t>Pseudotime is not real time</a:t>
            </a:r>
            <a:r>
              <a:rPr/>
              <a:t>, and the spacing is not proportional to duration.</a:t>
            </a:r>
          </a:p>
          <a:p>
            <a:pPr lvl="0"/>
            <a:r>
              <a:rPr b="1"/>
              <a:t>Different tools disagree</a:t>
            </a:r>
            <a:r>
              <a:rPr/>
              <a:t> substantially on the same data.</a:t>
            </a:r>
          </a:p>
          <a:p>
            <a:pPr lvl="0"/>
            <a:r>
              <a:rPr/>
              <a:t>Validate with an independent axis: real time points, lineage barcodes, or RNA velocity.</a:t>
            </a:r>
          </a:p>
          <a:p>
            <a:pPr lvl="0" indent="0" marL="0">
              <a:buNone/>
            </a:pPr>
            <a:r>
              <a:rPr/>
              <a:t>Ask first: </a:t>
            </a:r>
            <a:r>
              <a:rPr i="1"/>
              <a:t>do I have reason to think this process is continuous?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RNA velocity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Exploits a detail of the data: reads in </a:t>
            </a:r>
            <a:r>
              <a:rPr b="1"/>
              <a:t>introns</a:t>
            </a:r>
            <a:r>
              <a:rPr/>
              <a:t> come from unspliced, newly transcribed pre-mRNA.</a:t>
            </a:r>
          </a:p>
          <a:p>
            <a:pPr lvl="0" indent="0" marL="0">
              <a:buNone/>
            </a:pPr>
            <a:r>
              <a:rPr/>
              <a:t>High unspliced/spliced ratio → the gene is being induced right now. Aggregate across genes and you get a </a:t>
            </a:r>
            <a:r>
              <a:rPr b="1"/>
              <a:t>direction and magnitude</a:t>
            </a:r>
            <a:r>
              <a:rPr/>
              <a:t> vector per cell: where the cell is heading over the next few hours.</a:t>
            </a:r>
          </a:p>
          <a:p>
            <a:pPr lvl="0" indent="0" marL="0">
              <a:buNone/>
            </a:pPr>
            <a:r>
              <a:rPr/>
              <a:t>Tools: </a:t>
            </a:r>
            <a:r>
              <a:rPr sz="1300">
                <a:latin typeface="Consolas"/>
              </a:rPr>
              <a:t>velocyto</a:t>
            </a:r>
            <a:r>
              <a:rPr/>
              <a:t>, </a:t>
            </a:r>
            <a:r>
              <a:rPr sz="1300">
                <a:latin typeface="Consolas"/>
              </a:rPr>
              <a:t>scVelo</a:t>
            </a:r>
            <a:r>
              <a:rPr/>
              <a:t>, </a:t>
            </a:r>
            <a:r>
              <a:rPr sz="1300">
                <a:latin typeface="Consolas"/>
              </a:rPr>
              <a:t>CellRank</a:t>
            </a:r>
            <a:r>
              <a:rPr/>
              <a:t> (combines velocity with pseudotime and handles multiple fates).</a:t>
            </a:r>
          </a:p>
          <a:p>
            <a:pPr lvl="0" indent="0" marL="0">
              <a:buNone/>
            </a:pPr>
            <a:r>
              <a:rPr/>
              <a:t>Requires quantifying intronic reads — Cell Ranger’s default output is not enough; use </a:t>
            </a:r>
            <a:r>
              <a:rPr sz="1300">
                <a:latin typeface="Consolas"/>
              </a:rPr>
              <a:t>velocyto</a:t>
            </a:r>
            <a:r>
              <a:rPr/>
              <a:t> or </a:t>
            </a:r>
            <a:r>
              <a:rPr sz="1300">
                <a:latin typeface="Consolas"/>
              </a:rPr>
              <a:t>kb-python --workflow lamanno</a:t>
            </a:r>
            <a:r>
              <a:rPr/>
              <a:t>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RNA velocity: the caveats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dynamical model assumes constant kinetic rates per gene. That assumption fails in many real systems, and when it fails velocity arrows can point confidently in the </a:t>
            </a:r>
            <a:r>
              <a:rPr b="1"/>
              <a:t>wrong direction</a:t>
            </a:r>
            <a:r>
              <a:rPr/>
              <a:t> (Bergen </a:t>
            </a:r>
            <a:r>
              <a:rPr i="1"/>
              <a:t>et al.</a:t>
            </a:r>
            <a:r>
              <a:rPr/>
              <a:t> 2021; Zheng </a:t>
            </a:r>
            <a:r>
              <a:rPr i="1"/>
              <a:t>et al.</a:t>
            </a:r>
            <a:r>
              <a:rPr/>
              <a:t> 2023 are worth reading before you use it).</a:t>
            </a:r>
          </a:p>
          <a:p>
            <a:pPr lvl="0" indent="0" marL="0">
              <a:buNone/>
            </a:pPr>
            <a:r>
              <a:rPr/>
              <a:t>Velocity is also very sensitive to intronic-read quantification and to the chemistry.</a:t>
            </a:r>
          </a:p>
          <a:p>
            <a:pPr lvl="0" indent="0" marL="0">
              <a:buNone/>
            </a:pPr>
            <a:r>
              <a:rPr/>
              <a:t>Treat velocity as a hypothesis generator, and validate the direction against something independent.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Cell–cell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Infer signalling from co-expression of ligand–receptor pairs across cell types.</a:t>
            </a:r>
          </a:p>
          <a:p>
            <a:pPr lvl="0" indent="0" marL="0">
              <a:buNone/>
            </a:pPr>
            <a:r>
              <a:rPr/>
              <a:t>Tools: </a:t>
            </a:r>
            <a:r>
              <a:rPr sz="1300">
                <a:latin typeface="Consolas"/>
              </a:rPr>
              <a:t>CellPhoneDB</a:t>
            </a:r>
            <a:r>
              <a:rPr/>
              <a:t>, </a:t>
            </a:r>
            <a:r>
              <a:rPr sz="1300">
                <a:latin typeface="Consolas"/>
              </a:rPr>
              <a:t>CellChat</a:t>
            </a:r>
            <a:r>
              <a:rPr/>
              <a:t>, </a:t>
            </a:r>
            <a:r>
              <a:rPr sz="1300">
                <a:latin typeface="Consolas"/>
              </a:rPr>
              <a:t>NicheNet</a:t>
            </a:r>
            <a:r>
              <a:rPr/>
              <a:t> (adds downstream target gene evidence, which makes it the most defensible), </a:t>
            </a:r>
            <a:r>
              <a:rPr sz="1300">
                <a:latin typeface="Consolas"/>
              </a:rPr>
              <a:t>LIANA</a:t>
            </a:r>
            <a:r>
              <a:rPr/>
              <a:t> (a consensus wrapper over many methods).</a:t>
            </a:r>
          </a:p>
          <a:p>
            <a:pPr lvl="0" indent="0" marL="0">
              <a:buNone/>
            </a:pPr>
            <a:r>
              <a:rPr b="1"/>
              <a:t>The limitation is fundamental:</a:t>
            </a:r>
            <a:r>
              <a:rPr/>
              <a:t> you measured mRNA in dissociated cells. You have no evidence that the ligand protein was made, secreted, or that the two cell types were ever within signalling distance.</a:t>
            </a:r>
          </a:p>
          <a:p>
            <a:pPr lvl="0" indent="0" marL="0">
              <a:buNone/>
            </a:pPr>
            <a:r>
              <a:rPr/>
              <a:t>A CellChat plot is a list of hypotheses. Every arrow needs validation.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Spatial transcriptomics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Single cell throws away the tissue architecture. Spatial methods keep it.</a:t>
            </a:r>
          </a:p>
          <a:p>
            <a:pPr lvl="0" indent="0" marL="0">
              <a:buNone/>
            </a:pPr>
            <a:r>
              <a:rPr b="1"/>
              <a:t>Sequencing-based</a:t>
            </a:r>
            <a:r>
              <a:rPr/>
              <a:t> — Visium (55 µm spots, multi-cell), Visium HD, Slide-seq, Stereo-seq. Whole transcriptome, resolution below or near single cell depending on platform.</a:t>
            </a:r>
          </a:p>
          <a:p>
            <a:pPr lvl="0" indent="0" marL="0">
              <a:buNone/>
            </a:pPr>
            <a:r>
              <a:rPr b="1"/>
              <a:t>Imaging-based</a:t>
            </a:r>
            <a:r>
              <a:rPr/>
              <a:t> — Xenium, MERFISH, CosMx, seqFISH+. True single-cell (often subcellular) resolution, but a </a:t>
            </a:r>
            <a:r>
              <a:rPr b="1"/>
              <a:t>targeted panel</a:t>
            </a:r>
            <a:r>
              <a:rPr/>
              <a:t> of 100–5,000 genes.</a:t>
            </a:r>
          </a:p>
          <a:p>
            <a:pPr lvl="0" indent="0" marL="0">
              <a:buNone/>
            </a:pPr>
            <a:r>
              <a:rPr/>
              <a:t>The trade-off is exactly whole-transcriptome versus single-cell resolution. Common design: scRNA-seq to define the cell types, spatial to place them.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Other things you will meet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Multi-omics</a:t>
            </a:r>
            <a:r>
              <a:rPr/>
              <a:t> — CITE-seq (RNA + surface protein), scATAC-seq (chromatin accessibility), 10x Multiome (RNA + ATAC in the same nucleus), scNMT (methylation too).</a:t>
            </a:r>
          </a:p>
          <a:p>
            <a:pPr lvl="0" indent="0" marL="0">
              <a:buNone/>
            </a:pPr>
            <a:r>
              <a:rPr b="1"/>
              <a:t>Perturbation screens</a:t>
            </a:r>
            <a:r>
              <a:rPr/>
              <a:t> — Perturb-seq / CROP-seq: CRISPR guides read out alongside the transcriptome. Thousands of perturbations in one experiment.</a:t>
            </a:r>
          </a:p>
          <a:p>
            <a:pPr lvl="0" indent="0" marL="0">
              <a:buNone/>
            </a:pPr>
            <a:r>
              <a:rPr b="1"/>
              <a:t>Lineage tracing</a:t>
            </a:r>
            <a:r>
              <a:rPr/>
              <a:t> — heritable barcodes, or somatic/mitochondrial mutations, to reconstruct real ancestry rather than inferred pseudotime.</a:t>
            </a:r>
          </a:p>
          <a:p>
            <a:pPr lvl="0" indent="0" marL="0">
              <a:buNone/>
            </a:pPr>
            <a:r>
              <a:rPr b="1"/>
              <a:t>Foundation models</a:t>
            </a:r>
            <a:r>
              <a:rPr/>
              <a:t> — scGPT, Geneformer, scFoundation. Transformers pretrained on tens of millions of cells. Promising; independent benchmarks are currently mixed, and simple baselines are often competitive.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Block 5 — Practice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read a single-cell paper critically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How many biological replicates?</a:t>
            </a:r>
            <a:r>
              <a:rPr/>
              <a:t> (Not cells. Donors.)</a:t>
            </a:r>
          </a:p>
          <a:p>
            <a:pPr lvl="0" indent="-342900" marL="342900">
              <a:buAutoNum type="arabicPeriod"/>
            </a:pPr>
            <a:r>
              <a:rPr/>
              <a:t>Was DE done at cell level or </a:t>
            </a:r>
            <a:r>
              <a:rPr b="1"/>
              <a:t>pseudobulk</a:t>
            </a:r>
            <a:r>
              <a:rPr/>
              <a:t>? If cell level, ignore the p-values.</a:t>
            </a:r>
          </a:p>
          <a:p>
            <a:pPr lvl="0" indent="-342900" marL="342900">
              <a:buAutoNum type="arabicPeriod"/>
            </a:pPr>
            <a:r>
              <a:rPr/>
              <a:t>Is any claim resting on </a:t>
            </a:r>
            <a:r>
              <a:rPr b="1"/>
              <a:t>UMAP geometry</a:t>
            </a:r>
            <a:r>
              <a:rPr/>
              <a:t>?</a:t>
            </a:r>
          </a:p>
          <a:p>
            <a:pPr lvl="0" indent="-342900" marL="342900">
              <a:buAutoNum type="arabicPeriod"/>
            </a:pPr>
            <a:r>
              <a:rPr/>
              <a:t>What </a:t>
            </a:r>
            <a:r>
              <a:rPr b="1"/>
              <a:t>resolution</a:t>
            </a:r>
            <a:r>
              <a:rPr/>
              <a:t> was used, and is it stated?</a:t>
            </a:r>
          </a:p>
          <a:p>
            <a:pPr lvl="0" indent="-342900" marL="342900">
              <a:buAutoNum type="arabicPeriod"/>
            </a:pPr>
            <a:r>
              <a:rPr/>
              <a:t>Were </a:t>
            </a:r>
            <a:r>
              <a:rPr b="1"/>
              <a:t>doublets</a:t>
            </a:r>
            <a:r>
              <a:rPr/>
              <a:t> addressed? Does any “novel” population co-express two lineage programmes?</a:t>
            </a:r>
          </a:p>
          <a:p>
            <a:pPr lvl="0" indent="-342900" marL="342900">
              <a:buAutoNum type="arabicPeriod"/>
            </a:pPr>
            <a:r>
              <a:rPr/>
              <a:t>What was the </a:t>
            </a:r>
            <a:r>
              <a:rPr b="1"/>
              <a:t>mitochondrial threshold</a:t>
            </a:r>
            <a:r>
              <a:rPr/>
              <a:t>, and was it appropriate for the tissue?</a:t>
            </a:r>
          </a:p>
          <a:p>
            <a:pPr lvl="0" indent="-342900" marL="342900">
              <a:buAutoNum type="arabicPeriod"/>
            </a:pPr>
            <a:r>
              <a:rPr/>
              <a:t>Do the </a:t>
            </a:r>
            <a:r>
              <a:rPr b="1"/>
              <a:t>proportion</a:t>
            </a:r>
            <a:r>
              <a:rPr/>
              <a:t> claims account for dissociation bias?</a:t>
            </a:r>
          </a:p>
          <a:p>
            <a:pPr lvl="0" indent="-342900" marL="342900">
              <a:buAutoNum type="arabicPeriod"/>
            </a:pPr>
            <a:r>
              <a:rPr/>
              <a:t>If integrated: is over-correction ruled out?</a:t>
            </a:r>
          </a:p>
          <a:p>
            <a:pPr lvl="0" indent="-342900" marL="342900">
              <a:buAutoNum type="arabicPeriod"/>
            </a:pPr>
            <a:r>
              <a:rPr/>
              <a:t>Is there </a:t>
            </a:r>
            <a:r>
              <a:rPr b="1"/>
              <a:t>orthogonal validation</a:t>
            </a:r>
            <a:r>
              <a:rPr/>
              <a:t> — imaging, flow, a second cohort?</a:t>
            </a:r>
          </a:p>
          <a:p>
            <a:pPr lvl="0" indent="-342900" marL="342900">
              <a:buAutoNum type="arabicPeriod"/>
            </a:pPr>
            <a:r>
              <a:rPr/>
              <a:t>Are the </a:t>
            </a:r>
            <a:r>
              <a:rPr b="1"/>
              <a:t>code and the raw data</a:t>
            </a:r>
            <a:r>
              <a:rPr/>
              <a:t> available?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Reproducibility, concretely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Set seeds.</a:t>
            </a:r>
            <a:r>
              <a:rPr/>
              <a:t> </a:t>
            </a:r>
            <a:r>
              <a:rPr sz="1300">
                <a:latin typeface="Consolas"/>
              </a:rPr>
              <a:t>set.seed()</a:t>
            </a:r>
            <a:r>
              <a:rPr/>
              <a:t>, and </a:t>
            </a:r>
            <a:r>
              <a:rPr sz="1300">
                <a:latin typeface="Consolas"/>
              </a:rPr>
              <a:t>seed.use</a:t>
            </a:r>
            <a:r>
              <a:rPr/>
              <a:t> in </a:t>
            </a:r>
            <a:r>
              <a:rPr sz="1300">
                <a:latin typeface="Consolas"/>
              </a:rPr>
              <a:t>RunUMAP</a:t>
            </a:r>
            <a:r>
              <a:rPr/>
              <a:t>.</a:t>
            </a:r>
          </a:p>
          <a:p>
            <a:pPr lvl="0"/>
            <a:r>
              <a:rPr b="1"/>
              <a:t>Record versions.</a:t>
            </a:r>
            <a:r>
              <a:rPr/>
              <a:t> </a:t>
            </a:r>
            <a:r>
              <a:rPr sz="1300">
                <a:latin typeface="Consolas"/>
              </a:rPr>
              <a:t>sessionInfo()</a:t>
            </a:r>
            <a:r>
              <a:rPr/>
              <a:t> at the end of every script; </a:t>
            </a:r>
            <a:r>
              <a:rPr sz="1300">
                <a:latin typeface="Consolas"/>
              </a:rPr>
              <a:t>renv</a:t>
            </a:r>
            <a:r>
              <a:rPr/>
              <a:t> to lock them for the project.</a:t>
            </a:r>
          </a:p>
          <a:p>
            <a:pPr lvl="0"/>
            <a:r>
              <a:rPr b="1"/>
              <a:t>Script everything.</a:t>
            </a:r>
            <a:r>
              <a:rPr/>
              <a:t> No manual steps, no hand-edited figures.</a:t>
            </a:r>
          </a:p>
          <a:p>
            <a:pPr lvl="0"/>
            <a:r>
              <a:rPr b="1"/>
              <a:t>Save the object</a:t>
            </a:r>
            <a:r>
              <a:rPr/>
              <a:t> at the expensive checkpoints.</a:t>
            </a:r>
          </a:p>
          <a:p>
            <a:pPr lvl="0"/>
            <a:r>
              <a:rPr b="1"/>
              <a:t>Write the parameters down</a:t>
            </a:r>
            <a:r>
              <a:rPr/>
              <a:t>: filtering thresholds, number of PCs, resolution, integration method. All of them are choices.</a:t>
            </a:r>
          </a:p>
          <a:p>
            <a:pPr lvl="0"/>
            <a:r>
              <a:rPr b="1"/>
              <a:t>Deposit</a:t>
            </a:r>
            <a:r>
              <a:rPr/>
              <a:t> raw FASTQ in GEO/ArrayExpress and processed matrices alongside; put the code on GitHub/Zenodo with a DOI.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did this week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6416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design, wet lab, pre-processing, </a:t>
                      </a:r>
                      <a:r>
                        <a:rPr b="1"/>
                        <a:t>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 models, normalisation, </a:t>
                      </a:r>
                      <a:r>
                        <a:rPr b="1"/>
                        <a:t>DESeq2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PCA, visualisation, </a:t>
                      </a:r>
                      <a:r>
                        <a:rPr b="1"/>
                        <a:t>GO / GSEA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droplet technology, QC, </a:t>
                      </a:r>
                      <a:r>
                        <a:rPr b="1"/>
                        <a:t>Seurat to UMAP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clustering, markers, </a:t>
                      </a:r>
                      <a:r>
                        <a:rPr b="1"/>
                        <a:t>annotation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962400"/>
            <a:ext cx="8229600" cy="8001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You can now take an unfamiliar count matrix and a sample sheet and produce a defensible analysis. That is a genuinely useful skill, and it is most of what a computational collaborator does.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to be suspicious of, forever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A gene list with no p-value distribution shown</a:t>
            </a:r>
          </a:p>
          <a:p>
            <a:pPr lvl="0" indent="-342900" marL="342900">
              <a:buAutoNum type="arabicPeriod"/>
            </a:pPr>
            <a:r>
              <a:rPr sz="1300">
                <a:latin typeface="Consolas"/>
              </a:rPr>
              <a:t>padj</a:t>
            </a:r>
            <a:r>
              <a:rPr/>
              <a:t> that came from a comparison used to define the groups</a:t>
            </a:r>
          </a:p>
          <a:p>
            <a:pPr lvl="0" indent="-342900" marL="342900">
              <a:buAutoNum type="arabicPeriod"/>
            </a:pPr>
            <a:r>
              <a:rPr/>
              <a:t>A heatmap of the significant genes offered as evidence</a:t>
            </a:r>
          </a:p>
          <a:p>
            <a:pPr lvl="0" indent="-342900" marL="342900">
              <a:buAutoNum type="arabicPeriod"/>
            </a:pPr>
            <a:r>
              <a:rPr/>
              <a:t>Enrichment analysis with the wrong background</a:t>
            </a:r>
          </a:p>
          <a:p>
            <a:pPr lvl="0" indent="-342900" marL="342900">
              <a:buAutoNum type="arabicPeriod"/>
            </a:pPr>
            <a:r>
              <a:rPr/>
              <a:t>A UMAP used as a measurement</a:t>
            </a:r>
          </a:p>
          <a:p>
            <a:pPr lvl="0" indent="-342900" marL="342900">
              <a:buAutoNum type="arabicPeriod"/>
            </a:pPr>
            <a:r>
              <a:rPr/>
              <a:t>n = 1 with 10,000 cells</a:t>
            </a:r>
          </a:p>
          <a:p>
            <a:pPr lvl="0" indent="-342900" marL="342900">
              <a:buAutoNum type="arabicPeriod"/>
            </a:pPr>
            <a:r>
              <a:rPr/>
              <a:t>A “novel cell type” that co-expresses two lineages</a:t>
            </a:r>
          </a:p>
          <a:p>
            <a:pPr lvl="0" indent="-342900" marL="342900">
              <a:buAutoNum type="arabicPeriod"/>
            </a:pPr>
            <a:r>
              <a:rPr/>
              <a:t>Any conclusion that changes when you change a default parameter</a:t>
            </a:r>
          </a:p>
          <a:p>
            <a:pPr lvl="0" indent="0" marL="0">
              <a:buNone/>
            </a:pPr>
            <a:r>
              <a:rPr/>
              <a:t>The last one is the general case. If you cannot perturb a parameter and keep the conclusion, you do not have a conclusion.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afternoon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1300">
                <a:latin typeface="Consolas"/>
              </a:rPr>
              <a:t>Day5_scRNAseq_Advanced/scripts/05_seurat_clustering_annotation.R</a:t>
            </a:r>
          </a:p>
          <a:p>
            <a:pPr lvl="0" indent="-342900" marL="342900">
              <a:buAutoNum type="arabicPeriod"/>
            </a:pPr>
            <a:r>
              <a:rPr/>
              <a:t>Cluster at six resolutions; compare</a:t>
            </a:r>
          </a:p>
          <a:p>
            <a:pPr lvl="0" indent="-342900" marL="342900">
              <a:buAutoNum type="arabicPeriod"/>
            </a:pPr>
            <a:r>
              <a:rPr sz="1300">
                <a:latin typeface="Consolas"/>
              </a:rPr>
              <a:t>FindAllMarkers</a:t>
            </a:r>
            <a:r>
              <a:rPr/>
              <a:t>; look at pct.1/pct.2 and AUC, not p</a:t>
            </a:r>
          </a:p>
          <a:p>
            <a:pPr lvl="0" indent="-342900" marL="342900">
              <a:buAutoNum type="arabicPeriod"/>
            </a:pPr>
            <a:r>
              <a:rPr sz="1300">
                <a:latin typeface="Consolas"/>
              </a:rPr>
              <a:t>DotPlot</a:t>
            </a:r>
            <a:r>
              <a:rPr/>
              <a:t>, </a:t>
            </a:r>
            <a:r>
              <a:rPr sz="1300">
                <a:latin typeface="Consolas"/>
              </a:rPr>
              <a:t>VlnPlot</a:t>
            </a:r>
            <a:r>
              <a:rPr/>
              <a:t>, </a:t>
            </a:r>
            <a:r>
              <a:rPr sz="1300">
                <a:latin typeface="Consolas"/>
              </a:rPr>
              <a:t>FeaturePlot</a:t>
            </a:r>
            <a:r>
              <a:rPr/>
              <a:t> of canonical markers</a:t>
            </a:r>
          </a:p>
          <a:p>
            <a:pPr lvl="0" indent="-342900" marL="342900">
              <a:buAutoNum type="arabicPeriod"/>
            </a:pPr>
            <a:r>
              <a:rPr/>
              <a:t>Annotate; </a:t>
            </a:r>
            <a:r>
              <a:rPr sz="1300">
                <a:latin typeface="Consolas"/>
              </a:rPr>
              <a:t>RenameIdents</a:t>
            </a:r>
            <a:r>
              <a:rPr/>
              <a:t>; labelled UMAP</a:t>
            </a:r>
          </a:p>
          <a:p>
            <a:pPr lvl="0" indent="-342900" marL="342900">
              <a:buAutoNum type="arabicPeriod"/>
            </a:pPr>
            <a:r>
              <a:rPr/>
              <a:t>Subset and re-cluster one population</a:t>
            </a:r>
          </a:p>
          <a:p>
            <a:pPr lvl="0" indent="-342900" marL="342900">
              <a:buAutoNum type="arabicPeriod"/>
            </a:pPr>
            <a:r>
              <a:rPr/>
              <a:t>A pseudobulk demonstration</a:t>
            </a:r>
          </a:p>
          <a:p>
            <a:pPr lvl="0" indent="-342900" marL="342900">
              <a:buAutoNum type="arabicPeriod"/>
            </a:pPr>
            <a:r>
              <a:rPr b="1"/>
              <a:t>15:30 — prepare your presentation. 16:00 — present.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 presentations — 10 minutes per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 slides, no more:</a:t>
            </a:r>
          </a:p>
          <a:p>
            <a:pPr lvl="0" indent="-342900" marL="342900">
              <a:buAutoNum type="arabicPeriod"/>
            </a:pPr>
            <a:r>
              <a:rPr b="1"/>
              <a:t>Your dataset.</a:t>
            </a:r>
            <a:r>
              <a:rPr/>
              <a:t> What was done to the cells, and the question.</a:t>
            </a:r>
          </a:p>
          <a:p>
            <a:pPr lvl="0" indent="-342900" marL="342900">
              <a:buAutoNum type="arabicPeriod"/>
            </a:pPr>
            <a:r>
              <a:rPr b="1"/>
              <a:t>Your QC.</a:t>
            </a:r>
            <a:r>
              <a:rPr/>
              <a:t> The thresholds you chose and why. One figure.</a:t>
            </a:r>
          </a:p>
          <a:p>
            <a:pPr lvl="0" indent="-342900" marL="342900">
              <a:buAutoNum type="arabicPeriod"/>
            </a:pPr>
            <a:r>
              <a:rPr b="1"/>
              <a:t>Your result.</a:t>
            </a:r>
            <a:r>
              <a:rPr/>
              <a:t> The labelled UMAP, or the volcano plot. What is the biology?</a:t>
            </a:r>
          </a:p>
          <a:p>
            <a:pPr lvl="0" indent="-342900" marL="342900">
              <a:buAutoNum type="arabicPeriod"/>
            </a:pPr>
            <a:r>
              <a:rPr b="1"/>
              <a:t>Your caveat.</a:t>
            </a:r>
            <a:r>
              <a:rPr/>
              <a:t> The one thing about your analysis you would want a reviewer to know. Everyone has one.</a:t>
            </a:r>
          </a:p>
          <a:p>
            <a:pPr lvl="0" indent="0" marL="0">
              <a:buNone/>
            </a:pPr>
            <a:r>
              <a:rPr/>
              <a:t>Slide 4 is the one that matters. Come with a real answer.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Materials, scripts and data stay in the workshop folder — take them.</a:t>
            </a:r>
          </a:p>
          <a:p>
            <a:pPr lvl="0" indent="0" marL="0">
              <a:buNone/>
            </a:pPr>
            <a:r>
              <a:rPr/>
              <a:t>Where to go next:</a:t>
            </a:r>
          </a:p>
          <a:p>
            <a:pPr lvl="0"/>
            <a:r>
              <a:rPr b="1"/>
              <a:t>Bioconductor vignettes</a:t>
            </a:r>
            <a:r>
              <a:rPr/>
              <a:t> — written by the method authors, excellent</a:t>
            </a:r>
          </a:p>
          <a:p>
            <a:pPr lvl="0"/>
            <a:r>
              <a:rPr b="1"/>
              <a:t>OSCA</a:t>
            </a:r>
            <a:r>
              <a:rPr/>
              <a:t> — </a:t>
            </a:r>
            <a:r>
              <a:rPr i="1"/>
              <a:t>Orchestrating Single-Cell Analysis</a:t>
            </a:r>
            <a:r>
              <a:rPr/>
              <a:t> (bioconductor.org/books)</a:t>
            </a:r>
          </a:p>
          <a:p>
            <a:pPr lvl="0"/>
            <a:r>
              <a:rPr b="1"/>
              <a:t>Seurat and scanpy tutorials</a:t>
            </a:r>
            <a:r>
              <a:rPr/>
              <a:t> — for the mechanics</a:t>
            </a:r>
          </a:p>
          <a:p>
            <a:pPr lvl="0"/>
            <a:r>
              <a:rPr b="1"/>
              <a:t>Bioconductor Support</a:t>
            </a:r>
            <a:r>
              <a:rPr/>
              <a:t>, </a:t>
            </a:r>
            <a:r>
              <a:rPr b="1"/>
              <a:t>Biostars</a:t>
            </a:r>
            <a:r>
              <a:rPr/>
              <a:t> — for when you are stuck</a:t>
            </a:r>
          </a:p>
          <a:p>
            <a:pPr lvl="0"/>
            <a:r>
              <a:rPr b="1"/>
              <a:t>Your own data</a:t>
            </a:r>
            <a:r>
              <a:rPr/>
              <a:t> — the only way this becomes real</a:t>
            </a:r>
          </a:p>
          <a:p>
            <a:pPr lvl="0" indent="0" marL="0">
              <a:buNone/>
            </a:pPr>
            <a:r>
              <a:rPr/>
              <a:t>Questions now, and by email afterwards.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F4E5F"/>
      </a:accent1>
      <a:accent2>
        <a:srgbClr val="B4531A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Clustering, Annotation, and What Comes Next</dc:title>
  <dc:creator>Instructor</dc:creator>
  <cp:keywords/>
  <dcterms:created xsi:type="dcterms:W3CDTF">2026-09-30T08:47:22Z</dcterms:created>
  <dcterms:modified xsi:type="dcterms:W3CDTF">2026-09-30T08:47:22Z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30 September 2026</vt:lpwstr>
  </property>
  <property fmtid="{D5CDD505-2E9C-101B-9397-08002B2CF9AE}" pid="3" name="output">
    <vt:lpwstr/>
  </property>
  <property fmtid="{D5CDD505-2E9C-101B-9397-08002B2CF9AE}" pid="4" name="subtitle">
    <vt:lpwstr>Day 5 — Transcriptomics Summer School, Sarajevo</vt:lpwstr>
  </property>
</Properties>
</file>