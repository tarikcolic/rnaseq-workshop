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306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 autoAdjust="0"/>
    <p:restoredTop sz="94675" autoAdjust="0"/>
  </p:normalViewPr>
  <p:slideViewPr>
    <p:cSldViewPr snapToGrid="0" snapToObjects="1">
      <p:cViewPr varScale="1">
        <p:scale>
          <a:sx n="139" d="100"/>
          <a:sy n="139" d="100"/>
        </p:scale>
        <p:origin x="176" y="4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70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kern="1200">
          <a:solidFill>
            <a:srgbClr val="1F4E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35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35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35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Counts, Models and Differential Expression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Day 2 — Transcriptomics Summer School, Sarajevo</a:t>
            </a:r>
            <a:br/>
            <a:br/>
            <a:r>
              <a:t>Instructor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30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1 — What is in a count matrix?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Yesterday: biology → library → reads → </a:t>
            </a:r>
            <a:r>
              <a:rPr b="1"/>
              <a:t>count matrix</a:t>
            </a:r>
            <a:r>
              <a:t>.</a:t>
            </a:r>
          </a:p>
          <a:p>
            <a:pPr marL="0" lvl="0" indent="0">
              <a:buNone/>
            </a:pPr>
            <a:r>
              <a:t>Today: the count matrix → </a:t>
            </a:r>
            <a:r>
              <a:rPr b="1"/>
              <a:t>a list of genes with fold changes and FDR-adjusted p-values.</a:t>
            </a:r>
          </a:p>
          <a:p>
            <a:pPr marL="0" lvl="0" indent="0">
              <a:buNone/>
            </a:pPr>
            <a:r>
              <a:t>This is the single most common analysis in functional genomics, and the single most commonly botched one. The botching is almost always statistical, not computational.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 dirty="0">
                <a:latin typeface="Consolas"/>
              </a:rPr>
              <a:t>             SRR1039508  SRR1039509  SRR1039512  SRR1039513
ENSG00000000003        679         448        873         408
ENSG00000000005          0           0          0           0
ENSG00000000419        467         515        621         365
ENSG00000000457        260         211        263         164
ENSG00000000460         60          55         40           35</a:t>
            </a:r>
          </a:p>
          <a:p>
            <a:pPr lvl="0"/>
            <a:endParaRPr lang="de-DE" dirty="0"/>
          </a:p>
          <a:p>
            <a:pPr lvl="0"/>
            <a:r>
              <a:rPr dirty="0"/>
              <a:t>integers; one row per gene; one column per library</a:t>
            </a:r>
          </a:p>
          <a:p>
            <a:pPr lvl="0"/>
            <a:r>
              <a:rPr b="1" dirty="0"/>
              <a:t>~20,000 rows × 4–100 columns</a:t>
            </a:r>
            <a:r>
              <a:rPr dirty="0"/>
              <a:t> for a typical experiment</a:t>
            </a:r>
          </a:p>
          <a:p>
            <a:pPr lvl="0"/>
            <a:r>
              <a:rPr dirty="0"/>
              <a:t>most of the information is in a minority of the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structural facts that drive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1. Counts are compositional.</a:t>
            </a:r>
            <a:r>
              <a:t> A library has a fixed number of reads. If one gene takes a bigger share, every other gene’s share must fall — even if its absolute expression did not change. You measured </a:t>
            </a:r>
            <a:r>
              <a:rPr i="1"/>
              <a:t>proportions</a:t>
            </a:r>
            <a:r>
              <a:t>, not amounts.</a:t>
            </a:r>
          </a:p>
          <a:p>
            <a:pPr marL="0" lvl="0" indent="0">
              <a:buNone/>
            </a:pPr>
            <a:r>
              <a:rPr b="1"/>
              <a:t>2. Variance grows with the mean.</a:t>
            </a:r>
            <a:r>
              <a:t> A gene with mean count 10 might range 5–20. A gene with mean count 10,000 will range ~9,000–11,000 in </a:t>
            </a:r>
            <a:r>
              <a:rPr i="1"/>
              <a:t>relative</a:t>
            </a:r>
            <a:r>
              <a:t> terms but ±1,000 in absolute terms. Any model assuming constant variance is wrong.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Mean–variance relationship in real data</a:t>
            </a:r>
          </a:p>
        </p:txBody>
      </p:sp>
      <p:pic>
        <p:nvPicPr>
          <p:cNvPr id="3" name="Picture 1" descr="Day2_lecture_files/figure-pptx/meanvar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7263" y="901285"/>
            <a:ext cx="5617411" cy="304975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B73212-9AEB-AD01-7942-C5FDD719D1A7}"/>
              </a:ext>
            </a:extLst>
          </p:cNvPr>
          <p:cNvSpPr txBox="1"/>
          <p:nvPr/>
        </p:nvSpPr>
        <p:spPr>
          <a:xfrm>
            <a:off x="545431" y="4184677"/>
            <a:ext cx="8053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Points lie </a:t>
            </a:r>
            <a:r>
              <a:rPr lang="en-US" b="1" dirty="0"/>
              <a:t>above</a:t>
            </a:r>
            <a:r>
              <a:rPr lang="en-US" dirty="0"/>
              <a:t> the Poisson line: there is extra (“over-”) dispersion from biological variability between replicates.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Zeros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zero in a count matrix means “no read was assigned”. That has several possible causes:</a:t>
            </a:r>
          </a:p>
          <a:p>
            <a:pPr lvl="0"/>
            <a:r>
              <a:t>the gene is genuinely not expressed in this tissue</a:t>
            </a:r>
          </a:p>
          <a:p>
            <a:pPr lvl="0"/>
            <a:r>
              <a:t>the gene is expressed at a level below the detection limit at this depth</a:t>
            </a:r>
          </a:p>
          <a:p>
            <a:pPr lvl="0"/>
            <a:r>
              <a:t>the gene is expressed but unmappable (repetitive, missing from annotation)</a:t>
            </a:r>
          </a:p>
          <a:p>
            <a:pPr lvl="0"/>
            <a:r>
              <a:t>the sample failed</a:t>
            </a:r>
          </a:p>
          <a:p>
            <a:pPr marL="0" lvl="0" indent="0">
              <a:buNone/>
            </a:pPr>
            <a:r>
              <a:t>Bulk RNA-seq zeros are mostly </a:t>
            </a:r>
            <a:r>
              <a:rPr b="1"/>
              <a:t>real biological absence</a:t>
            </a:r>
            <a:r>
              <a:t> — a moderately expressed gene at 20 M reads will essentially never be zero. (Single-cell zeros are a completely different problem. Thursday.)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Filtering low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Genes with almost no reads carry no information but cost you multiple-testing power. Remove them </a:t>
            </a:r>
            <a:r>
              <a:rPr b="1"/>
              <a:t>before</a:t>
            </a:r>
            <a:r>
              <a:t> testing.</a:t>
            </a:r>
          </a:p>
          <a:p>
            <a:pPr marL="0" lvl="0" indent="0">
              <a:buNone/>
            </a:pPr>
            <a:r>
              <a:t>A standard, defensible rule: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keep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rowSums</a:t>
            </a:r>
            <a:r>
              <a:rPr sz="1300">
                <a:latin typeface="Consolas"/>
              </a:rPr>
              <a:t>(</a:t>
            </a:r>
            <a:r>
              <a:rPr>
                <a:solidFill>
                  <a:srgbClr val="06287E"/>
                </a:solidFill>
                <a:latin typeface="Consolas"/>
              </a:rPr>
              <a:t>counts</a:t>
            </a:r>
            <a:r>
              <a:rPr sz="1300">
                <a:latin typeface="Consolas"/>
              </a:rPr>
              <a:t>(dds) </a:t>
            </a:r>
            <a:r>
              <a:rPr>
                <a:solidFill>
                  <a:srgbClr val="4070A0"/>
                </a:solidFill>
                <a:latin typeface="Consolas"/>
              </a:rPr>
              <a:t>&gt;=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10</a:t>
            </a:r>
            <a:r>
              <a:rPr sz="1300">
                <a:latin typeface="Consolas"/>
              </a:rPr>
              <a:t>) </a:t>
            </a:r>
            <a:r>
              <a:rPr>
                <a:solidFill>
                  <a:srgbClr val="4070A0"/>
                </a:solidFill>
                <a:latin typeface="Consolas"/>
              </a:rPr>
              <a:t>&gt;=</a:t>
            </a:r>
            <a:r>
              <a:rPr sz="1300">
                <a:latin typeface="Consolas"/>
              </a:rPr>
              <a:t> smallest_group_size</a:t>
            </a:r>
            <a:br/>
            <a:r>
              <a:rPr sz="1300">
                <a:latin typeface="Consolas"/>
              </a:rPr>
              <a:t>dds 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dds[keep, ]</a:t>
            </a:r>
          </a:p>
          <a:p>
            <a:pPr marL="0" lvl="0" indent="0">
              <a:buNone/>
            </a:pPr>
            <a:r>
              <a:t>“At least 10 counts in at least as many samples as the smallest group.”</a:t>
            </a:r>
          </a:p>
          <a:p>
            <a:pPr marL="0" lvl="0" indent="0">
              <a:buNone/>
            </a:pPr>
            <a:r>
              <a:t>Notes:</a:t>
            </a:r>
          </a:p>
          <a:p>
            <a:pPr lvl="0"/>
            <a:r>
              <a:t>filter on </a:t>
            </a:r>
            <a:r>
              <a:rPr b="1"/>
              <a:t>raw counts</a:t>
            </a:r>
            <a:r>
              <a:t>, and </a:t>
            </a:r>
            <a:r>
              <a:rPr b="1"/>
              <a:t>independently of condition</a:t>
            </a:r>
            <a:r>
              <a:t> — never “keep genes that differ between groups”</a:t>
            </a:r>
          </a:p>
          <a:p>
            <a:pPr lvl="0"/>
            <a:r>
              <a:t>DESeq2 additionally does automatic </a:t>
            </a:r>
            <a:r>
              <a:rPr i="1"/>
              <a:t>independent filtering</a:t>
            </a:r>
            <a:r>
              <a:t> at the results stage; the manual filter mostly speeds things up</a:t>
            </a:r>
          </a:p>
          <a:p>
            <a:pPr lvl="0"/>
            <a:r>
              <a:t>filtering on the outcome invalidates the p-values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2 — Normalisation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raw counts are not comparable</a:t>
            </a:r>
          </a:p>
        </p:txBody>
      </p:sp>
      <p:pic>
        <p:nvPicPr>
          <p:cNvPr id="3" name="Picture 1" descr="Day2_lecture_files/figure-pptx/libsiz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899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27967"/>
            <a:ext cx="8229600" cy="994409"/>
          </a:xfrm>
        </p:spPr>
        <p:txBody>
          <a:bodyPr/>
          <a:lstStyle/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A gene with 200 counts in S</a:t>
            </a:r>
            <a:r>
              <a:rPr lang="de-DE" dirty="0" err="1"/>
              <a:t>ample</a:t>
            </a:r>
            <a:r>
              <a:rPr lang="de-DE" dirty="0"/>
              <a:t> </a:t>
            </a:r>
            <a:r>
              <a:rPr dirty="0"/>
              <a:t>3 and 200 counts in S</a:t>
            </a:r>
            <a:r>
              <a:rPr lang="de-DE" dirty="0" err="1"/>
              <a:t>ample</a:t>
            </a:r>
            <a:r>
              <a:rPr lang="de-DE" dirty="0"/>
              <a:t> </a:t>
            </a:r>
            <a:r>
              <a:rPr dirty="0"/>
              <a:t>5 is </a:t>
            </a:r>
            <a:r>
              <a:rPr b="1" dirty="0"/>
              <a:t>not</a:t>
            </a:r>
            <a:r>
              <a:rPr dirty="0"/>
              <a:t> equally expressed: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20DBD7-9171-CEB9-2C3C-54A8788C85F7}"/>
              </a:ext>
            </a:extLst>
          </p:cNvPr>
          <p:cNvSpPr txBox="1"/>
          <p:nvPr/>
        </p:nvSpPr>
        <p:spPr>
          <a:xfrm>
            <a:off x="2782536" y="4537710"/>
            <a:ext cx="357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S5 was sequenced at half the depth.</a:t>
            </a:r>
          </a:p>
        </p:txBody>
      </p:sp>
      <p:pic>
        <p:nvPicPr>
          <p:cNvPr id="4" name="Picture 1" descr="Day2_lecture_files/figure-pptx/libsize-1.png">
            <a:extLst>
              <a:ext uri="{FF2B5EF4-FFF2-40B4-BE49-F238E27FC236}">
                <a16:creationId xmlns:a16="http://schemas.microsoft.com/office/drawing/2014/main" id="{F1E4FEC9-0B56-6BD2-3F1B-25CB95CC5DF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334264"/>
            <a:ext cx="80899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Three different normalisation problems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Library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deeper sample looks “higher” for all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scaling per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Gene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long genes get more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scaling per gene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 few dominant genes suppress everything 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robust scaling per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7600"/>
            <a:ext cx="8229600" cy="1104900"/>
          </a:xfrm>
        </p:spPr>
        <p:txBody>
          <a:bodyPr/>
          <a:lstStyle/>
          <a:p>
            <a:pPr marL="0" lvl="0" indent="0">
              <a:buNone/>
            </a:pPr>
            <a:r>
              <a:t>Which ones you must fix </a:t>
            </a:r>
            <a:r>
              <a:rPr b="1"/>
              <a:t>depends on the comparison you are making.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Within-sample vs between-sample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446796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Comparing gene A to gene B in the same sample</a:t>
            </a:r>
            <a:r>
              <a:rPr dirty="0"/>
              <a:t> → you must correct for gene length. Use TPM.</a:t>
            </a:r>
          </a:p>
          <a:p>
            <a:pPr marL="0" lvl="0" indent="0">
              <a:buNone/>
            </a:pPr>
            <a:r>
              <a:rPr b="1" dirty="0"/>
              <a:t>Comparing gene A across samples</a:t>
            </a:r>
            <a:r>
              <a:rPr dirty="0"/>
              <a:t> → gene length is identical in both, so it cancels. You must correct for library size and composition. Use median-of-ratios / TMM.</a:t>
            </a:r>
          </a:p>
          <a:p>
            <a:pPr marL="1270000" lvl="0" indent="0" algn="ctr">
              <a:buNone/>
            </a:pPr>
            <a:endParaRPr lang="de-D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56C0F-F264-3A8D-B333-6A0BC19F7C94}"/>
              </a:ext>
            </a:extLst>
          </p:cNvPr>
          <p:cNvSpPr txBox="1"/>
          <p:nvPr/>
        </p:nvSpPr>
        <p:spPr>
          <a:xfrm>
            <a:off x="1128190" y="3232484"/>
            <a:ext cx="6887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Differential expression is a </a:t>
            </a:r>
            <a:r>
              <a:rPr lang="en-US" b="1" dirty="0"/>
              <a:t>between-sample, within-gene</a:t>
            </a:r>
            <a:r>
              <a:rPr lang="en-US" dirty="0"/>
              <a:t> comparison. Gene length is irrelevant. Composition is critical.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CPM, TPM, RPKM/FPKM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CPM</a:t>
            </a:r>
            <a:r>
              <a:t> = counts / library size × 10⁶ Corrects depth only. Fine for exploratory plots.</a:t>
            </a:r>
          </a:p>
          <a:p>
            <a:pPr marL="0" lvl="0" indent="0">
              <a:buNone/>
            </a:pPr>
            <a:r>
              <a:rPr b="1"/>
              <a:t>RPKM/FPKM</a:t>
            </a:r>
            <a:r>
              <a:t> = CPM / gene length in kb Corrects depth then length. </a:t>
            </a:r>
            <a:r>
              <a:rPr b="1"/>
              <a:t>Not comparable across samples</a:t>
            </a:r>
            <a:r>
              <a:t> — the denominator is a per-sample read total, so the units differ between samples.</a:t>
            </a:r>
          </a:p>
          <a:p>
            <a:pPr marL="0" lvl="0" indent="0">
              <a:buNone/>
            </a:pPr>
            <a:r>
              <a:rPr b="1"/>
              <a:t>TPM</a:t>
            </a:r>
            <a:r>
              <a:t> = (counts / length) normalised so the column sums to 10⁶ Corrects length then depth. Comparable </a:t>
            </a:r>
            <a:r>
              <a:rPr i="1"/>
              <a:t>within</a:t>
            </a:r>
            <a:r>
              <a:t> a sample; the standard unit for “how expressed is this gene here”.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you must not use TPM for differential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TPM columns sum to a constant by construction. So TPM is </a:t>
            </a:r>
            <a:r>
              <a:rPr b="1"/>
              <a:t>strictly compositional</a:t>
            </a:r>
            <a:r>
              <a:t>: if one gene truly triples, every other gene’s TPM falls.</a:t>
            </a:r>
          </a:p>
          <a:p>
            <a:pPr marL="0" lvl="0" indent="0">
              <a:buNone/>
            </a:pPr>
            <a:r>
              <a:t>Worse: TPM normalises by </a:t>
            </a:r>
            <a:r>
              <a:rPr i="1"/>
              <a:t>total</a:t>
            </a:r>
            <a:r>
              <a:t> signal, which is dominated by the few most-expressed genes. In a liver sample, albumin alone can take 10% of reads. A change in albumin shifts the apparent expression of everything.</a:t>
            </a:r>
          </a:p>
          <a:p>
            <a:pPr marL="0" lvl="0" indent="0">
              <a:buNone/>
            </a:pPr>
            <a:r>
              <a:t>Concrete failure: comparing a tissue with one massively dominant transcript to one without produces thousands of false “downregulated” genes.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Median-of-ratios (DESeq2’s size factors)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idea: </a:t>
            </a:r>
            <a:r>
              <a:rPr b="1"/>
              <a:t>most genes are not differentially expressed</a:t>
            </a:r>
            <a:r>
              <a:t>, so the typical ratio between two samples should be 1.</a:t>
            </a:r>
          </a:p>
          <a:p>
            <a:pPr marL="342900" lvl="0" indent="-342900">
              <a:buAutoNum type="arabicPeriod"/>
            </a:pPr>
            <a:r>
              <a:t>For each gene, compute the geometric mean across all samples (the “reference pseudo-sample”)</a:t>
            </a:r>
          </a:p>
          <a:p>
            <a:pPr marL="342900" lvl="0" indent="-342900">
              <a:buAutoNum type="arabicPeriod"/>
            </a:pPr>
            <a:r>
              <a:t>For each sample, take the ratio of each gene’s count to its reference value</a:t>
            </a:r>
          </a:p>
          <a:p>
            <a:pPr marL="342900" lvl="0" indent="-342900">
              <a:buAutoNum type="arabicPeriod"/>
            </a:pPr>
            <a:r>
              <a:t>The sample’s </a:t>
            </a:r>
            <a:r>
              <a:rPr b="1"/>
              <a:t>size factor</a:t>
            </a:r>
            <a:r>
              <a:t> is the </a:t>
            </a:r>
            <a:r>
              <a:rPr i="1"/>
              <a:t>median</a:t>
            </a:r>
            <a:r>
              <a:t> of those ratios</a:t>
            </a:r>
          </a:p>
          <a:p>
            <a:pPr marL="342900" lvl="0" indent="-342900">
              <a:buAutoNum type="arabicPeriod"/>
            </a:pPr>
            <a:r>
              <a:t>Divide counts by the size factor</a:t>
            </a:r>
          </a:p>
          <a:p>
            <a:pPr marL="0" lvl="0" indent="0">
              <a:buNone/>
            </a:pPr>
            <a:r>
              <a:t>The median makes it robust: a handful of wildly changing genes cannot move it. This is what makes it composition-aware, unlike CPM/TPM.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Size factors, illustrated</a:t>
            </a:r>
          </a:p>
        </p:txBody>
      </p:sp>
      <p:pic>
        <p:nvPicPr>
          <p:cNvPr id="3" name="Picture 1" descr="Day2_lecture_files/figure-pptx/sizefactor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7900" y="1193800"/>
            <a:ext cx="71882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CA0E36-D070-D64E-DC27-95DD6721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2852"/>
            <a:ext cx="6505074" cy="360948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The bulk of genes pile up at the depth difference. The median finds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TMM (edgeR) — the same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Trimmed Mean of M-values:</a:t>
            </a:r>
          </a:p>
          <a:p>
            <a:pPr marL="342900" lvl="0" indent="-342900">
              <a:buAutoNum type="arabicPeriod"/>
            </a:pPr>
            <a:r>
              <a:rPr dirty="0"/>
              <a:t>Pick a reference sample</a:t>
            </a:r>
          </a:p>
          <a:p>
            <a:pPr marL="342900" lvl="0" indent="-342900">
              <a:buAutoNum type="arabicPeriod"/>
            </a:pPr>
            <a:r>
              <a:rPr dirty="0"/>
              <a:t>Compute log ratios (M) and mean abundances (A) for all genes</a:t>
            </a:r>
          </a:p>
          <a:p>
            <a:pPr marL="342900" lvl="0" indent="-342900">
              <a:buAutoNum type="arabicPeriod"/>
            </a:pPr>
            <a:r>
              <a:rPr b="1" dirty="0"/>
              <a:t>Trim</a:t>
            </a:r>
            <a:r>
              <a:rPr dirty="0"/>
              <a:t> the extremes: drop the top/bottom 30% by M and 5% by A</a:t>
            </a:r>
          </a:p>
          <a:p>
            <a:pPr marL="342900" lvl="0" indent="-342900">
              <a:buAutoNum type="arabicPeriod"/>
            </a:pPr>
            <a:r>
              <a:rPr dirty="0"/>
              <a:t>Take a weighted mean of what remains</a:t>
            </a:r>
          </a:p>
          <a:p>
            <a:pPr marL="0" lvl="0" indent="0">
              <a:buNone/>
            </a:pPr>
            <a:r>
              <a:rPr dirty="0"/>
              <a:t>Different arithmetic, same assumption: most genes are unchanged, so trim away the ones that are not.</a:t>
            </a:r>
          </a:p>
          <a:p>
            <a:pPr marL="0" lvl="0" indent="0">
              <a:buNone/>
            </a:pPr>
            <a:r>
              <a:rPr b="1" dirty="0"/>
              <a:t>In practice, DESeq2 and </a:t>
            </a:r>
            <a:r>
              <a:rPr b="1" dirty="0" err="1"/>
              <a:t>edgeR</a:t>
            </a:r>
            <a:r>
              <a:rPr b="1" dirty="0"/>
              <a:t> </a:t>
            </a:r>
            <a:r>
              <a:rPr b="1" dirty="0" err="1"/>
              <a:t>normalisation</a:t>
            </a:r>
            <a:r>
              <a:rPr b="1" dirty="0"/>
              <a:t> agree closely.</a:t>
            </a:r>
            <a:r>
              <a:rPr dirty="0"/>
              <a:t> Choose one and use it consistently; do not mix.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the core assumption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Median-of-ratios and TMM both assume </a:t>
            </a:r>
            <a:r>
              <a:rPr b="1"/>
              <a:t>most genes do not change</a:t>
            </a:r>
            <a:r>
              <a:t>. That fails when:</a:t>
            </a:r>
          </a:p>
          <a:p>
            <a:pPr lvl="0"/>
            <a:r>
              <a:t>you compare very different tissues or species</a:t>
            </a:r>
          </a:p>
          <a:p>
            <a:pPr lvl="0"/>
            <a:r>
              <a:t>global transcriptional amplification occurs (e.g. MYC overexpression)</a:t>
            </a:r>
          </a:p>
          <a:p>
            <a:pPr lvl="0"/>
            <a:r>
              <a:t>you deplete or add a large RNA fraction</a:t>
            </a:r>
          </a:p>
          <a:p>
            <a:pPr lvl="0"/>
            <a:r>
              <a:t>most of the transcriptome genuinely shifts (some stress responses)</a:t>
            </a:r>
          </a:p>
          <a:p>
            <a:pPr marL="0" lvl="0" indent="0">
              <a:buNone/>
            </a:pPr>
            <a:r>
              <a:t>In those cases you need </a:t>
            </a:r>
            <a:r>
              <a:rPr b="1"/>
              <a:t>spike-ins</a:t>
            </a:r>
            <a:r>
              <a:t> (ERCC) or an orthogonal anchor (cell number per sample). Otherwise you cannot distinguish “everything went down” from “one thing went up”.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71721"/>
            <a:ext cx="4989094" cy="90460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600" b="0" dirty="0"/>
              <a:t>Transformations for </a:t>
            </a:r>
            <a:r>
              <a:rPr sz="2600" b="0" dirty="0" err="1"/>
              <a:t>visualisation</a:t>
            </a:r>
            <a:r>
              <a:rPr sz="2600" b="0" dirty="0"/>
              <a:t> ≠ </a:t>
            </a:r>
            <a:r>
              <a:rPr sz="2600" b="0" dirty="0" err="1"/>
              <a:t>normalisation</a:t>
            </a:r>
            <a:r>
              <a:rPr sz="2600" b="0" dirty="0"/>
              <a:t> for testing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4339388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700" b="1" dirty="0"/>
              <a:t>For testing:</a:t>
            </a:r>
            <a:r>
              <a:rPr sz="1700" dirty="0"/>
              <a:t> DESeq2/</a:t>
            </a:r>
            <a:r>
              <a:rPr sz="1700" dirty="0" err="1"/>
              <a:t>edgeR</a:t>
            </a:r>
            <a:r>
              <a:rPr sz="1700" dirty="0"/>
              <a:t> use </a:t>
            </a:r>
            <a:r>
              <a:rPr sz="1700" i="1" dirty="0"/>
              <a:t>raw counts</a:t>
            </a:r>
            <a:r>
              <a:rPr sz="1700" dirty="0"/>
              <a:t> plus size factors as offsets in the model. Never feed them transformed data.</a:t>
            </a:r>
          </a:p>
          <a:p>
            <a:pPr marL="0" lvl="0" indent="0">
              <a:buNone/>
            </a:pPr>
            <a:r>
              <a:rPr sz="1700" b="1" dirty="0"/>
              <a:t>For plotting, PCA, clustering, heatmaps:</a:t>
            </a:r>
            <a:r>
              <a:rPr sz="1700" dirty="0"/>
              <a:t> you need roughly constant variance across the expression range.</a:t>
            </a:r>
          </a:p>
          <a:p>
            <a:pPr lvl="0"/>
            <a:r>
              <a:rPr sz="1700" dirty="0">
                <a:latin typeface="Consolas"/>
              </a:rPr>
              <a:t>log2(counts + 1)</a:t>
            </a:r>
            <a:r>
              <a:rPr sz="1700" dirty="0"/>
              <a:t> — simple, but low-count genes become the noisiest</a:t>
            </a:r>
          </a:p>
          <a:p>
            <a:pPr lvl="0"/>
            <a:r>
              <a:rPr sz="1700" dirty="0" err="1">
                <a:latin typeface="Consolas"/>
              </a:rPr>
              <a:t>vst</a:t>
            </a:r>
            <a:r>
              <a:rPr sz="1700" dirty="0">
                <a:latin typeface="Consolas"/>
              </a:rPr>
              <a:t>()</a:t>
            </a:r>
            <a:r>
              <a:rPr sz="1700" dirty="0"/>
              <a:t> — variance-</a:t>
            </a:r>
            <a:r>
              <a:rPr sz="1700" dirty="0" err="1"/>
              <a:t>stabilising</a:t>
            </a:r>
            <a:r>
              <a:rPr sz="1700" dirty="0"/>
              <a:t> transformation; fast, recommended</a:t>
            </a:r>
          </a:p>
          <a:p>
            <a:pPr lvl="0"/>
            <a:r>
              <a:rPr sz="1700" dirty="0" err="1">
                <a:latin typeface="Consolas"/>
              </a:rPr>
              <a:t>rlog</a:t>
            </a:r>
            <a:r>
              <a:rPr sz="1700" dirty="0">
                <a:latin typeface="Consolas"/>
              </a:rPr>
              <a:t>()</a:t>
            </a:r>
            <a:r>
              <a:rPr sz="1700" dirty="0"/>
              <a:t> — </a:t>
            </a:r>
            <a:r>
              <a:rPr sz="1700" dirty="0" err="1"/>
              <a:t>regularised</a:t>
            </a:r>
            <a:r>
              <a:rPr sz="1700" dirty="0"/>
              <a:t> log; better for small n (&lt; 30), slower</a:t>
            </a:r>
          </a:p>
        </p:txBody>
      </p:sp>
      <p:pic>
        <p:nvPicPr>
          <p:cNvPr id="3" name="Picture 1" descr="Day2_lecture_files/figure-pptx/vstdemo-1.png"/>
          <p:cNvPicPr>
            <a:picLocks noGrp="1" noChangeAspect="1"/>
          </p:cNvPicPr>
          <p:nvPr/>
        </p:nvPicPr>
        <p:blipFill>
          <a:blip r:embed="rId2"/>
          <a:srcRect r="51138"/>
          <a:stretch>
            <a:fillRect/>
          </a:stretch>
        </p:blipFill>
        <p:spPr bwMode="auto">
          <a:xfrm>
            <a:off x="5234508" y="448056"/>
            <a:ext cx="2923656" cy="22177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5" name="Picture 1" descr="Day2_lecture_files/figure-pptx/vstdemo-1.png">
            <a:extLst>
              <a:ext uri="{FF2B5EF4-FFF2-40B4-BE49-F238E27FC236}">
                <a16:creationId xmlns:a16="http://schemas.microsoft.com/office/drawing/2014/main" id="{701DE7A7-6E0D-EA83-C3EF-602DC614B77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48955"/>
          <a:stretch>
            <a:fillRect/>
          </a:stretch>
        </p:blipFill>
        <p:spPr bwMode="auto">
          <a:xfrm>
            <a:off x="5103895" y="2754011"/>
            <a:ext cx="3054269" cy="22177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3 — The statistical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not a t-test on log counts?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dirty="0"/>
              <a:t>Counts are discrete, bounded below at zero, often small</a:t>
            </a:r>
          </a:p>
          <a:p>
            <a:pPr marL="342900" lvl="0" indent="-342900">
              <a:buAutoNum type="arabicPeriod"/>
            </a:pPr>
            <a:r>
              <a:rPr dirty="0"/>
              <a:t>Variance depends on the mean → the t-test’s assumption is violated</a:t>
            </a:r>
          </a:p>
          <a:p>
            <a:pPr marL="342900" lvl="0" indent="-342900">
              <a:buAutoNum type="arabicPeriod"/>
            </a:pPr>
            <a:r>
              <a:rPr dirty="0"/>
              <a:t>With n = 3 per group, the per-gene variance estimate has 4 degrees of freedom. It is </a:t>
            </a:r>
            <a:r>
              <a:rPr b="1" dirty="0"/>
              <a:t>wildly unstable</a:t>
            </a:r>
            <a:r>
              <a:rPr dirty="0"/>
              <a:t>: by chance some genes get a tiny variance and produce spectacular false positives</a:t>
            </a:r>
          </a:p>
          <a:p>
            <a:pPr marL="342900" lvl="0" indent="-342900">
              <a:buAutoNum type="arabicPeriod"/>
            </a:pPr>
            <a:r>
              <a:rPr dirty="0"/>
              <a:t>Log-transforming zeros is undefined</a:t>
            </a:r>
          </a:p>
          <a:p>
            <a:pPr marL="342900" lvl="0" indent="-342900">
              <a:buAutoNum type="arabicPeriod"/>
            </a:pPr>
            <a:r>
              <a:rPr dirty="0"/>
              <a:t>You are doing 20,000 tests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Poisson model, and why it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If you sequenced the </a:t>
            </a:r>
            <a:r>
              <a:rPr i="1"/>
              <a:t>same</a:t>
            </a:r>
            <a:r>
              <a:t> library twice, read sampling is well described by a Poisson process: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𝐾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m:rPr>
                      <m:nor/>
                    </m:rPr>
                    <a:rPr i="0"/>
                    <m:t>Poisson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),  </m:t>
                  </m:r>
                  <m:r>
                    <m:rPr>
                      <m:nor/>
                    </m:rPr>
                    <a:rPr i="0"/>
                    <m:t>Var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nor/>
                    </m:rPr>
                    <a:rPr i="0"/>
                    <m:t>mean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Technical replicates really do look Poisson.</a:t>
            </a:r>
          </a:p>
          <a:p>
            <a:pPr marL="0" lvl="0" indent="0">
              <a:buNone/>
            </a:pPr>
            <a:r>
              <a:t>But </a:t>
            </a:r>
            <a:r>
              <a:rPr b="1"/>
              <a:t>biological replicates are more variable than that.</a:t>
            </a:r>
            <a:r>
              <a:t> Two mice differ genuinely. Observed variance exceeds the mean — </a:t>
            </a:r>
            <a:r>
              <a:rPr b="1"/>
              <a:t>overdispersion</a:t>
            </a:r>
            <a:r>
              <a:t>. Using Poisson on biological replicates produces enormous numbers of false positives.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negative binomial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Add one parameter per gene, the </a:t>
                </a:r>
                <a:r>
                  <a:rPr b="1" dirty="0"/>
                  <a:t>dispersion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nor/>
                        </m:rPr>
                        <a:rPr i="0"/>
                        <m:t>NB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i="0"/>
                        <m:t>Var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shot noise</m:t>
                          </m:r>
                        </m:lim>
                      </m:limLow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li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</m:rPr>
                            <a:rPr i="0"/>
                            <m:t>biological variability</m:t>
                          </m:r>
                        </m:lim>
                      </m:limLow>
                    </m:oMath>
                  </m:oMathPara>
                </a14:m>
                <a:endParaRPr lang="de-DE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dirty="0"/>
                  <a:t>Interpretation: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r>
                  <a:rPr dirty="0"/>
                  <a:t> is approximately the </a:t>
                </a:r>
                <a:r>
                  <a:rPr b="1" dirty="0"/>
                  <a:t>coefficient of variation</a:t>
                </a:r>
                <a:r>
                  <a:rPr dirty="0"/>
                  <a:t> of true expression between biological replicates.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dirty="0"/>
                  <a:t> → 10% CV: a clean cell-line experiment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=0.04</m:t>
                    </m:r>
                  </m:oMath>
                </a14:m>
                <a:r>
                  <a:rPr dirty="0"/>
                  <a:t> → 20% CV: a good inbred-animal experiment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dirty="0"/>
                  <a:t> → 50% CV: typical human patient samples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685" r="-926" b="-1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generalised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each gene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𝑖</m:t>
                </m:r>
              </m:oMath>
            </a14:m>
            <a:r>
              <a:t> and sample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𝑗</m:t>
                </m:r>
              </m:oMath>
            </a14:m>
            <a:r>
              <a:t>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)=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)+</m:t>
                  </m:r>
                  <m:nary>
                    <m:naryPr>
                      <m:chr m:val="∑"/>
                      <m:limLoc m:val="undOvr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e>
                  </m:nary>
                  <m:r>
                    <a:rPr>
                      <a:latin typeface="Cambria Math" panose="02040503050406030204" pitchFamily="18" charset="0"/>
                    </a:rPr>
                    <m:t> 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𝛽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𝑖𝑘</m:t>
                      </m:r>
                    </m:sub>
                  </m:sSub>
                </m:oMath>
              </m:oMathPara>
            </a14:m>
            <a:endParaRPr/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</m:oMath>
            </a14:m>
            <a:r>
              <a:t> — the </a:t>
            </a:r>
            <a:r>
              <a:rPr b="1"/>
              <a:t>size factor</a:t>
            </a:r>
            <a:r>
              <a:t>: a fixed offset, not a fitted parameter. This is how normalisation enters the model instead of being applied to the data.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𝑗𝑘</m:t>
                    </m:r>
                  </m:sub>
                </m:sSub>
              </m:oMath>
            </a14:m>
            <a:r>
              <a:t> — the </a:t>
            </a:r>
            <a:r>
              <a:rPr b="1"/>
              <a:t>design matrix</a:t>
            </a:r>
            <a:r>
              <a:t>, from your design formula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𝑖𝑘</m:t>
                    </m:r>
                  </m:sub>
                </m:sSub>
              </m:oMath>
            </a14:m>
            <a:r>
              <a:t> — the fitted </a:t>
            </a:r>
            <a:r>
              <a:rPr b="1"/>
              <a:t>log2 fold changes</a:t>
            </a:r>
          </a:p>
          <a:p>
            <a:pPr marL="0" lvl="0" indent="0">
              <a:buNone/>
            </a:pPr>
            <a:r>
              <a:t>For </a:t>
            </a:r>
            <a:r>
              <a:rPr sz="1300">
                <a:latin typeface="Consolas"/>
              </a:rPr>
              <a:t>~ condition</a:t>
            </a:r>
            <a:r>
              <a:t> with two levels,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 is exactly the log2 fold change you report.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Dispersion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With n = 3 you cannot estimate a per-gene dispersion reliably. DESeq2 therefore </a:t>
            </a:r>
            <a:r>
              <a:rPr b="1" dirty="0"/>
              <a:t>shrinks</a:t>
            </a:r>
            <a:r>
              <a:rPr dirty="0"/>
              <a:t> gene-wise estimates towards a fitted trend:</a:t>
            </a:r>
          </a:p>
          <a:p>
            <a:pPr marL="342900" lvl="0" indent="-342900">
              <a:buAutoNum type="arabicPeriod"/>
            </a:pPr>
            <a:r>
              <a:rPr dirty="0"/>
              <a:t>Estimate a rough dispersion for each gene</a:t>
            </a:r>
            <a:endParaRPr lang="en-US" dirty="0"/>
          </a:p>
          <a:p>
            <a:pPr marL="342900" lvl="0" indent="-342900">
              <a:buAutoNum type="arabicPeriod"/>
            </a:pPr>
            <a:r>
              <a:rPr lang="en-US" dirty="0"/>
              <a:t>Fit a smooth curve: dispersion as a function of mean expression (the </a:t>
            </a:r>
            <a:r>
              <a:rPr lang="en-US" b="1" dirty="0"/>
              <a:t>trend</a:t>
            </a:r>
            <a:r>
              <a:rPr lang="en-US" dirty="0"/>
              <a:t> — genes of similar expression have similar dispersion)</a:t>
            </a:r>
          </a:p>
          <a:p>
            <a:pPr marL="342900" lvl="0" indent="-342900">
              <a:buAutoNum type="arabicPeriod"/>
            </a:pPr>
            <a:r>
              <a:rPr dirty="0"/>
              <a:t>Shrink each gene’s estimate towards the trend, by an amount depending on how much data supports it (empirical Bayes)</a:t>
            </a:r>
          </a:p>
          <a:p>
            <a:pPr marL="342900" lvl="0" indent="-342900">
              <a:buAutoNum type="arabicPeriod"/>
            </a:pPr>
            <a:r>
              <a:rPr dirty="0"/>
              <a:t>Genes far above the trend are treated as outliers and </a:t>
            </a:r>
            <a:r>
              <a:rPr b="1" dirty="0"/>
              <a:t>not</a:t>
            </a:r>
            <a:r>
              <a:rPr dirty="0"/>
              <a:t> shrunk — protecting you from missing genuinely erratic genes</a:t>
            </a:r>
          </a:p>
          <a:p>
            <a:pPr marL="0" lvl="0" indent="0">
              <a:buNone/>
            </a:pPr>
            <a:r>
              <a:rPr dirty="0"/>
              <a:t>This borrowing of information across ~20,000 genes is what makes n = 3 workable at all.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dispersion plot</a:t>
            </a:r>
          </a:p>
        </p:txBody>
      </p:sp>
      <p:pic>
        <p:nvPicPr>
          <p:cNvPr id="3" name="Picture 1" descr="Day2_lecture_files/figure-pptx/dispplo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1257" y="866608"/>
            <a:ext cx="6281486" cy="34102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EC8966-72D1-6F0F-D8B1-10FDC4D3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35988"/>
            <a:ext cx="8229600" cy="1037723"/>
          </a:xfrm>
        </p:spPr>
        <p:txBody>
          <a:bodyPr/>
          <a:lstStyle/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Look at this plot every time.</a:t>
            </a:r>
            <a:r>
              <a:rPr dirty="0"/>
              <a:t> A cloud around a decreasing red trend = healthy. No trend, or a trend that rises, means something is wrong with the design or the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Hypothesis testing: Wald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a single coefficient, test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: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𝛽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𝑖𝑘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=0</m:t>
                </m:r>
              </m:oMath>
            </a14:m>
            <a:r>
              <a:t>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𝑧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</m:num>
                    <m:den>
                      <m:r>
                        <m:rPr>
                          <m:nor/>
                        </m:rPr>
                        <a:rPr i="0"/>
                        <m:t>SE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</m:oMath>
              </m:oMathPara>
            </a14:m>
            <a:endParaRPr/>
          </a:p>
          <a:p>
            <a:pPr marL="0" lvl="0" indent="0">
              <a:buNone/>
            </a:pPr>
            <a:r>
              <a:t>compared to a standard normal. This is what </a:t>
            </a:r>
            <a:r>
              <a:rPr sz="1300">
                <a:latin typeface="Consolas"/>
              </a:rPr>
              <a:t>results()</a:t>
            </a:r>
            <a:r>
              <a:t> returns by default.</a:t>
            </a:r>
          </a:p>
          <a:p>
            <a:pPr marL="0" lvl="0" indent="0">
              <a:buNone/>
            </a:pPr>
            <a:r>
              <a:t>Use for: </a:t>
            </a:r>
            <a:r>
              <a:rPr b="1"/>
              <a:t>one specific contrast</a:t>
            </a:r>
            <a:r>
              <a:t> — treated vs control, mutant vs wild-type, a single coefficient in a larger model.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Hypothesis testing: likelihood-ratio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Compare a full model to a reduced model: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dds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DESeq</a:t>
            </a:r>
            <a:r>
              <a:rPr sz="1300">
                <a:latin typeface="Consolas"/>
              </a:rPr>
              <a:t>(dds, </a:t>
            </a:r>
            <a:r>
              <a:rPr>
                <a:solidFill>
                  <a:srgbClr val="7D9029"/>
                </a:solidFill>
                <a:latin typeface="Consolas"/>
              </a:rPr>
              <a:t>test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"LRT"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7D9029"/>
                </a:solidFill>
                <a:latin typeface="Consolas"/>
              </a:rPr>
              <a:t>reduced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~</a:t>
            </a:r>
            <a:r>
              <a:rPr sz="1300">
                <a:latin typeface="Consolas"/>
              </a:rPr>
              <a:t> batch)</a:t>
            </a:r>
          </a:p>
          <a:p>
            <a:pPr marL="0" lvl="0" indent="0">
              <a:buNone/>
            </a:pPr>
            <a:r>
              <a:t>with </a:t>
            </a:r>
            <a:r>
              <a:rPr sz="1300">
                <a:latin typeface="Consolas"/>
              </a:rPr>
              <a:t>design = ~ batch + timepoint</a:t>
            </a:r>
            <a:r>
              <a:t>, this asks: </a:t>
            </a:r>
            <a:r>
              <a:rPr i="1"/>
              <a:t>does timepoint explain anything at all, over and above batch?</a:t>
            </a:r>
          </a:p>
          <a:p>
            <a:pPr marL="0" lvl="0" indent="0">
              <a:buNone/>
            </a:pPr>
            <a:r>
              <a:t>Use for: </a:t>
            </a:r>
            <a:r>
              <a:rPr b="1"/>
              <a:t>a factor with more than two levels</a:t>
            </a:r>
            <a:r>
              <a:t>, time courses, or “is this variable relevant in any way” questions. One p-value for the whole factor, instead of one per pairwise contrast.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log2 fold change shrinkage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 gene with 3 counts in one group and 12 in the other has a log2FC of +2 — and essentially no evidence. Raw fold changes for low-count genes are noisy and dominate any ranking by effect size.</a:t>
            </a:r>
          </a:p>
          <a:p>
            <a:pPr lvl="0" indent="0">
              <a:buNone/>
            </a:pPr>
            <a:r>
              <a:rPr sz="1300" dirty="0">
                <a:latin typeface="Consolas"/>
              </a:rPr>
              <a:t>res </a:t>
            </a:r>
            <a:r>
              <a:rPr dirty="0">
                <a:solidFill>
                  <a:srgbClr val="007020"/>
                </a:solidFill>
                <a:latin typeface="Consolas"/>
              </a:rPr>
              <a:t>&lt;-</a:t>
            </a:r>
            <a:r>
              <a:rPr sz="1300" dirty="0">
                <a:latin typeface="Consolas"/>
              </a:rPr>
              <a:t> </a:t>
            </a:r>
            <a:r>
              <a:rPr dirty="0" err="1">
                <a:solidFill>
                  <a:srgbClr val="06287E"/>
                </a:solidFill>
                <a:latin typeface="Consolas"/>
              </a:rPr>
              <a:t>lfcShrink</a:t>
            </a:r>
            <a:r>
              <a:rPr sz="1300" dirty="0">
                <a:latin typeface="Consolas"/>
              </a:rPr>
              <a:t>(</a:t>
            </a:r>
            <a:r>
              <a:rPr sz="1300" dirty="0" err="1">
                <a:latin typeface="Consolas"/>
              </a:rPr>
              <a:t>dds</a:t>
            </a:r>
            <a:r>
              <a:rPr sz="1300" dirty="0">
                <a:latin typeface="Consolas"/>
              </a:rPr>
              <a:t>, </a:t>
            </a:r>
            <a:r>
              <a:rPr dirty="0" err="1">
                <a:solidFill>
                  <a:srgbClr val="7D9029"/>
                </a:solidFill>
                <a:latin typeface="Consolas"/>
              </a:rPr>
              <a:t>coef</a:t>
            </a:r>
            <a:r>
              <a:rPr dirty="0">
                <a:solidFill>
                  <a:srgbClr val="7D9029"/>
                </a:solidFill>
                <a:latin typeface="Consolas"/>
              </a:rPr>
              <a:t> =</a:t>
            </a:r>
            <a:r>
              <a:rPr sz="1300" dirty="0">
                <a:latin typeface="Consolas"/>
              </a:rPr>
              <a:t> </a:t>
            </a:r>
            <a:r>
              <a:rPr dirty="0">
                <a:solidFill>
                  <a:srgbClr val="4070A0"/>
                </a:solidFill>
                <a:latin typeface="Consolas"/>
              </a:rPr>
              <a:t>"</a:t>
            </a:r>
            <a:r>
              <a:rPr dirty="0" err="1">
                <a:solidFill>
                  <a:srgbClr val="4070A0"/>
                </a:solidFill>
                <a:latin typeface="Consolas"/>
              </a:rPr>
              <a:t>condition_treated_vs_untreated</a:t>
            </a:r>
            <a:r>
              <a:rPr dirty="0">
                <a:solidFill>
                  <a:srgbClr val="4070A0"/>
                </a:solidFill>
                <a:latin typeface="Consolas"/>
              </a:rPr>
              <a:t>"</a:t>
            </a:r>
            <a:r>
              <a:rPr sz="1300" dirty="0">
                <a:latin typeface="Consolas"/>
              </a:rPr>
              <a:t>,</a:t>
            </a:r>
            <a:br>
              <a:rPr dirty="0"/>
            </a:br>
            <a:r>
              <a:rPr sz="1300" dirty="0">
                <a:latin typeface="Consolas"/>
              </a:rPr>
              <a:t>                 </a:t>
            </a:r>
            <a:r>
              <a:rPr dirty="0">
                <a:solidFill>
                  <a:srgbClr val="7D9029"/>
                </a:solidFill>
                <a:latin typeface="Consolas"/>
              </a:rPr>
              <a:t>type =</a:t>
            </a:r>
            <a:r>
              <a:rPr sz="1300" dirty="0">
                <a:latin typeface="Consolas"/>
              </a:rPr>
              <a:t> </a:t>
            </a:r>
            <a:r>
              <a:rPr dirty="0">
                <a:solidFill>
                  <a:srgbClr val="4070A0"/>
                </a:solidFill>
                <a:latin typeface="Consolas"/>
              </a:rPr>
              <a:t>"</a:t>
            </a:r>
            <a:r>
              <a:rPr dirty="0" err="1">
                <a:solidFill>
                  <a:srgbClr val="4070A0"/>
                </a:solidFill>
                <a:latin typeface="Consolas"/>
              </a:rPr>
              <a:t>apeglm</a:t>
            </a:r>
            <a:r>
              <a:rPr dirty="0">
                <a:solidFill>
                  <a:srgbClr val="4070A0"/>
                </a:solidFill>
                <a:latin typeface="Consolas"/>
              </a:rPr>
              <a:t>"</a:t>
            </a:r>
            <a:r>
              <a:rPr sz="1300" dirty="0">
                <a:latin typeface="Consolas"/>
              </a:rPr>
              <a:t>)</a:t>
            </a:r>
          </a:p>
          <a:p>
            <a:pPr marL="0" lvl="0" indent="0">
              <a:buNone/>
            </a:pPr>
            <a:r>
              <a:rPr dirty="0"/>
              <a:t>Shrinks low-information fold changes towards zero while leaving well-measured ones alone. </a:t>
            </a:r>
            <a:r>
              <a:rPr b="1" dirty="0"/>
              <a:t>p-values are unchanged</a:t>
            </a:r>
            <a:r>
              <a:rPr dirty="0"/>
              <a:t> — only the estimates and their intervals.</a:t>
            </a:r>
          </a:p>
          <a:p>
            <a:pPr marL="0" lvl="0" indent="0">
              <a:buNone/>
            </a:pPr>
            <a:r>
              <a:rPr dirty="0"/>
              <a:t>Use shrunken LFCs for: ranking genes, volcano plots, heatmap ordering</a:t>
            </a:r>
            <a:r>
              <a:rPr lang="de-DE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Shrinkage, illustrated</a:t>
            </a:r>
          </a:p>
        </p:txBody>
      </p:sp>
      <p:pic>
        <p:nvPicPr>
          <p:cNvPr id="3" name="Picture 1" descr="Day2_lecture_files/figure-pptx/shrink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914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016CE76-AC38-5A36-2549-0904A006668E}"/>
              </a:ext>
            </a:extLst>
          </p:cNvPr>
          <p:cNvSpPr/>
          <p:nvPr/>
        </p:nvSpPr>
        <p:spPr>
          <a:xfrm>
            <a:off x="1957137" y="1796716"/>
            <a:ext cx="192505" cy="192505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694AF-D9F1-C37A-47DB-DB44C99EB4CF}"/>
              </a:ext>
            </a:extLst>
          </p:cNvPr>
          <p:cNvSpPr txBox="1"/>
          <p:nvPr/>
        </p:nvSpPr>
        <p:spPr>
          <a:xfrm>
            <a:off x="128016" y="1063229"/>
            <a:ext cx="10963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Exp= ~0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but</a:t>
            </a:r>
          </a:p>
          <a:p>
            <a:pPr algn="ctr"/>
            <a:r>
              <a:rPr lang="en-US" dirty="0" err="1">
                <a:solidFill>
                  <a:srgbClr val="FF0000"/>
                </a:solidFill>
              </a:rPr>
              <a:t>logFC</a:t>
            </a:r>
            <a:r>
              <a:rPr lang="en-US" dirty="0">
                <a:solidFill>
                  <a:srgbClr val="FF0000"/>
                </a:solidFill>
              </a:rPr>
              <a:t>= ~6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D5C5-128B-8BA0-18B7-2330FE19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0565-BBE7-545C-BFFC-808D1FA1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Shrinkage, illustrated</a:t>
            </a:r>
          </a:p>
        </p:txBody>
      </p:sp>
      <p:pic>
        <p:nvPicPr>
          <p:cNvPr id="3" name="Picture 1" descr="Day2_lecture_files/figure-pptx/shrink-1.png">
            <a:extLst>
              <a:ext uri="{FF2B5EF4-FFF2-40B4-BE49-F238E27FC236}">
                <a16:creationId xmlns:a16="http://schemas.microsoft.com/office/drawing/2014/main" id="{E2A79D5B-3678-D355-8DFD-E8F050468F3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914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A6FC8766-B047-2CF4-27AD-411FBD04A95F}"/>
              </a:ext>
            </a:extLst>
          </p:cNvPr>
          <p:cNvSpPr/>
          <p:nvPr/>
        </p:nvSpPr>
        <p:spPr>
          <a:xfrm rot="10800000">
            <a:off x="2157984" y="837946"/>
            <a:ext cx="7168896" cy="1576070"/>
          </a:xfrm>
          <a:prstGeom prst="arc">
            <a:avLst>
              <a:gd name="adj1" fmla="val 16485819"/>
              <a:gd name="adj2" fmla="val 0"/>
            </a:avLst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DF108F12-9B11-CBC4-FBC5-AAB423A2C46A}"/>
              </a:ext>
            </a:extLst>
          </p:cNvPr>
          <p:cNvSpPr/>
          <p:nvPr/>
        </p:nvSpPr>
        <p:spPr>
          <a:xfrm rot="10800000" flipV="1">
            <a:off x="2157984" y="3214878"/>
            <a:ext cx="7168896" cy="1469644"/>
          </a:xfrm>
          <a:prstGeom prst="arc">
            <a:avLst>
              <a:gd name="adj1" fmla="val 16485819"/>
              <a:gd name="adj2" fmla="val 0"/>
            </a:avLst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DFAD58-5F83-F898-B580-45BEE59C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81627"/>
            <a:ext cx="7552944" cy="493776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dirty="0"/>
              <a:t>The noisy fan at low expression collapses; high-expression estimates are untouched.</a:t>
            </a:r>
          </a:p>
        </p:txBody>
      </p:sp>
    </p:spTree>
    <p:extLst>
      <p:ext uri="{BB962C8B-B14F-4D97-AF65-F5344CB8AC3E}">
        <p14:creationId xmlns:p14="http://schemas.microsoft.com/office/powerpoint/2010/main" val="100267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Multiple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20,000 tests at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𝛼</m:t>
                </m:r>
                <m:r>
                  <a:rPr>
                    <a:latin typeface="Cambria Math" panose="02040503050406030204" pitchFamily="18" charset="0"/>
                  </a:rPr>
                  <m:t>=0.05</m:t>
                </m:r>
              </m:oMath>
            </a14:m>
            <a:r>
              <a:t> → </a:t>
            </a:r>
            <a:r>
              <a:rPr b="1"/>
              <a:t>1,000 false positives expected</a:t>
            </a:r>
            <a:r>
              <a:t> even if nothing is differentially expressed.</a:t>
            </a:r>
          </a:p>
          <a:p>
            <a:pPr marL="0" lvl="0" indent="0">
              <a:buNone/>
            </a:pPr>
            <a:r>
              <a:rPr b="1"/>
              <a:t>Bonferroni</a:t>
            </a:r>
            <a:r>
              <a:t>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×</m:t>
                </m:r>
                <m:r>
                  <a:rPr>
                    <a:latin typeface="Cambria Math" panose="02040503050406030204" pitchFamily="18" charset="0"/>
                  </a:rPr>
                  <m:t>𝑚</m:t>
                </m:r>
              </m:oMath>
            </a14:m>
            <a:r>
              <a:t>. Controls the probability of </a:t>
            </a:r>
            <a:r>
              <a:rPr i="1"/>
              <a:t>any</a:t>
            </a:r>
            <a:r>
              <a:t> false positive. Far too conservative here — you would find almost nothing.</a:t>
            </a:r>
          </a:p>
          <a:p>
            <a:pPr marL="0" lvl="0" indent="0">
              <a:buNone/>
            </a:pPr>
            <a:r>
              <a:rPr b="1"/>
              <a:t>Benjamini–Hochberg (FDR)</a:t>
            </a:r>
            <a:r>
              <a:t>: controls the </a:t>
            </a:r>
            <a:r>
              <a:rPr i="1"/>
              <a:t>expected proportion of false positives among the genes you call significant.</a:t>
            </a:r>
          </a:p>
          <a:p>
            <a:pPr marL="0" lvl="0" indent="0">
              <a:buNone/>
            </a:pPr>
            <a:r>
              <a:t>“padj &lt; 0.05, 400 genes” means: of those 400, about 20 are expected to be false. That is the right trade-off for a discovery experiment whose hits you will follow up.</a:t>
            </a:r>
          </a:p>
          <a:p>
            <a:pPr marL="0" lvl="0" indent="0">
              <a:buNone/>
            </a:pPr>
            <a:r>
              <a:rPr b="1"/>
              <a:t>Report </a:t>
            </a:r>
            <a:r>
              <a:rPr b="1">
                <a:latin typeface="Consolas"/>
              </a:rPr>
              <a:t>padj</a:t>
            </a:r>
            <a:r>
              <a:rPr b="1"/>
              <a:t>. Never </a:t>
            </a:r>
            <a:r>
              <a:rPr b="1">
                <a:latin typeface="Consolas"/>
              </a:rPr>
              <a:t>pvalue</a:t>
            </a:r>
            <a:r>
              <a:rPr b="1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p-value histogram — your best diagnostic</a:t>
            </a:r>
          </a:p>
        </p:txBody>
      </p:sp>
      <p:pic>
        <p:nvPicPr>
          <p:cNvPr id="3" name="Picture 1" descr="Day2_lecture_files/figure-pptx/phis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8229600" cy="353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Flat + spike near 0 = good. Flat = no signal (which can be the correct answer). </a:t>
            </a:r>
            <a:r>
              <a:rPr b="1"/>
              <a:t>Hill at the right, or a U shape = your model is wrong</a:t>
            </a:r>
            <a:r>
              <a:t> (usually an unmodelled batch, or a wrong reference level).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NA values in the results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DESeq2 returns </a:t>
            </a:r>
            <a:r>
              <a:rPr sz="1300">
                <a:latin typeface="Consolas"/>
              </a:rPr>
              <a:t>NA</a:t>
            </a:r>
            <a:r>
              <a:t> deliberately, in three situations:</a:t>
            </a:r>
          </a:p>
          <a:p>
            <a:pPr lvl="0"/>
            <a:r>
              <a:rPr b="1"/>
              <a:t>all three columns NA</a:t>
            </a:r>
            <a:r>
              <a:t> — the gene had zero counts everywhere</a:t>
            </a:r>
          </a:p>
          <a:p>
            <a:pPr lvl="0"/>
            <a:r>
              <a:rPr b="1">
                <a:latin typeface="Consolas"/>
              </a:rPr>
              <a:t>pvalue</a:t>
            </a:r>
            <a:r>
              <a:rPr b="1"/>
              <a:t> and </a:t>
            </a:r>
            <a:r>
              <a:rPr b="1">
                <a:latin typeface="Consolas"/>
              </a:rPr>
              <a:t>padj</a:t>
            </a:r>
            <a:r>
              <a:rPr b="1"/>
              <a:t> NA</a:t>
            </a:r>
            <a:r>
              <a:t> — a count outlier was detected (Cook’s distance) in a design with replicates</a:t>
            </a:r>
          </a:p>
          <a:p>
            <a:pPr lvl="0"/>
            <a:r>
              <a:rPr b="1">
                <a:latin typeface="Consolas"/>
              </a:rPr>
              <a:t>padj</a:t>
            </a:r>
            <a:r>
              <a:rPr b="1"/>
              <a:t> only NA</a:t>
            </a:r>
            <a:r>
              <a:t> — the gene was removed by </a:t>
            </a:r>
            <a:r>
              <a:rPr i="1"/>
              <a:t>independent filtering</a:t>
            </a:r>
            <a:r>
              <a:t>: its mean expression was too low for the test to have useful power, so excluding it increases the number of discoveries overall</a:t>
            </a:r>
          </a:p>
          <a:p>
            <a:pPr marL="0" lvl="0" indent="0">
              <a:buNone/>
            </a:pPr>
            <a:r>
              <a:rPr sz="1300">
                <a:latin typeface="Consolas"/>
              </a:rPr>
              <a:t>NA</a:t>
            </a:r>
            <a:r>
              <a:t> in </a:t>
            </a:r>
            <a:r>
              <a:rPr sz="1300">
                <a:latin typeface="Consolas"/>
              </a:rPr>
              <a:t>padj</a:t>
            </a:r>
            <a:r>
              <a:t> is </a:t>
            </a:r>
            <a:r>
              <a:rPr b="1"/>
              <a:t>not</a:t>
            </a:r>
            <a:r>
              <a:t> “missing data”. Do not impute it, do not </a:t>
            </a:r>
            <a:r>
              <a:rPr sz="1300">
                <a:latin typeface="Consolas"/>
              </a:rPr>
              <a:t>na.omit()</a:t>
            </a:r>
            <a:r>
              <a:t> before counting your hits without understanding why.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4 — Design formulae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Reading a design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nsolas"/>
              </a:rPr>
              <a:t>~</a:t>
            </a:r>
            <a:r>
              <a:rPr sz="1300">
                <a:latin typeface="Consolas"/>
              </a:rPr>
              <a:t> condition           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one factor</a:t>
            </a:r>
            <a:br/>
            <a:r>
              <a:rPr>
                <a:solidFill>
                  <a:srgbClr val="4070A0"/>
                </a:solidFill>
                <a:latin typeface="Consolas"/>
              </a:rPr>
              <a:t>~</a:t>
            </a:r>
            <a:r>
              <a:rPr sz="1300">
                <a:latin typeface="Consolas"/>
              </a:rPr>
              <a:t> batch </a:t>
            </a:r>
            <a:r>
              <a:rPr>
                <a:solidFill>
                  <a:srgbClr val="4070A0"/>
                </a:solidFill>
                <a:latin typeface="Consolas"/>
              </a:rPr>
              <a:t>+</a:t>
            </a:r>
            <a:r>
              <a:rPr sz="1300">
                <a:latin typeface="Consolas"/>
              </a:rPr>
              <a:t> condition   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condition, controlling for batch</a:t>
            </a:r>
            <a:br/>
            <a:r>
              <a:rPr>
                <a:solidFill>
                  <a:srgbClr val="4070A0"/>
                </a:solidFill>
                <a:latin typeface="Consolas"/>
              </a:rPr>
              <a:t>~</a:t>
            </a:r>
            <a:r>
              <a:rPr sz="1300">
                <a:latin typeface="Consolas"/>
              </a:rPr>
              <a:t> genotype </a:t>
            </a:r>
            <a:r>
              <a:rPr>
                <a:solidFill>
                  <a:srgbClr val="4070A0"/>
                </a:solidFill>
                <a:latin typeface="Consolas"/>
              </a:rPr>
              <a:t>+</a:t>
            </a:r>
            <a:r>
              <a:rPr sz="1300">
                <a:latin typeface="Consolas"/>
              </a:rPr>
              <a:t> treatment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main effects only, additive</a:t>
            </a:r>
            <a:br/>
            <a:r>
              <a:rPr>
                <a:solidFill>
                  <a:srgbClr val="4070A0"/>
                </a:solidFill>
                <a:latin typeface="Consolas"/>
              </a:rPr>
              <a:t>~</a:t>
            </a:r>
            <a:r>
              <a:rPr sz="1300">
                <a:latin typeface="Consolas"/>
              </a:rPr>
              <a:t> genotype </a:t>
            </a:r>
            <a:r>
              <a:rPr>
                <a:solidFill>
                  <a:srgbClr val="4070A0"/>
                </a:solidFill>
                <a:latin typeface="Consolas"/>
              </a:rPr>
              <a:t>*</a:t>
            </a:r>
            <a:r>
              <a:rPr sz="1300">
                <a:latin typeface="Consolas"/>
              </a:rPr>
              <a:t> treatment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= genotype + treatment + genotype:treatment</a:t>
            </a:r>
            <a:br/>
            <a:r>
              <a:rPr>
                <a:solidFill>
                  <a:srgbClr val="4070A0"/>
                </a:solidFill>
                <a:latin typeface="Consolas"/>
              </a:rPr>
              <a:t>~</a:t>
            </a:r>
            <a:r>
              <a:rPr sz="1300">
                <a:latin typeface="Consolas"/>
              </a:rPr>
              <a:t> patient </a:t>
            </a:r>
            <a:r>
              <a:rPr>
                <a:solidFill>
                  <a:srgbClr val="4070A0"/>
                </a:solidFill>
                <a:latin typeface="Consolas"/>
              </a:rPr>
              <a:t>+</a:t>
            </a:r>
            <a:r>
              <a:rPr sz="1300">
                <a:latin typeface="Consolas"/>
              </a:rPr>
              <a:t> treatment 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paired design</a:t>
            </a:r>
          </a:p>
          <a:p>
            <a:pPr marL="0" lvl="0" indent="0">
              <a:buNone/>
            </a:pPr>
            <a:r>
              <a:t>Rules:</a:t>
            </a:r>
          </a:p>
          <a:p>
            <a:pPr lvl="0"/>
            <a:r>
              <a:t>the </a:t>
            </a:r>
            <a:r>
              <a:rPr b="1"/>
              <a:t>last</a:t>
            </a:r>
            <a:r>
              <a:t> term is what </a:t>
            </a:r>
            <a:r>
              <a:rPr sz="1300">
                <a:latin typeface="Consolas"/>
              </a:rPr>
              <a:t>results()</a:t>
            </a:r>
            <a:r>
              <a:t> reports by default</a:t>
            </a:r>
          </a:p>
          <a:p>
            <a:pPr lvl="0"/>
            <a:r>
              <a:t>terms before it are </a:t>
            </a:r>
            <a:r>
              <a:rPr b="1"/>
              <a:t>covariates you adjust for</a:t>
            </a:r>
          </a:p>
          <a:p>
            <a:pPr lvl="0"/>
            <a:r>
              <a:rPr sz="1300">
                <a:latin typeface="Consolas"/>
              </a:rPr>
              <a:t>:</a:t>
            </a:r>
            <a:r>
              <a:t> is an interaction; </a:t>
            </a:r>
            <a:r>
              <a:rPr sz="1300">
                <a:latin typeface="Consolas"/>
              </a:rPr>
              <a:t>*</a:t>
            </a:r>
            <a:r>
              <a:t> expands to main effects plus interaction</a:t>
            </a:r>
          </a:p>
          <a:p>
            <a:pPr lvl="0"/>
            <a:r>
              <a:t>the </a:t>
            </a:r>
            <a:r>
              <a:rPr b="1"/>
              <a:t>first level of a factor is the reference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Setting the reference level — do this every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>
                <a:latin typeface="Consolas"/>
              </a:rPr>
              <a:t>dds</a:t>
            </a:r>
            <a:r>
              <a:rPr>
                <a:solidFill>
                  <a:srgbClr val="4070A0"/>
                </a:solidFill>
                <a:latin typeface="Consolas"/>
              </a:rPr>
              <a:t>$</a:t>
            </a:r>
            <a:r>
              <a:rPr sz="1300">
                <a:latin typeface="Consolas"/>
              </a:rPr>
              <a:t>condition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relevel</a:t>
            </a:r>
            <a:r>
              <a:rPr sz="1300">
                <a:latin typeface="Consolas"/>
              </a:rPr>
              <a:t>(dds</a:t>
            </a:r>
            <a:r>
              <a:rPr>
                <a:solidFill>
                  <a:srgbClr val="4070A0"/>
                </a:solidFill>
                <a:latin typeface="Consolas"/>
              </a:rPr>
              <a:t>$</a:t>
            </a:r>
            <a:r>
              <a:rPr sz="1300">
                <a:latin typeface="Consolas"/>
              </a:rPr>
              <a:t>condition, </a:t>
            </a:r>
            <a:r>
              <a:rPr>
                <a:solidFill>
                  <a:srgbClr val="7D9029"/>
                </a:solidFill>
                <a:latin typeface="Consolas"/>
              </a:rPr>
              <a:t>ref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"untreated"</a:t>
            </a:r>
            <a:r>
              <a:rPr sz="1300">
                <a:latin typeface="Consolas"/>
              </a:rPr>
              <a:t>)</a:t>
            </a:r>
          </a:p>
          <a:p>
            <a:pPr marL="0" lvl="0" indent="0">
              <a:buNone/>
            </a:pPr>
            <a:r>
              <a:t>If you forget, R orders levels alphabetically and your fold changes may be inverted relative to how you describe them in the text. This is a silent error: nothing fails, the sign is just wrong.</a:t>
            </a:r>
          </a:p>
          <a:p>
            <a:pPr marL="0" lvl="0" indent="0">
              <a:buNone/>
            </a:pPr>
            <a:r>
              <a:t>Check before you interpret: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nsolas"/>
              </a:rPr>
              <a:t>levels</a:t>
            </a:r>
            <a:r>
              <a:rPr sz="1300">
                <a:latin typeface="Consolas"/>
              </a:rPr>
              <a:t>(dds</a:t>
            </a:r>
            <a:r>
              <a:rPr>
                <a:solidFill>
                  <a:srgbClr val="4070A0"/>
                </a:solidFill>
                <a:latin typeface="Consolas"/>
              </a:rPr>
              <a:t>$</a:t>
            </a:r>
            <a:r>
              <a:rPr sz="1300">
                <a:latin typeface="Consolas"/>
              </a:rPr>
              <a:t>condition)</a:t>
            </a:r>
            <a:br/>
            <a:r>
              <a:rPr>
                <a:solidFill>
                  <a:srgbClr val="06287E"/>
                </a:solidFill>
                <a:latin typeface="Consolas"/>
              </a:rPr>
              <a:t>resultsNames</a:t>
            </a:r>
            <a:r>
              <a:rPr sz="1300">
                <a:latin typeface="Consolas"/>
              </a:rPr>
              <a:t>(dds)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Paired and blocked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Paired samples (same patient before/after, littermates, batches of cells) are </a:t>
            </a:r>
            <a:r>
              <a:rPr b="1"/>
              <a:t>more powerful</a:t>
            </a:r>
            <a:r>
              <a:t> if you model the pairing: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nsolas"/>
              </a:rPr>
              <a:t>design</a:t>
            </a:r>
            <a:r>
              <a:rPr sz="1300">
                <a:latin typeface="Consolas"/>
              </a:rPr>
              <a:t>(dds)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 b="1">
                <a:solidFill>
                  <a:srgbClr val="FF0000"/>
                </a:solidFill>
                <a:latin typeface="Consolas"/>
              </a:rPr>
              <a:t>~</a:t>
            </a:r>
            <a:r>
              <a:rPr sz="1300">
                <a:latin typeface="Consolas"/>
              </a:rPr>
              <a:t> patient </a:t>
            </a:r>
            <a:r>
              <a:rPr>
                <a:solidFill>
                  <a:srgbClr val="4070A0"/>
                </a:solidFill>
                <a:latin typeface="Consolas"/>
              </a:rPr>
              <a:t>+</a:t>
            </a:r>
            <a:r>
              <a:rPr sz="1300">
                <a:latin typeface="Consolas"/>
              </a:rPr>
              <a:t> treatment</a:t>
            </a:r>
          </a:p>
          <a:p>
            <a:pPr marL="0" lvl="0" indent="0">
              <a:buNone/>
            </a:pPr>
            <a:r>
              <a:t>Each patient gets their own intercept, so between-patient variation is absorbed rather than inflating the residual. This is the regression equivalent of a paired t-test.</a:t>
            </a:r>
          </a:p>
          <a:p>
            <a:pPr marL="0" lvl="0" indent="0">
              <a:buNone/>
            </a:pPr>
            <a:r>
              <a:t>Caveat: </a:t>
            </a:r>
            <a:r>
              <a:rPr sz="1300">
                <a:latin typeface="Consolas"/>
              </a:rPr>
              <a:t>patient</a:t>
            </a:r>
            <a:r>
              <a:t> costs one parameter per patient. With n = 3 pairs the design is already tight; you cannot also add three other covariates.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Interactions — the question they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dirty="0">
                <a:solidFill>
                  <a:srgbClr val="06287E"/>
                </a:solidFill>
                <a:latin typeface="Consolas"/>
              </a:rPr>
              <a:t>design</a:t>
            </a:r>
            <a:r>
              <a:rPr sz="1300" dirty="0">
                <a:latin typeface="Consolas"/>
              </a:rPr>
              <a:t>(</a:t>
            </a:r>
            <a:r>
              <a:rPr sz="1300" dirty="0" err="1">
                <a:latin typeface="Consolas"/>
              </a:rPr>
              <a:t>dds</a:t>
            </a:r>
            <a:r>
              <a:rPr sz="1300" dirty="0">
                <a:latin typeface="Consolas"/>
              </a:rPr>
              <a:t>) </a:t>
            </a:r>
            <a:r>
              <a:rPr dirty="0">
                <a:solidFill>
                  <a:srgbClr val="007020"/>
                </a:solidFill>
                <a:latin typeface="Consolas"/>
              </a:rPr>
              <a:t>&lt;-</a:t>
            </a:r>
            <a:r>
              <a:rPr sz="1300" dirty="0">
                <a:latin typeface="Consolas"/>
              </a:rPr>
              <a:t> </a:t>
            </a:r>
            <a:r>
              <a:rPr b="1" dirty="0">
                <a:solidFill>
                  <a:srgbClr val="FF0000"/>
                </a:solidFill>
                <a:latin typeface="Consolas"/>
              </a:rPr>
              <a:t>~</a:t>
            </a:r>
            <a:r>
              <a:rPr sz="1300" dirty="0">
                <a:latin typeface="Consolas"/>
              </a:rPr>
              <a:t> genotype </a:t>
            </a:r>
            <a:r>
              <a:rPr dirty="0">
                <a:solidFill>
                  <a:srgbClr val="4070A0"/>
                </a:solidFill>
                <a:latin typeface="Consolas"/>
              </a:rPr>
              <a:t>+</a:t>
            </a:r>
            <a:r>
              <a:rPr sz="1300" dirty="0">
                <a:latin typeface="Consolas"/>
              </a:rPr>
              <a:t> treatment </a:t>
            </a:r>
            <a:r>
              <a:rPr dirty="0">
                <a:solidFill>
                  <a:srgbClr val="4070A0"/>
                </a:solidFill>
                <a:latin typeface="Consolas"/>
              </a:rPr>
              <a:t>+</a:t>
            </a:r>
            <a:r>
              <a:rPr sz="1300" dirty="0">
                <a:latin typeface="Consolas"/>
              </a:rPr>
              <a:t> </a:t>
            </a:r>
            <a:r>
              <a:rPr sz="1300" dirty="0" err="1">
                <a:latin typeface="Consolas"/>
              </a:rPr>
              <a:t>genotype</a:t>
            </a:r>
            <a:r>
              <a:rPr dirty="0" err="1">
                <a:solidFill>
                  <a:srgbClr val="4070A0"/>
                </a:solidFill>
                <a:latin typeface="Consolas"/>
              </a:rPr>
              <a:t>:</a:t>
            </a:r>
            <a:r>
              <a:rPr sz="1300" dirty="0" err="1">
                <a:latin typeface="Consolas"/>
              </a:rPr>
              <a:t>treatment</a:t>
            </a:r>
            <a:endParaRPr sz="1300" dirty="0">
              <a:latin typeface="Consolas"/>
            </a:endParaRPr>
          </a:p>
          <a:p>
            <a:pPr marL="0" lvl="0" indent="0">
              <a:buNone/>
            </a:pPr>
            <a:r>
              <a:rPr dirty="0"/>
              <a:t>The interaction term does </a:t>
            </a:r>
            <a:r>
              <a:rPr b="1" dirty="0"/>
              <a:t>not</a:t>
            </a:r>
            <a:r>
              <a:rPr dirty="0"/>
              <a:t> ask “is the gene affected by treatment”. It asks:</a:t>
            </a:r>
          </a:p>
          <a:p>
            <a:pPr marL="1270000" lvl="0" indent="0">
              <a:buNone/>
            </a:pPr>
            <a:r>
              <a:rPr sz="2000" b="1" dirty="0"/>
              <a:t>Is the treatment effect different in the mutant than in the wild type?</a:t>
            </a:r>
          </a:p>
          <a:p>
            <a:pPr marL="0" lvl="0" indent="0">
              <a:buNone/>
            </a:pPr>
            <a:r>
              <a:rPr dirty="0"/>
              <a:t>That is a different — and usually harder — question. Interactions have lower power than main effects and need more replicates. Do not add one unless the interaction </a:t>
            </a:r>
            <a:r>
              <a:rPr i="1" dirty="0"/>
              <a:t>is</a:t>
            </a:r>
            <a:r>
              <a:rPr dirty="0"/>
              <a:t> your hypothesis.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Extracting the contrast you want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nsolas"/>
                  </a:rPr>
                  <a:t>resultsNames</a:t>
                </a:r>
                <a:r>
                  <a:rPr sz="1300">
                    <a:latin typeface="Consolas"/>
                  </a:rPr>
                  <a:t>(dds)</a:t>
                </a:r>
                <a:br/>
                <a:r>
                  <a:rPr i="1">
                    <a:solidFill>
                      <a:srgbClr val="60A0B0"/>
                    </a:solidFill>
                    <a:latin typeface="Consolas"/>
                  </a:rPr>
                  <a:t># [1] "Intercept" "batch_B_vs_A" "condition_treated_vs_untreated"</a:t>
                </a:r>
                <a:br/>
                <a:br/>
                <a:r>
                  <a:rPr i="1">
                    <a:solidFill>
                      <a:srgbClr val="60A0B0"/>
                    </a:solidFill>
                    <a:latin typeface="Consolas"/>
                  </a:rPr>
                  <a:t># by coefficient name</a:t>
                </a:r>
                <a:br/>
                <a:r>
                  <a:rPr>
                    <a:solidFill>
                      <a:srgbClr val="06287E"/>
                    </a:solidFill>
                    <a:latin typeface="Consolas"/>
                  </a:rPr>
                  <a:t>results</a:t>
                </a:r>
                <a:r>
                  <a:rPr sz="1300">
                    <a:latin typeface="Consolas"/>
                  </a:rPr>
                  <a:t>(dds, </a:t>
                </a:r>
                <a:r>
                  <a:rPr>
                    <a:solidFill>
                      <a:srgbClr val="7D9029"/>
                    </a:solidFill>
                    <a:latin typeface="Consolas"/>
                  </a:rPr>
                  <a:t>name =</a:t>
                </a:r>
                <a:r>
                  <a:rPr sz="1300">
                    <a:latin typeface="Consolas"/>
                  </a:rPr>
                  <a:t> 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"condition_treated_vs_untreated"</a:t>
                </a:r>
                <a:r>
                  <a:rPr sz="1300">
                    <a:latin typeface="Consolas"/>
                  </a:rPr>
                  <a:t>)</a:t>
                </a:r>
                <a:br/>
                <a:br/>
                <a:r>
                  <a:rPr i="1">
                    <a:solidFill>
                      <a:srgbClr val="60A0B0"/>
                    </a:solidFill>
                    <a:latin typeface="Consolas"/>
                  </a:rPr>
                  <a:t># by explicit contrast: factor, numerator, denominator</a:t>
                </a:r>
                <a:br/>
                <a:r>
                  <a:rPr>
                    <a:solidFill>
                      <a:srgbClr val="06287E"/>
                    </a:solidFill>
                    <a:latin typeface="Consolas"/>
                  </a:rPr>
                  <a:t>results</a:t>
                </a:r>
                <a:r>
                  <a:rPr sz="1300">
                    <a:latin typeface="Consolas"/>
                  </a:rPr>
                  <a:t>(dds, </a:t>
                </a:r>
                <a:r>
                  <a:rPr>
                    <a:solidFill>
                      <a:srgbClr val="7D9029"/>
                    </a:solidFill>
                    <a:latin typeface="Consolas"/>
                  </a:rPr>
                  <a:t>contrast =</a:t>
                </a:r>
                <a:r>
                  <a:rPr sz="1300">
                    <a:latin typeface="Consolas"/>
                  </a:rPr>
                  <a:t> </a:t>
                </a:r>
                <a:r>
                  <a:rPr>
                    <a:solidFill>
                      <a:srgbClr val="06287E"/>
                    </a:solidFill>
                    <a:latin typeface="Consolas"/>
                  </a:rPr>
                  <a:t>c</a:t>
                </a:r>
                <a:r>
                  <a:rPr sz="1300">
                    <a:latin typeface="Consolas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"condition"</a:t>
                </a:r>
                <a:r>
                  <a:rPr sz="1300">
                    <a:latin typeface="Consolas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"treated"</a:t>
                </a:r>
                <a:r>
                  <a:rPr sz="1300">
                    <a:latin typeface="Consolas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"untreated"</a:t>
                </a:r>
                <a:r>
                  <a:rPr sz="1300">
                    <a:latin typeface="Consolas"/>
                  </a:rPr>
                  <a:t>))</a:t>
                </a:r>
                <a:br/>
                <a:br/>
                <a:r>
                  <a:rPr i="1">
                    <a:solidFill>
                      <a:srgbClr val="60A0B0"/>
                    </a:solidFill>
                    <a:latin typeface="Consolas"/>
                  </a:rPr>
                  <a:t># with a fold-change threshold in the null hypothesis</a:t>
                </a:r>
                <a:br/>
                <a:r>
                  <a:rPr>
                    <a:solidFill>
                      <a:srgbClr val="06287E"/>
                    </a:solidFill>
                    <a:latin typeface="Consolas"/>
                  </a:rPr>
                  <a:t>results</a:t>
                </a:r>
                <a:r>
                  <a:rPr sz="1300">
                    <a:latin typeface="Consolas"/>
                  </a:rPr>
                  <a:t>(dds, </a:t>
                </a:r>
                <a:r>
                  <a:rPr>
                    <a:solidFill>
                      <a:srgbClr val="7D9029"/>
                    </a:solidFill>
                    <a:latin typeface="Consolas"/>
                  </a:rPr>
                  <a:t>contrast =</a:t>
                </a:r>
                <a:r>
                  <a:rPr sz="1300">
                    <a:latin typeface="Consolas"/>
                  </a:rPr>
                  <a:t> </a:t>
                </a:r>
                <a:r>
                  <a:rPr>
                    <a:solidFill>
                      <a:srgbClr val="06287E"/>
                    </a:solidFill>
                    <a:latin typeface="Consolas"/>
                  </a:rPr>
                  <a:t>c</a:t>
                </a:r>
                <a:r>
                  <a:rPr sz="1300">
                    <a:latin typeface="Consolas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"condition"</a:t>
                </a:r>
                <a:r>
                  <a:rPr sz="1300">
                    <a:latin typeface="Consolas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"treated"</a:t>
                </a:r>
                <a:r>
                  <a:rPr sz="1300">
                    <a:latin typeface="Consolas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"untreated"</a:t>
                </a:r>
                <a:r>
                  <a:rPr sz="1300">
                    <a:latin typeface="Consolas"/>
                  </a:rPr>
                  <a:t>),</a:t>
                </a:r>
                <a:br/>
                <a:r>
                  <a:rPr sz="1300">
                    <a:latin typeface="Consolas"/>
                  </a:rPr>
                  <a:t>        </a:t>
                </a:r>
                <a:r>
                  <a:rPr>
                    <a:solidFill>
                      <a:srgbClr val="7D9029"/>
                    </a:solidFill>
                    <a:latin typeface="Consolas"/>
                  </a:rPr>
                  <a:t>lfcThreshold =</a:t>
                </a:r>
                <a:r>
                  <a:rPr sz="1300">
                    <a:latin typeface="Consolas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nsolas"/>
                  </a:rPr>
                  <a:t>1</a:t>
                </a:r>
                <a:r>
                  <a:rPr sz="1300">
                    <a:latin typeface="Consolas"/>
                  </a:rPr>
                  <a:t>, </a:t>
                </a:r>
                <a:r>
                  <a:rPr>
                    <a:solidFill>
                      <a:srgbClr val="7D9029"/>
                    </a:solidFill>
                    <a:latin typeface="Consolas"/>
                  </a:rPr>
                  <a:t>altHypothesis =</a:t>
                </a:r>
                <a:r>
                  <a:rPr sz="1300">
                    <a:latin typeface="Consolas"/>
                  </a:rPr>
                  <a:t> </a:t>
                </a:r>
                <a:r>
                  <a:rPr>
                    <a:solidFill>
                      <a:srgbClr val="4070A0"/>
                    </a:solidFill>
                    <a:latin typeface="Consolas"/>
                  </a:rPr>
                  <a:t>"greaterAbs"</a:t>
                </a:r>
                <a:r>
                  <a:rPr sz="1300">
                    <a:latin typeface="Consolas"/>
                  </a:rPr>
                  <a:t>)</a:t>
                </a:r>
              </a:p>
              <a:p>
                <a:pPr marL="0" lvl="0" indent="0">
                  <a:buNone/>
                </a:pPr>
                <a:r>
                  <a:t>The last form tests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i="0"/>
                      <m:t>LFC</m:t>
                    </m:r>
                    <m:r>
                      <a:rPr>
                        <a:latin typeface="Cambria Math" panose="02040503050406030204" pitchFamily="18" charset="0"/>
                      </a:rPr>
                      <m:t>|&gt;1</m:t>
                    </m:r>
                  </m:oMath>
                </a14:m>
                <a:r>
                  <a:t> </a:t>
                </a:r>
                <a:r>
                  <a:rPr i="1"/>
                  <a:t>statistically</a:t>
                </a:r>
                <a:r>
                  <a:t>, which is the correct way to require an effect size — much better than filtering the results table on log2FC afterwards.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1370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DESeq2 vs edgeR vs limma-voom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49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limma-voom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NB GLM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NB GLM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linear model + precision 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Normalisation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median-of-ratios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Dispersion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shrink to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shrink to trend (QL)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via voom 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Small n (2–5)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adequate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Large n (&gt; 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fast,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Complex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best</a:t>
                      </a:r>
                      <a:r>
                        <a:t> (duplicateCorrelation,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64000"/>
            <a:ext cx="8229600" cy="69850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t>In benchmarks all three perform comparably on well-behaved data. The choice is about design complexity and sample size, not correctness. </a:t>
            </a:r>
            <a:r>
              <a:rPr b="1"/>
              <a:t>Pick one a priori</a:t>
            </a:r>
            <a:r>
              <a:t> — running all three and picking the nicest result is p-hacking.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to report in a methods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Reads were quantified with Salmon v1.10 against GENCODE v44 and imported with </a:t>
            </a:r>
            <a:r>
              <a:rPr sz="2000">
                <a:latin typeface="Consolas"/>
              </a:rPr>
              <a:t>tximport</a:t>
            </a:r>
            <a:r>
              <a:rPr sz="2000"/>
              <a:t>. Genes with fewer than 10 counts in at least 3 samples were removed (16,412 of 61,852 retained). Differential expression was assessed with DESeq2 v1.42 using the design </a:t>
            </a:r>
            <a:r>
              <a:rPr sz="2000">
                <a:latin typeface="Consolas"/>
              </a:rPr>
              <a:t>~ batch + condition</a:t>
            </a:r>
            <a:r>
              <a:rPr sz="2000"/>
              <a:t>, with </a:t>
            </a:r>
            <a:r>
              <a:rPr sz="2000">
                <a:latin typeface="Consolas"/>
              </a:rPr>
              <a:t>condition</a:t>
            </a:r>
            <a:r>
              <a:rPr sz="2000"/>
              <a:t> releveled to </a:t>
            </a:r>
            <a:r>
              <a:rPr sz="2000">
                <a:latin typeface="Consolas"/>
              </a:rPr>
              <a:t>untreated</a:t>
            </a:r>
            <a:r>
              <a:rPr sz="2000"/>
              <a:t> as reference. Log2 fold changes were shrunk with </a:t>
            </a:r>
            <a:r>
              <a:rPr sz="2000">
                <a:latin typeface="Consolas"/>
              </a:rPr>
              <a:t>apeglm</a:t>
            </a:r>
            <a:r>
              <a:rPr sz="2000"/>
              <a:t>. Genes with Benjamini–Hochberg adjusted p &lt; 0.05 were considered differentially expressed.</a:t>
            </a:r>
          </a:p>
          <a:p>
            <a:pPr marL="0" lvl="0" indent="0">
              <a:buNone/>
            </a:pPr>
            <a:r>
              <a:t>Every number and version in that paragraph matters for reproducibility.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Common mistakes, collected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Using TPM/FPKM as input to DESeq2</a:t>
            </a:r>
          </a:p>
          <a:p>
            <a:pPr marL="342900" lvl="0" indent="-342900">
              <a:buAutoNum type="arabicPeriod"/>
            </a:pPr>
            <a:r>
              <a:t>Forgetting </a:t>
            </a:r>
            <a:r>
              <a:rPr sz="1300">
                <a:latin typeface="Consolas"/>
              </a:rPr>
              <a:t>relevel()</a:t>
            </a:r>
            <a:r>
              <a:t> → inverted fold changes</a:t>
            </a:r>
          </a:p>
          <a:p>
            <a:pPr marL="342900" lvl="0" indent="-342900">
              <a:buAutoNum type="arabicPeriod"/>
            </a:pPr>
            <a:r>
              <a:t>Reporting </a:t>
            </a:r>
            <a:r>
              <a:rPr sz="1300">
                <a:latin typeface="Consolas"/>
              </a:rPr>
              <a:t>pvalue</a:t>
            </a:r>
            <a:r>
              <a:t> instead of </a:t>
            </a:r>
            <a:r>
              <a:rPr sz="1300">
                <a:latin typeface="Consolas"/>
              </a:rPr>
              <a:t>padj</a:t>
            </a:r>
          </a:p>
          <a:p>
            <a:pPr marL="342900" lvl="0" indent="-342900">
              <a:buAutoNum type="arabicPeriod"/>
            </a:pPr>
            <a:r>
              <a:t>Filtering genes based on the comparison of interest</a:t>
            </a:r>
          </a:p>
          <a:p>
            <a:pPr marL="342900" lvl="0" indent="-342900">
              <a:buAutoNum type="arabicPeriod"/>
            </a:pPr>
            <a:r>
              <a:t>Confounding batch with condition → unfixable</a:t>
            </a:r>
          </a:p>
          <a:p>
            <a:pPr marL="342900" lvl="0" indent="-342900">
              <a:buAutoNum type="arabicPeriod"/>
            </a:pPr>
            <a:r>
              <a:t>Treating technical replicates as n</a:t>
            </a:r>
          </a:p>
          <a:p>
            <a:pPr marL="342900" lvl="0" indent="-342900">
              <a:buAutoNum type="arabicPeriod"/>
            </a:pPr>
            <a:r>
              <a:t>Ranking by fold change without shrinkage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na.omit()</a:t>
            </a:r>
            <a:r>
              <a:t>-ing the results table without understanding the NAs</a:t>
            </a:r>
          </a:p>
          <a:p>
            <a:pPr marL="342900" lvl="0" indent="-342900">
              <a:buAutoNum type="arabicPeriod"/>
            </a:pPr>
            <a:r>
              <a:t>Concluding “no change” from a non-significant result at n = 3</a:t>
            </a:r>
          </a:p>
          <a:p>
            <a:pPr marL="342900" lvl="0" indent="-342900">
              <a:buAutoNum type="arabicPeriod"/>
            </a:pPr>
            <a:r>
              <a:t>Running three DE tools and reporting the nicest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afternoon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300">
                <a:latin typeface="Consolas"/>
              </a:rPr>
              <a:t>Day2_BulkRNAseq_DE/scripts/02_DESeq2_workflow.R</a:t>
            </a:r>
          </a:p>
          <a:p>
            <a:pPr marL="0" lvl="0" indent="0">
              <a:buNone/>
            </a:pPr>
            <a:r>
              <a:t>Your group’s dataset, end to end:</a:t>
            </a:r>
          </a:p>
          <a:p>
            <a:pPr marL="342900" lvl="0" indent="-342900">
              <a:buAutoNum type="arabicPeriod"/>
            </a:pPr>
            <a:r>
              <a:t>Load counts + metadata; </a:t>
            </a:r>
            <a:r>
              <a:rPr b="1"/>
              <a:t>verify the column order</a:t>
            </a:r>
          </a:p>
          <a:p>
            <a:pPr marL="342900" lvl="0" indent="-342900">
              <a:buAutoNum type="arabicPeriod"/>
            </a:pPr>
            <a:r>
              <a:t>Build the </a:t>
            </a:r>
            <a:r>
              <a:rPr sz="1300">
                <a:latin typeface="Consolas"/>
              </a:rPr>
              <a:t>DESeqDataSet</a:t>
            </a:r>
            <a:r>
              <a:t>; set the reference level</a:t>
            </a:r>
          </a:p>
          <a:p>
            <a:pPr marL="342900" lvl="0" indent="-342900">
              <a:buAutoNum type="arabicPeriod"/>
            </a:pPr>
            <a:r>
              <a:t>Filter low-count genes</a:t>
            </a:r>
          </a:p>
          <a:p>
            <a:pPr marL="342900" lvl="0" indent="-342900">
              <a:buAutoNum type="arabicPeriod"/>
            </a:pPr>
            <a:r>
              <a:t>Run </a:t>
            </a:r>
            <a:r>
              <a:rPr sz="1300">
                <a:latin typeface="Consolas"/>
              </a:rPr>
              <a:t>DESeq()</a:t>
            </a:r>
            <a:r>
              <a:t>; inspect size factors and </a:t>
            </a:r>
            <a:r>
              <a:rPr sz="1300">
                <a:latin typeface="Consolas"/>
              </a:rPr>
              <a:t>plotDispEsts()</a:t>
            </a:r>
          </a:p>
          <a:p>
            <a:pPr marL="342900" lvl="0" indent="-342900">
              <a:buAutoNum type="arabicPeriod"/>
            </a:pPr>
            <a:r>
              <a:t>Extract results; look at the p-value histogram</a:t>
            </a:r>
          </a:p>
          <a:p>
            <a:pPr marL="342900" lvl="0" indent="-342900">
              <a:buAutoNum type="arabicPeriod"/>
            </a:pPr>
            <a:r>
              <a:rPr sz="1300">
                <a:latin typeface="Consolas"/>
              </a:rPr>
              <a:t>lfcShrink()</a:t>
            </a:r>
            <a:r>
              <a:t>; MA plot</a:t>
            </a:r>
          </a:p>
          <a:p>
            <a:pPr marL="342900" lvl="0" indent="-342900">
              <a:buAutoNum type="arabicPeriod"/>
            </a:pPr>
            <a:r>
              <a:t>Export an annotated results table for tomorrow</a:t>
            </a:r>
          </a:p>
          <a:p>
            <a:pPr marL="0" lvl="0" indent="0">
              <a:buNone/>
            </a:pPr>
            <a:r>
              <a:t>Stop and interpret at each step. Anyone can run seven functions; the skill is knowing when the output is telling you something is wrong.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Tomorrow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Morning:</a:t>
            </a:r>
            <a:r>
              <a:t> exploratory analysis and visualisation (PCA, clustering, volcano plots, heatmaps) and functional interpretation (GO over-representation, GSEA, and how both mislead you).</a:t>
            </a:r>
          </a:p>
          <a:p>
            <a:pPr marL="0" lvl="0" indent="0">
              <a:buNone/>
            </a:pPr>
            <a:r>
              <a:rPr b="1"/>
              <a:t>Afternoon:</a:t>
            </a:r>
            <a:r>
              <a:t> turning today’s results table into figures and biology.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5F"/>
      </a:accent1>
      <a:accent2>
        <a:srgbClr val="B4531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3228</Words>
  <Application>Microsoft Macintosh PowerPoint</Application>
  <PresentationFormat>On-screen Show (16:9)</PresentationFormat>
  <Paragraphs>254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Cambria Math</vt:lpstr>
      <vt:lpstr>Consolas</vt:lpstr>
      <vt:lpstr>Office Theme</vt:lpstr>
      <vt:lpstr>Counts, Models and Differential Expression</vt:lpstr>
      <vt:lpstr>Block 1 — What is in a count matrix?</vt:lpstr>
      <vt:lpstr>Where we are</vt:lpstr>
      <vt:lpstr>The object</vt:lpstr>
      <vt:lpstr>Two structural facts that drive everything</vt:lpstr>
      <vt:lpstr>Mean–variance relationship in real data</vt:lpstr>
      <vt:lpstr>Zeros</vt:lpstr>
      <vt:lpstr>Filtering low counts</vt:lpstr>
      <vt:lpstr>Block 2 — Normalisation</vt:lpstr>
      <vt:lpstr>Why raw counts are not comparable</vt:lpstr>
      <vt:lpstr>PowerPoint Presentation</vt:lpstr>
      <vt:lpstr>Three different normalisation problems</vt:lpstr>
      <vt:lpstr>Within-sample vs between-sample</vt:lpstr>
      <vt:lpstr>CPM, TPM, RPKM/FPKM</vt:lpstr>
      <vt:lpstr>Why you must not use TPM for differential expression</vt:lpstr>
      <vt:lpstr>Median-of-ratios (DESeq2’s size factors)</vt:lpstr>
      <vt:lpstr>Size factors, illustrated</vt:lpstr>
      <vt:lpstr>TMM (edgeR) — the same philosophy</vt:lpstr>
      <vt:lpstr>When the core assumption fails</vt:lpstr>
      <vt:lpstr>Transformations for visualisation ≠ normalisation for testing</vt:lpstr>
      <vt:lpstr>Block 3 — The statistical model</vt:lpstr>
      <vt:lpstr>Why not a t-test on log counts?</vt:lpstr>
      <vt:lpstr>The Poisson model, and why it is not enough</vt:lpstr>
      <vt:lpstr>The negative binomial</vt:lpstr>
      <vt:lpstr>The generalised linear model</vt:lpstr>
      <vt:lpstr>Dispersion estimation</vt:lpstr>
      <vt:lpstr>The dispersion plot</vt:lpstr>
      <vt:lpstr>Hypothesis testing: Wald</vt:lpstr>
      <vt:lpstr>Hypothesis testing: likelihood-ratio</vt:lpstr>
      <vt:lpstr>log2 fold change shrinkage</vt:lpstr>
      <vt:lpstr>Shrinkage, illustrated</vt:lpstr>
      <vt:lpstr>Shrinkage, illustrated</vt:lpstr>
      <vt:lpstr>Multiple testing</vt:lpstr>
      <vt:lpstr>The p-value histogram — your best diagnostic</vt:lpstr>
      <vt:lpstr>PowerPoint Presentation</vt:lpstr>
      <vt:lpstr>NA values in the results table</vt:lpstr>
      <vt:lpstr>Block 4 — Design formulae</vt:lpstr>
      <vt:lpstr>Reading a design formula</vt:lpstr>
      <vt:lpstr>Setting the reference level — do this every time</vt:lpstr>
      <vt:lpstr>Paired and blocked designs</vt:lpstr>
      <vt:lpstr>Interactions — the question they answer</vt:lpstr>
      <vt:lpstr>Extracting the contrast you want</vt:lpstr>
      <vt:lpstr>DESeq2 vs edgeR vs limma-voom</vt:lpstr>
      <vt:lpstr>What to report in a methods section</vt:lpstr>
      <vt:lpstr>Common mistakes, collected</vt:lpstr>
      <vt:lpstr>This afternoon</vt:lpstr>
      <vt:lpstr>Tomorrow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Counts, Models and Differential Expression</dc:title>
  <dc:creator>Instructor</dc:creator>
  <cp:keywords/>
  <cp:lastModifiedBy>Karagic, Nidal</cp:lastModifiedBy>
  <cp:revision>4</cp:revision>
  <dcterms:created xsi:type="dcterms:W3CDTF">2026-09-30T08:47:19Z</dcterms:created>
  <dcterms:modified xsi:type="dcterms:W3CDTF">2026-10-08T12:48:21Z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output">
    <vt:lpwstr/>
  </property>
  <property fmtid="{D5CDD505-2E9C-101B-9397-08002B2CF9AE}" pid="4" name="subtitle">
    <vt:lpwstr>Day 2 — Transcriptomics Summer School, Sarajevo</vt:lpwstr>
  </property>
</Properties>
</file>