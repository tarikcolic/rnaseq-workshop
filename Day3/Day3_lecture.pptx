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96" r:id="rId11"/>
    <p:sldId id="297" r:id="rId12"/>
    <p:sldId id="273" r:id="rId13"/>
    <p:sldId id="267" r:id="rId14"/>
    <p:sldId id="268" r:id="rId15"/>
    <p:sldId id="272" r:id="rId16"/>
    <p:sldId id="270" r:id="rId17"/>
    <p:sldId id="269" r:id="rId18"/>
    <p:sldId id="298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90" r:id="rId32"/>
    <p:sldId id="292" r:id="rId33"/>
    <p:sldId id="299" r:id="rId3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75" autoAdjust="0"/>
  </p:normalViewPr>
  <p:slideViewPr>
    <p:cSldViewPr snapToGrid="0" snapToObjects="1">
      <p:cViewPr varScale="1">
        <p:scale>
          <a:sx n="159" d="100"/>
          <a:sy n="159" d="100"/>
        </p:scale>
        <p:origin x="81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70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kern="1200">
          <a:solidFill>
            <a:srgbClr val="1F4E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35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35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35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35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35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sembl.org/" TargetMode="External"/><Relationship Id="rId2" Type="http://schemas.openxmlformats.org/officeDocument/2006/relationships/hyperlink" Target="https://biit.cs.ut.ee/gprofiler/gos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ring-db.org/cgi/input?sessionId=bCx7XL107mj8&amp;input_page_show_search=on" TargetMode="External"/><Relationship Id="rId4" Type="http://schemas.openxmlformats.org/officeDocument/2006/relationships/hyperlink" Target="https://www.ncbi.nlm.nih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Exploration, Visualisation and Functional Interpretation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Day 3 — Transcriptomics Summer School, Sarajevo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30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1 — Exploratory analysis is quality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Yesterday you produced a table. Today: is it real?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have 4,000 genes at FDR &lt; 0.05. Three questions, in this order:</a:t>
            </a:r>
          </a:p>
          <a:p>
            <a:pPr marL="342900" lvl="0" indent="-342900">
              <a:buAutoNum type="arabicPeriod"/>
            </a:pPr>
            <a:r>
              <a:rPr b="1"/>
              <a:t>Do the samples group the way the design says they should?</a:t>
            </a:r>
          </a:p>
          <a:p>
            <a:pPr marL="342900" lvl="0" indent="-342900">
              <a:buAutoNum type="arabicPeriod"/>
            </a:pPr>
            <a:r>
              <a:rPr b="1"/>
              <a:t>Is there structure in the data that is not in my model?</a:t>
            </a:r>
          </a:p>
          <a:p>
            <a:pPr marL="342900" lvl="0" indent="-342900">
              <a:buAutoNum type="arabicPeriod"/>
            </a:pPr>
            <a:r>
              <a:rPr b="1"/>
              <a:t>What is the biology?</a:t>
            </a:r>
          </a:p>
          <a:p>
            <a:pPr marL="0" lvl="0" indent="0">
              <a:buNone/>
            </a:pPr>
            <a:r>
              <a:t>Most people skip to 3. Questions 1 and 2 are where the retractions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Never test before you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The order of operations that avoids most disasters: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count matrix
   ↓
transform for visualisation (vst / rlog)
   ↓
PCA, sample-distance heatmap, clustering    ← LOOK HERE FIRST
   ↓
decide the model (do I need a batch term?)
   ↓
fit, test, extract results
   ↓
figures and functional interpretation</a:t>
            </a:r>
          </a:p>
          <a:p>
            <a:pPr marL="0" lvl="0" indent="0">
              <a:buNone/>
            </a:pPr>
            <a:r>
              <a:t>Yesterday we went straight to the model because you needed to see DESeq2 work. In your own projects, exploratory analysis comes </a:t>
            </a:r>
            <a:r>
              <a:rPr b="1"/>
              <a:t>first</a:t>
            </a:r>
            <a: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Transform first — but not for the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Raw and normalised counts have variance that depends on the mean, so distance-based methods (PCA, clustering, correlation) would be dominated by the few most-expressed genes.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vsd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vst</a:t>
            </a:r>
            <a:r>
              <a:rPr sz="1300">
                <a:latin typeface="Consolas"/>
              </a:rPr>
              <a:t>(dds, </a:t>
            </a:r>
            <a:r>
              <a:rPr>
                <a:solidFill>
                  <a:srgbClr val="7D9029"/>
                </a:solidFill>
                <a:latin typeface="Consolas"/>
              </a:rPr>
              <a:t>blind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880000"/>
                </a:solidFill>
                <a:latin typeface="Consolas"/>
              </a:rPr>
              <a:t>FALSE</a:t>
            </a:r>
            <a:r>
              <a:rPr sz="1300">
                <a:latin typeface="Consolas"/>
              </a:rPr>
              <a:t>)     </a:t>
            </a:r>
            <a:r>
              <a:rPr i="1">
                <a:solidFill>
                  <a:srgbClr val="60A0B0"/>
                </a:solidFill>
                <a:latin typeface="Consolas"/>
              </a:rPr>
              <a:t># fast, good for n &gt; 10</a:t>
            </a:r>
            <a:br/>
            <a:r>
              <a:rPr sz="1300">
                <a:latin typeface="Consolas"/>
              </a:rPr>
              <a:t>rld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rlog</a:t>
            </a:r>
            <a:r>
              <a:rPr sz="1300">
                <a:latin typeface="Consolas"/>
              </a:rPr>
              <a:t>(dds, </a:t>
            </a:r>
            <a:r>
              <a:rPr>
                <a:solidFill>
                  <a:srgbClr val="7D9029"/>
                </a:solidFill>
                <a:latin typeface="Consolas"/>
              </a:rPr>
              <a:t>blind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880000"/>
                </a:solidFill>
                <a:latin typeface="Consolas"/>
              </a:rPr>
              <a:t>FALSE</a:t>
            </a:r>
            <a:r>
              <a:rPr sz="1300">
                <a:latin typeface="Consolas"/>
              </a:rPr>
              <a:t>)    </a:t>
            </a:r>
            <a:r>
              <a:rPr i="1">
                <a:solidFill>
                  <a:srgbClr val="60A0B0"/>
                </a:solidFill>
                <a:latin typeface="Consolas"/>
              </a:rPr>
              <a:t># better for small n, slower</a:t>
            </a:r>
          </a:p>
          <a:p>
            <a:pPr marL="0" lvl="0" indent="0">
              <a:buNone/>
            </a:pPr>
            <a:r>
              <a:rPr sz="1300">
                <a:latin typeface="Consolas"/>
              </a:rPr>
              <a:t>blind = FALSE</a:t>
            </a:r>
            <a:r>
              <a:t> means “use the design when estimating the trend”. Use </a:t>
            </a:r>
            <a:r>
              <a:rPr sz="1300">
                <a:latin typeface="Consolas"/>
              </a:rPr>
              <a:t>blind = TRUE</a:t>
            </a:r>
            <a:r>
              <a:t> only for an unsupervised QC look where you want the transformation to know nothing about your groups.</a:t>
            </a:r>
          </a:p>
          <a:p>
            <a:pPr marL="0" lvl="0" indent="0">
              <a:buNone/>
            </a:pPr>
            <a:r>
              <a:rPr b="1"/>
              <a:t>Never</a:t>
            </a:r>
            <a:r>
              <a:t> feed </a:t>
            </a:r>
            <a:r>
              <a:rPr sz="1300">
                <a:latin typeface="Consolas"/>
              </a:rPr>
              <a:t>vsd</a:t>
            </a:r>
            <a:r>
              <a:t>/</a:t>
            </a:r>
            <a:r>
              <a:rPr sz="1300">
                <a:latin typeface="Consolas"/>
              </a:rPr>
              <a:t>rld</a:t>
            </a:r>
            <a:r>
              <a:t> back into </a:t>
            </a:r>
            <a:r>
              <a:rPr sz="1300">
                <a:latin typeface="Consolas"/>
              </a:rPr>
              <a:t>DESeq()</a:t>
            </a:r>
            <a: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PCA: 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have 16,000 genes × 8 samples. PCA finds new axes — linear combinations of genes — ordered so that:</a:t>
            </a:r>
          </a:p>
          <a:p>
            <a:pPr lvl="0"/>
            <a:r>
              <a:rPr b="1"/>
              <a:t>PC1</a:t>
            </a:r>
            <a:r>
              <a:t> captures the largest share of variance across samples</a:t>
            </a:r>
          </a:p>
          <a:p>
            <a:pPr lvl="0"/>
            <a:r>
              <a:rPr b="1"/>
              <a:t>PC2</a:t>
            </a:r>
            <a:r>
              <a:t> the largest share of what remains, and is uncorrelated with PC1</a:t>
            </a:r>
          </a:p>
          <a:p>
            <a:pPr lvl="0"/>
            <a:r>
              <a:t>and so on</a:t>
            </a:r>
          </a:p>
          <a:p>
            <a:pPr marL="0" lvl="0" indent="0">
              <a:buNone/>
            </a:pPr>
            <a:r>
              <a:t>Each sample gets a coordinate on each PC. Plotting PC1 vs PC2 shows you the dominant structure in the data in two dimensions.</a:t>
            </a:r>
          </a:p>
          <a:p>
            <a:pPr marL="0" lvl="0" indent="0">
              <a:buNone/>
            </a:pPr>
            <a:r>
              <a:t>In practice: use the top ~500 most variable genes, on the transformed scale.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nsolas"/>
              </a:rPr>
              <a:t>plotPCA</a:t>
            </a:r>
            <a:r>
              <a:rPr sz="1300">
                <a:latin typeface="Consolas"/>
              </a:rPr>
              <a:t>(vsd, </a:t>
            </a:r>
            <a:r>
              <a:rPr>
                <a:solidFill>
                  <a:srgbClr val="7D9029"/>
                </a:solidFill>
                <a:latin typeface="Consolas"/>
              </a:rPr>
              <a:t>intgroup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c</a:t>
            </a:r>
            <a:r>
              <a:rPr sz="1300">
                <a:latin typeface="Consolas"/>
              </a:rPr>
              <a:t>(</a:t>
            </a:r>
            <a:r>
              <a:rPr>
                <a:solidFill>
                  <a:srgbClr val="4070A0"/>
                </a:solidFill>
                <a:latin typeface="Consolas"/>
              </a:rPr>
              <a:t>"condition"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4070A0"/>
                </a:solidFill>
                <a:latin typeface="Consolas"/>
              </a:rPr>
              <a:t>"batch"</a:t>
            </a:r>
            <a:r>
              <a:rPr sz="1300">
                <a:latin typeface="Consolas"/>
              </a:rPr>
              <a:t>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PCA: what to look for</a:t>
            </a:r>
          </a:p>
        </p:txBody>
      </p:sp>
      <p:pic>
        <p:nvPicPr>
          <p:cNvPr id="3" name="Picture 1" descr="Day3_lecture_files/figure-pptx/pca_good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073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PCA: what it is </a:t>
            </a:r>
            <a:r>
              <a:rPr i="1"/>
              <a:t>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PC1 is not “the treatment effect”.</a:t>
            </a:r>
            <a:r>
              <a:t> PCA is unsupervised. It finds the biggest variance, whatever that is — often RNA quality, dissection depth, or sex.</a:t>
            </a:r>
          </a:p>
          <a:p>
            <a:pPr lvl="0"/>
            <a:r>
              <a:rPr b="1"/>
              <a:t>Small percentages are not “no effect”.</a:t>
            </a:r>
            <a:r>
              <a:t> A real 500-gene response can sit on PC3 at 4% while PC1 is donor identity at 50%.</a:t>
            </a:r>
          </a:p>
          <a:p>
            <a:pPr lvl="0"/>
            <a:r>
              <a:rPr b="1"/>
              <a:t>Distances on the plot are only meaningful in the plotted plane.</a:t>
            </a:r>
            <a:r>
              <a:t> Two samples that look close may be far apart on PC3.</a:t>
            </a:r>
          </a:p>
          <a:p>
            <a:pPr lvl="0"/>
            <a:r>
              <a:rPr b="1"/>
              <a:t>Adding more genes does not make it more accurate.</a:t>
            </a:r>
            <a:r>
              <a:t> The top-variance gene subset is a deliberate denoising step.</a:t>
            </a:r>
          </a:p>
          <a:p>
            <a:pPr marL="0" lvl="0" indent="0">
              <a:buNone/>
            </a:pPr>
            <a:r>
              <a:t>Always check: how much variance do PC1 and PC2 actually explain? And plot PC3/PC4 as well.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Sample-distance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Compute pairwise Euclidean distance between samples on the transformed scale, cluster, and plot.</a:t>
            </a:r>
          </a:p>
          <a:p>
            <a:pPr marL="0" lvl="0" indent="0">
              <a:buNone/>
            </a:pPr>
            <a:r>
              <a:t>This catches things PCA hides:</a:t>
            </a:r>
          </a:p>
          <a:p>
            <a:pPr lvl="0"/>
            <a:r>
              <a:rPr b="1"/>
              <a:t>swapped labels</a:t>
            </a:r>
            <a:r>
              <a:t> — a “control” sitting inside the treated block</a:t>
            </a:r>
          </a:p>
          <a:p>
            <a:pPr lvl="0"/>
            <a:r>
              <a:rPr b="1"/>
              <a:t>a pair of samples that are suspiciously identical</a:t>
            </a:r>
            <a:r>
              <a:t> — the same library sequenced twice by mistake</a:t>
            </a:r>
          </a:p>
          <a:p>
            <a:pPr lvl="0"/>
            <a:r>
              <a:rPr b="1"/>
              <a:t>nested structure</a:t>
            </a:r>
            <a:r>
              <a:t> — samples clustering by donor first, condition second (which tells you the paired design is the right one)</a:t>
            </a:r>
          </a:p>
          <a:p>
            <a:pPr marL="0" lvl="0" indent="0">
              <a:buNone/>
            </a:pPr>
            <a:r>
              <a:t>Use this and PCA together. They fail differently.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CE19-2D5C-FC01-5A24-F3D141AC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F207-0236-B4D8-66C4-8AEAED30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Sample-distance heatmap</a:t>
            </a:r>
          </a:p>
        </p:txBody>
      </p:sp>
      <p:pic>
        <p:nvPicPr>
          <p:cNvPr id="6" name="Picture 5" descr="Chapter 2 A Single Heatmap | ComplexHeatmap Complete Reference">
            <a:extLst>
              <a:ext uri="{FF2B5EF4-FFF2-40B4-BE49-F238E27FC236}">
                <a16:creationId xmlns:a16="http://schemas.microsoft.com/office/drawing/2014/main" id="{7CB67C8F-5096-0A76-B0A3-FD19759C0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" y="1063229"/>
            <a:ext cx="4015014" cy="38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6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6E12-F12F-94A6-8FF4-2E4DA29E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6049-7D71-CCE0-8732-E65036F0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Sample-distance heatmap</a:t>
            </a:r>
          </a:p>
        </p:txBody>
      </p:sp>
      <p:pic>
        <p:nvPicPr>
          <p:cNvPr id="6" name="Picture 5" descr="Chapter 2 A Single Heatmap | ComplexHeatmap Complete Reference">
            <a:extLst>
              <a:ext uri="{FF2B5EF4-FFF2-40B4-BE49-F238E27FC236}">
                <a16:creationId xmlns:a16="http://schemas.microsoft.com/office/drawing/2014/main" id="{FBE56F3E-BC3C-1C0B-5969-0E77F8BB6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" y="1063229"/>
            <a:ext cx="4015014" cy="3862138"/>
          </a:xfrm>
          <a:prstGeom prst="rect">
            <a:avLst/>
          </a:prstGeom>
        </p:spPr>
      </p:pic>
      <p:pic>
        <p:nvPicPr>
          <p:cNvPr id="4" name="Picture 3" descr="Lesson5: Visualizing clusters with heatmap and dendrogram - Data  Visualization with R">
            <a:extLst>
              <a:ext uri="{FF2B5EF4-FFF2-40B4-BE49-F238E27FC236}">
                <a16:creationId xmlns:a16="http://schemas.microsoft.com/office/drawing/2014/main" id="{0A770684-23F5-9413-9176-F1EC2EC65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329" y="1329929"/>
            <a:ext cx="4660233" cy="33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37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Heatmaps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Use a diverging palette </a:t>
            </a:r>
            <a:r>
              <a:rPr b="1" dirty="0" err="1"/>
              <a:t>centred</a:t>
            </a:r>
            <a:r>
              <a:rPr b="1" dirty="0"/>
              <a:t> on zero</a:t>
            </a:r>
            <a:r>
              <a:rPr dirty="0"/>
              <a:t> for scaled data (blue–white–red). Use a sequential palette for unscaled data. A rainbow palette creates boundaries that are not in the data.</a:t>
            </a:r>
          </a:p>
          <a:p>
            <a:pPr marL="0" lvl="0" indent="0">
              <a:buNone/>
            </a:pPr>
            <a:r>
              <a:rPr b="1" dirty="0"/>
              <a:t>Cluster genes and think before clustering samples.</a:t>
            </a:r>
            <a:r>
              <a:rPr dirty="0"/>
              <a:t> Clustering samples on selected genes is circular (previous slide).</a:t>
            </a:r>
          </a:p>
          <a:p>
            <a:pPr marL="0" lvl="0" indent="0">
              <a:buNone/>
            </a:pPr>
            <a:r>
              <a:rPr b="1" dirty="0"/>
              <a:t>Annotate the columns</a:t>
            </a:r>
            <a:r>
              <a:rPr dirty="0"/>
              <a:t> with condition and batch. An annotation bar showing that your clusters are batches saves you months.</a:t>
            </a:r>
          </a:p>
        </p:txBody>
      </p:sp>
    </p:spTree>
    <p:extLst>
      <p:ext uri="{BB962C8B-B14F-4D97-AF65-F5344CB8AC3E}">
        <p14:creationId xmlns:p14="http://schemas.microsoft.com/office/powerpoint/2010/main" val="1638655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 err="1"/>
              <a:t>Heatmaps</a:t>
            </a:r>
            <a:r>
              <a:rPr lang="de-DE" dirty="0"/>
              <a:t> - </a:t>
            </a:r>
            <a:r>
              <a:rPr lang="de-DE" dirty="0" err="1"/>
              <a:t>One</a:t>
            </a:r>
            <a:r>
              <a:rPr lang="de-DE" dirty="0"/>
              <a:t> of the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misleading</a:t>
            </a:r>
            <a:r>
              <a:rPr lang="de-DE" dirty="0"/>
              <a:t> </a:t>
            </a:r>
            <a:r>
              <a:rPr lang="de-DE" dirty="0" err="1"/>
              <a:t>figures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 heatmap of the significant genes, rows scaled, samples clustered, showing a beautiful split between your groups.</a:t>
            </a:r>
          </a:p>
          <a:p>
            <a:pPr marL="0" lvl="0" indent="0">
              <a:buNone/>
            </a:pPr>
            <a:r>
              <a:rPr dirty="0"/>
              <a:t>It </a:t>
            </a:r>
            <a:r>
              <a:rPr b="1" dirty="0"/>
              <a:t>always</a:t>
            </a:r>
            <a:r>
              <a:rPr dirty="0"/>
              <a:t> looks like that. You selected those genes </a:t>
            </a:r>
            <a:r>
              <a:rPr i="1" dirty="0"/>
              <a:t>because</a:t>
            </a:r>
            <a:r>
              <a:rPr dirty="0"/>
              <a:t> they differ between the groups. The heatmap is a picture of your selection criterion, not evidence.</a:t>
            </a:r>
          </a:p>
          <a:p>
            <a:pPr marL="0" lvl="0" indent="0">
              <a:buNone/>
            </a:pPr>
            <a:r>
              <a:rPr dirty="0"/>
              <a:t>It is fine as an illustration. It is not evidence of anything, and it cannot be used to argue that a cluster of samples is “real”.</a:t>
            </a:r>
          </a:p>
          <a:p>
            <a:pPr marL="1270000" lvl="0" indent="0">
              <a:buNone/>
            </a:pPr>
            <a:r>
              <a:rPr sz="2000" dirty="0"/>
              <a:t>If you want a heatmap that carries evidence, use the top </a:t>
            </a:r>
            <a:r>
              <a:rPr sz="2000" i="1" dirty="0"/>
              <a:t>variable</a:t>
            </a:r>
            <a:r>
              <a:rPr sz="2000" dirty="0"/>
              <a:t> genes (selected without reference to the groups), not the top </a:t>
            </a:r>
            <a:r>
              <a:rPr sz="2000" i="1" dirty="0"/>
              <a:t>significant</a:t>
            </a:r>
            <a:r>
              <a:rPr sz="2000" dirty="0"/>
              <a:t> genes.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2 — Figures that survive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Volcano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Plot </a:t>
            </a:r>
            <a:r>
              <a:rPr b="1" dirty="0"/>
              <a:t>−log₁₀(raw p)</a:t>
            </a:r>
            <a:r>
              <a:rPr dirty="0"/>
              <a:t> on the y axis but set the significance </a:t>
            </a:r>
            <a:r>
              <a:rPr dirty="0" err="1"/>
              <a:t>colour</a:t>
            </a:r>
            <a:r>
              <a:rPr dirty="0"/>
              <a:t> by </a:t>
            </a:r>
            <a:r>
              <a:rPr b="1" dirty="0" err="1"/>
              <a:t>padj</a:t>
            </a:r>
            <a:r>
              <a:rPr dirty="0"/>
              <a:t>. Mixing the two silently is common and misleading.</a:t>
            </a:r>
          </a:p>
          <a:p>
            <a:pPr lvl="0"/>
            <a:r>
              <a:rPr dirty="0"/>
              <a:t>Label 5–20 genes, not 200. A labelled volcano with 200 genes communicates nothing.</a:t>
            </a:r>
          </a:p>
          <a:p>
            <a:pPr lvl="0"/>
            <a:r>
              <a:rPr dirty="0"/>
              <a:t>Draw the thresholds you actually used and state them in the legend.</a:t>
            </a:r>
          </a:p>
          <a:p>
            <a:pPr lvl="0"/>
            <a:r>
              <a:rPr dirty="0"/>
              <a:t>Do not truncate the axes without saying so — a gene at p = 10⁻³⁰⁰ pushed to the top of the plot looks like an artefact because it often is one (usually a single-sample outlier).</a:t>
            </a:r>
          </a:p>
          <a:p>
            <a:pPr lvl="0"/>
            <a:r>
              <a:rPr dirty="0"/>
              <a:t>If you used </a:t>
            </a:r>
            <a:r>
              <a:rPr sz="1300" dirty="0" err="1">
                <a:latin typeface="Consolas"/>
              </a:rPr>
              <a:t>lfcThreshold</a:t>
            </a:r>
            <a:r>
              <a:rPr dirty="0"/>
              <a:t>, say so: the vertical lines then mean something statistical rather than decorative.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x = log2 fold change, y = −log₁₀(p).</a:t>
            </a:r>
          </a:p>
        </p:txBody>
      </p:sp>
      <p:pic>
        <p:nvPicPr>
          <p:cNvPr id="3" name="Picture 1" descr="Day3_lecture_files/figure-pptx/volcano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7582" y="1359004"/>
            <a:ext cx="6832635" cy="351829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1AA908-1F3E-ED70-5EAA-7A0FDD751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8250"/>
            <a:ext cx="8229600" cy="42956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600" b="0" dirty="0"/>
              <a:t>Volcano plots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x = mean expression, y = log2 fold change, colour = significance.</a:t>
            </a:r>
          </a:p>
          <a:p>
            <a:pPr marL="0" lvl="0" indent="0">
              <a:buNone/>
            </a:pPr>
            <a:r>
              <a:t>Answers: is the cloud centred on zero (normalisation sane)? Is the fold-change range plausible? Are hits spread across the expression range or only at high expression (a power issue)?</a:t>
            </a:r>
          </a:p>
          <a:p>
            <a:pPr marL="0" lvl="0" indent="0">
              <a:buNone/>
            </a:pPr>
            <a:r>
              <a:t>Use </a:t>
            </a:r>
            <a:r>
              <a:rPr b="1"/>
              <a:t>shrunken</a:t>
            </a:r>
            <a:r>
              <a:t> fold changes. Unshrunk MA plots have a noise fan at the left that hides everything else.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6DD4-12EB-B150-2969-8EA4F3CE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C2D7E-A999-63CD-173B-10C469B3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 plot</a:t>
            </a:r>
          </a:p>
        </p:txBody>
      </p:sp>
      <p:pic>
        <p:nvPicPr>
          <p:cNvPr id="6" name="Picture 5" descr="MA-plot from means and log fold changes — ggmaplot • ggpubr">
            <a:extLst>
              <a:ext uri="{FF2B5EF4-FFF2-40B4-BE49-F238E27FC236}">
                <a16:creationId xmlns:a16="http://schemas.microsoft.com/office/drawing/2014/main" id="{A1C5AF8A-63F3-6366-603D-0390A3C55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403" y="1248137"/>
            <a:ext cx="5745194" cy="354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16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Counts plots for individual genes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least fashionable and most useful figure in the set.</a:t>
            </a:r>
          </a:p>
          <a:p>
            <a:pPr marL="0" lvl="0" indent="0">
              <a:buNone/>
            </a:pPr>
            <a:r>
              <a:t>For any gene you plan to discuss in the text: plot its normalised counts for every sample, grouped by condition, on a log scale, with each replicate visible as a point.</a:t>
            </a:r>
          </a:p>
          <a:p>
            <a:pPr marL="0" lvl="0" indent="0">
              <a:buNone/>
            </a:pPr>
            <a:r>
              <a:t>What it catches:</a:t>
            </a:r>
          </a:p>
          <a:p>
            <a:pPr lvl="0"/>
            <a:r>
              <a:t>one outlier sample driving a “significant” gene</a:t>
            </a:r>
          </a:p>
          <a:p>
            <a:pPr lvl="0"/>
            <a:r>
              <a:t>a gene where all counts are 5–30, so the fold change is real but the biology is probably irrelevant</a:t>
            </a:r>
          </a:p>
          <a:p>
            <a:pPr lvl="0"/>
            <a:r>
              <a:t>a paired design where every donor moves in the same direction (very convincing) versus two up and two down (not)</a:t>
            </a:r>
          </a:p>
          <a:p>
            <a:pPr marL="0" lvl="0" indent="0">
              <a:buNone/>
            </a:pPr>
            <a:r>
              <a:t>Reviewers ask for these. Make them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hygiene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Axis labels with units and the transformation stated (</a:t>
            </a:r>
            <a:r>
              <a:rPr sz="1300">
                <a:latin typeface="Consolas"/>
              </a:rPr>
              <a:t>log2</a:t>
            </a:r>
            <a:r>
              <a:t>, </a:t>
            </a:r>
            <a:r>
              <a:rPr sz="1300">
                <a:latin typeface="Consolas"/>
              </a:rPr>
              <a:t>vst</a:t>
            </a:r>
            <a:r>
              <a:t>)</a:t>
            </a:r>
          </a:p>
          <a:p>
            <a:pPr marL="342900" lvl="0" indent="-342900">
              <a:buAutoNum type="arabicPeriod"/>
            </a:pPr>
            <a:r>
              <a:t>Sample size in the caption or the panel</a:t>
            </a:r>
          </a:p>
          <a:p>
            <a:pPr marL="342900" lvl="0" indent="-342900">
              <a:buAutoNum type="arabicPeriod"/>
            </a:pPr>
            <a:r>
              <a:t>The statistical test and the threshold, in the caption</a:t>
            </a:r>
          </a:p>
          <a:p>
            <a:pPr marL="342900" lvl="0" indent="-342900">
              <a:buAutoNum type="arabicPeriod"/>
            </a:pPr>
            <a:r>
              <a:t>Colour-blind-safe palette (viridis, or </a:t>
            </a:r>
            <a:r>
              <a:rPr sz="1300">
                <a:latin typeface="Consolas"/>
              </a:rPr>
              <a:t>RColorBrewer::brewer.pal</a:t>
            </a:r>
            <a:r>
              <a:t> with </a:t>
            </a:r>
            <a:r>
              <a:rPr sz="1300">
                <a:latin typeface="Consolas"/>
              </a:rPr>
              <a:t>colorblindFriendly = TRUE</a:t>
            </a:r>
            <a:r>
              <a:t>)</a:t>
            </a:r>
          </a:p>
          <a:p>
            <a:pPr marL="342900" lvl="0" indent="-342900">
              <a:buAutoNum type="arabicPeriod"/>
            </a:pPr>
            <a:r>
              <a:t>Vector format (PDF/SVG) for line art; 300+ dpi PNG otherwise</a:t>
            </a:r>
          </a:p>
          <a:p>
            <a:pPr marL="342900" lvl="0" indent="-342900">
              <a:buAutoNum type="arabicPeriod"/>
            </a:pPr>
            <a:r>
              <a:t>Readable at the size it will be printed — check by printing it</a:t>
            </a:r>
          </a:p>
          <a:p>
            <a:pPr marL="342900" lvl="0" indent="-342900">
              <a:buAutoNum type="arabicPeriod"/>
            </a:pPr>
            <a:r>
              <a:t>Every figure generated by a script, never edited by hand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Block 3 — Functional interpretation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have 800 significant genes. Nobody can read 800 gene names and form a hypothesis.</a:t>
            </a:r>
          </a:p>
          <a:p>
            <a:pPr marL="0" lvl="0" indent="0">
              <a:buNone/>
            </a:pPr>
            <a:r>
              <a:t>You want to say: </a:t>
            </a:r>
            <a:r>
              <a:rPr i="1"/>
              <a:t>“genes involved in the inflammatory response are coordinately upregulated”</a:t>
            </a:r>
            <a:r>
              <a:t>. That requires</a:t>
            </a:r>
          </a:p>
          <a:p>
            <a:pPr marL="342900" lvl="0" indent="-342900">
              <a:buAutoNum type="arabicPeriod"/>
            </a:pPr>
            <a:r>
              <a:t>a </a:t>
            </a:r>
            <a:r>
              <a:rPr b="1"/>
              <a:t>vocabulary</a:t>
            </a:r>
            <a:r>
              <a:t> of gene functions, and</a:t>
            </a:r>
          </a:p>
          <a:p>
            <a:pPr marL="342900" lvl="0" indent="-342900">
              <a:buAutoNum type="arabicPeriod"/>
            </a:pPr>
            <a:r>
              <a:t>a </a:t>
            </a:r>
            <a:r>
              <a:rPr b="1"/>
              <a:t>statistical test</a:t>
            </a:r>
            <a:r>
              <a:t> for whether your list is unusually full of some category.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Gene Ontology: the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Three separate ontologies:</a:t>
            </a:r>
          </a:p>
          <a:p>
            <a:pPr lvl="0"/>
            <a:r>
              <a:rPr b="1"/>
              <a:t>BP</a:t>
            </a:r>
            <a:r>
              <a:t> — Biological Process: </a:t>
            </a:r>
            <a:r>
              <a:rPr i="1"/>
              <a:t>inflammatory response</a:t>
            </a:r>
            <a:r>
              <a:t>, </a:t>
            </a:r>
            <a:r>
              <a:rPr i="1"/>
              <a:t>mitosis</a:t>
            </a:r>
          </a:p>
          <a:p>
            <a:pPr lvl="0"/>
            <a:r>
              <a:rPr b="1"/>
              <a:t>MF</a:t>
            </a:r>
            <a:r>
              <a:t> — Molecular Function: </a:t>
            </a:r>
            <a:r>
              <a:rPr i="1"/>
              <a:t>ATP binding</a:t>
            </a:r>
            <a:r>
              <a:t>, </a:t>
            </a:r>
            <a:r>
              <a:rPr i="1"/>
              <a:t>kinase activity</a:t>
            </a:r>
          </a:p>
          <a:p>
            <a:pPr lvl="0"/>
            <a:r>
              <a:rPr b="1"/>
              <a:t>CC</a:t>
            </a:r>
            <a:r>
              <a:t> — Cellular Component: </a:t>
            </a:r>
            <a:r>
              <a:rPr i="1"/>
              <a:t>mitochondrial matrix</a:t>
            </a:r>
            <a:r>
              <a:t>, </a:t>
            </a:r>
            <a:r>
              <a:rPr i="1"/>
              <a:t>nucleolus</a:t>
            </a:r>
          </a:p>
          <a:p>
            <a:pPr marL="0" lvl="0" indent="0">
              <a:buNone/>
            </a:pPr>
            <a:r>
              <a:t>Structure: a </a:t>
            </a:r>
            <a:r>
              <a:rPr b="1"/>
              <a:t>directed acyclic graph</a:t>
            </a:r>
            <a:r>
              <a:t>, not a tree. Terms have parents and children; a term can have several parents. </a:t>
            </a:r>
            <a:r>
              <a:rPr i="1"/>
              <a:t>Regulation of T cell activation</a:t>
            </a:r>
            <a:r>
              <a:t> is a child of both </a:t>
            </a:r>
            <a:r>
              <a:rPr i="1"/>
              <a:t>regulation of lymphocyte activation</a:t>
            </a:r>
            <a:r>
              <a:t> and </a:t>
            </a:r>
            <a:r>
              <a:rPr i="1"/>
              <a:t>T cell activation</a:t>
            </a:r>
            <a:r>
              <a:t>.</a:t>
            </a:r>
          </a:p>
          <a:p>
            <a:pPr marL="0" lvl="0" indent="0">
              <a:buNone/>
            </a:pPr>
            <a:r>
              <a:rPr b="1"/>
              <a:t>The true-path rule:</a:t>
            </a:r>
            <a:r>
              <a:t> a gene annotated to a term is implicitly annotated to all its ancestors. This is why enrichment results are so redundant.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GO evidence codes — annotations are not equal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Every GO annotation carries a code saying where it came from:</a:t>
            </a:r>
          </a:p>
          <a:p>
            <a:pPr lvl="0"/>
            <a:r>
              <a:rPr b="1"/>
              <a:t>EXP, IDA, IPI, IMP, IGI</a:t>
            </a:r>
            <a:r>
              <a:t> — experimental. Reliable.</a:t>
            </a:r>
          </a:p>
          <a:p>
            <a:pPr lvl="0"/>
            <a:r>
              <a:rPr b="1"/>
              <a:t>ISS, ISO, ISA, IBA</a:t>
            </a:r>
            <a:r>
              <a:t> — inferred from sequence similarity.</a:t>
            </a:r>
          </a:p>
          <a:p>
            <a:pPr lvl="0"/>
            <a:r>
              <a:rPr b="1"/>
              <a:t>IEA</a:t>
            </a:r>
            <a:r>
              <a:t> — Inferred from Electronic Annotation. </a:t>
            </a:r>
            <a:r>
              <a:rPr b="1"/>
              <a:t>No human ever checked this.</a:t>
            </a:r>
            <a:r>
              <a:t> The large majority of annotations for most species.</a:t>
            </a:r>
          </a:p>
          <a:p>
            <a:pPr lvl="0"/>
            <a:r>
              <a:rPr b="1"/>
              <a:t>ND</a:t>
            </a:r>
            <a:r>
              <a:t> — no data.</a:t>
            </a:r>
          </a:p>
          <a:p>
            <a:pPr marL="0" lvl="0" indent="0">
              <a:buNone/>
            </a:pPr>
            <a:r>
              <a:t>Consequences: well-studied genes have many more annotations than obscure ones, and the ontology’s structure reflects </a:t>
            </a:r>
            <a:r>
              <a:rPr b="1"/>
              <a:t>what has been studied</a:t>
            </a:r>
            <a:r>
              <a:t>, not what exists. Immune and cancer terms are dense; almost everything else is sparse.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Other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KEGG</a:t>
            </a:r>
            <a:r>
              <a:t> — curated pathway maps. Fewer, larger, more mechanistic terms. Good for metabolism and signalling. Licence restrictions on bulk download.</a:t>
            </a:r>
          </a:p>
          <a:p>
            <a:pPr marL="0" lvl="0" indent="0">
              <a:buNone/>
            </a:pPr>
            <a:r>
              <a:rPr b="1"/>
              <a:t>Reactome</a:t>
            </a:r>
            <a:r>
              <a:t> — curated, hierarchical, well-maintained, human-centred but with orthology projections. Often more interpretable than KEGG.</a:t>
            </a:r>
          </a:p>
          <a:p>
            <a:pPr marL="0" lvl="0" indent="0">
              <a:buNone/>
            </a:pPr>
            <a:r>
              <a:rPr b="1"/>
              <a:t>MSigDB</a:t>
            </a:r>
            <a:r>
              <a:t> — collections rather than one ontology: </a:t>
            </a:r>
            <a:r>
              <a:rPr sz="1300">
                <a:latin typeface="Consolas"/>
              </a:rPr>
              <a:t>H</a:t>
            </a:r>
            <a:r>
              <a:t> hallmark (50 well-curated, non-redundant sets — </a:t>
            </a:r>
            <a:r>
              <a:rPr b="1"/>
              <a:t>start here</a:t>
            </a:r>
            <a:r>
              <a:t>), </a:t>
            </a:r>
            <a:r>
              <a:rPr sz="1300">
                <a:latin typeface="Consolas"/>
              </a:rPr>
              <a:t>C2:CP</a:t>
            </a:r>
            <a:r>
              <a:t> canonical pathways, </a:t>
            </a:r>
            <a:r>
              <a:rPr sz="1300">
                <a:latin typeface="Consolas"/>
              </a:rPr>
              <a:t>C5</a:t>
            </a:r>
            <a:r>
              <a:t> GO, </a:t>
            </a:r>
            <a:r>
              <a:rPr sz="1300">
                <a:latin typeface="Consolas"/>
              </a:rPr>
              <a:t>C7</a:t>
            </a:r>
            <a:r>
              <a:t> immunologic, </a:t>
            </a:r>
            <a:r>
              <a:rPr sz="1300">
                <a:latin typeface="Consolas"/>
              </a:rPr>
              <a:t>C8</a:t>
            </a:r>
            <a:r>
              <a:t> cell types.</a:t>
            </a:r>
          </a:p>
          <a:p>
            <a:pPr marL="0" lvl="0" indent="0">
              <a:buNone/>
            </a:pPr>
            <a:r>
              <a:rPr b="1"/>
              <a:t>WikiPathways</a:t>
            </a:r>
            <a:r>
              <a:t>, </a:t>
            </a:r>
            <a:r>
              <a:rPr b="1"/>
              <a:t>Gene Ontology slims</a:t>
            </a:r>
            <a:r>
              <a:t>, </a:t>
            </a:r>
            <a:r>
              <a:rPr b="1"/>
              <a:t>CORUM</a:t>
            </a:r>
            <a:r>
              <a:t> (complexes), </a:t>
            </a:r>
            <a:r>
              <a:rPr b="1"/>
              <a:t>TF target sets</a:t>
            </a:r>
            <a:r>
              <a:t> (ChEA, DoRothEA).</a:t>
            </a:r>
          </a:p>
          <a:p>
            <a:pPr marL="0" lvl="0" indent="0">
              <a:buNone/>
            </a:pPr>
            <a:r>
              <a:t>Different databases give different answers. Report which you used and its version.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Over-representation analysis (ORA)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511300"/>
          </a:xfrm>
        </p:spPr>
        <p:txBody>
          <a:bodyPr/>
          <a:lstStyle/>
          <a:p>
            <a:pPr marL="0" lvl="0" indent="0">
              <a:buNone/>
            </a:pPr>
            <a:r>
              <a:t>The question: </a:t>
            </a:r>
            <a:r>
              <a:rPr i="1"/>
              <a:t>among my 800 significant genes, are there more “inflammatory response” genes than I would expect by chance?</a:t>
            </a:r>
          </a:p>
          <a:p>
            <a:pPr marL="0" lvl="0" indent="0">
              <a:buNone/>
            </a:pPr>
            <a:r>
              <a:t>A 2 × 2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832100"/>
          <a:ext cx="82296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 GO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not in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in my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 =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not in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14,880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4064000"/>
            <a:ext cx="8229600" cy="698500"/>
          </a:xfrm>
        </p:spPr>
        <p:txBody>
          <a:bodyPr/>
          <a:lstStyle/>
          <a:p>
            <a:pPr marL="0" lvl="0" indent="0">
              <a:buNone/>
            </a:pPr>
            <a:r>
              <a:t>Test with the hypergeometric distribution (= one-sided Fisher’s exact test): given 345 term genes among 16,000, how surprising is 25 in a draw of 800?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ORA: the background set is the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denominator is not “all genes”. It is </a:t>
            </a:r>
            <a:r>
              <a:rPr b="1"/>
              <a:t>all genes that could have been detected in your experiment</a:t>
            </a:r>
            <a:r>
              <a:t> — i.e. the genes that survived filtering and were actually tested.</a:t>
            </a:r>
          </a:p>
          <a:p>
            <a:pPr marL="0" lvl="0" indent="0">
              <a:buNone/>
            </a:pPr>
            <a:r>
              <a:t>Using all ~20,000 annotated genes as background when you tested 14,000 creates enrichment for anything expressed in your tissue at all. In a brain experiment you will “discover” that your gene list is enriched for neuronal terms. It is: so is every gene you could have detected.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nsolas"/>
              </a:rPr>
              <a:t>enrichGO</a:t>
            </a:r>
            <a:r>
              <a:rPr sz="1300">
                <a:latin typeface="Consolas"/>
              </a:rPr>
              <a:t>(</a:t>
            </a:r>
            <a:r>
              <a:rPr>
                <a:solidFill>
                  <a:srgbClr val="7D9029"/>
                </a:solidFill>
                <a:latin typeface="Consolas"/>
              </a:rPr>
              <a:t>gene =</a:t>
            </a:r>
            <a:r>
              <a:rPr sz="1300">
                <a:latin typeface="Consolas"/>
              </a:rPr>
              <a:t> sig_genes,</a:t>
            </a:r>
            <a:br/>
            <a:r>
              <a:rPr sz="1300">
                <a:latin typeface="Consolas"/>
              </a:rPr>
              <a:t>         </a:t>
            </a:r>
            <a:r>
              <a:rPr>
                <a:solidFill>
                  <a:srgbClr val="7D9029"/>
                </a:solidFill>
                <a:latin typeface="Consolas"/>
              </a:rPr>
              <a:t>universe =</a:t>
            </a:r>
            <a:r>
              <a:rPr sz="1300">
                <a:latin typeface="Consolas"/>
              </a:rPr>
              <a:t> all_tested_genes,   </a:t>
            </a:r>
            <a:r>
              <a:rPr i="1">
                <a:solidFill>
                  <a:srgbClr val="60A0B0"/>
                </a:solidFill>
                <a:latin typeface="Consolas"/>
              </a:rPr>
              <a:t># &lt;- NOT NULL, NOT all of GO</a:t>
            </a:r>
            <a:br/>
            <a:r>
              <a:rPr sz="1300">
                <a:latin typeface="Consolas"/>
              </a:rPr>
              <a:t>         ...)</a:t>
            </a:r>
          </a:p>
          <a:p>
            <a:pPr marL="0" lvl="0" indent="0">
              <a:buNone/>
            </a:pPr>
            <a:r>
              <a:t>This single argument is the most common error in published enrichment analyses.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ORA: other assumptions you are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Independence between genes.</a:t>
            </a:r>
            <a:r>
              <a:t> False: genes in a pathway are co-regulated, so the effective number of independent observations is much smaller than k. p-values from ORA are anti-conservative.</a:t>
            </a:r>
          </a:p>
          <a:p>
            <a:pPr marL="0" lvl="0" indent="0">
              <a:buNone/>
            </a:pPr>
            <a:r>
              <a:rPr b="1"/>
              <a:t>Equal detection probability.</a:t>
            </a:r>
            <a:r>
              <a:t> False: long and highly expressed genes have more power in RNA-seq, and they are not randomly distributed across GO terms (</a:t>
            </a:r>
            <a:r>
              <a:rPr sz="1300">
                <a:latin typeface="Consolas"/>
              </a:rPr>
              <a:t>GOseq</a:t>
            </a:r>
            <a:r>
              <a:t> corrects for length bias).</a:t>
            </a:r>
          </a:p>
          <a:p>
            <a:pPr marL="0" lvl="0" indent="0">
              <a:buNone/>
            </a:pPr>
            <a:r>
              <a:rPr b="1"/>
              <a:t>The threshold is meaningful.</a:t>
            </a:r>
            <a:r>
              <a:t> A gene at padj = 0.049 is in; one at 0.051 is out. Move the threshold and your enrichment changes.</a:t>
            </a:r>
          </a:p>
          <a:p>
            <a:pPr marL="0" lvl="0" indent="0">
              <a:buNone/>
            </a:pPr>
            <a:r>
              <a:rPr b="1"/>
              <a:t>Terms are independent.</a:t>
            </a:r>
            <a:r>
              <a:t> False, by construction — the true-path rule guarantees nested terms.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Gene Set Enrichment Analysis (GSEA)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Remove the threshold entirely.</a:t>
            </a:r>
          </a:p>
          <a:p>
            <a:pPr marL="342900" lvl="0" indent="-342900">
              <a:buAutoNum type="arabicPeriod"/>
            </a:pPr>
            <a:r>
              <a:rPr dirty="0"/>
              <a:t>Rank </a:t>
            </a:r>
            <a:r>
              <a:rPr b="1" dirty="0"/>
              <a:t>all</a:t>
            </a:r>
            <a:r>
              <a:rPr dirty="0"/>
              <a:t> tested genes by a statistic — shrunken log2FC, or </a:t>
            </a:r>
            <a:r>
              <a:rPr sz="1300" dirty="0">
                <a:latin typeface="Consolas"/>
              </a:rPr>
              <a:t>-log10(p) × sign(LFC)</a:t>
            </a:r>
          </a:p>
          <a:p>
            <a:pPr marL="342900" lvl="0" indent="-342900">
              <a:buAutoNum type="arabicPeriod"/>
            </a:pPr>
            <a:r>
              <a:rPr dirty="0"/>
              <a:t>The </a:t>
            </a:r>
            <a:r>
              <a:rPr b="1" dirty="0"/>
              <a:t>enrichment score</a:t>
            </a:r>
            <a:r>
              <a:rPr dirty="0"/>
              <a:t> is the maximum deviation from zero</a:t>
            </a:r>
          </a:p>
          <a:p>
            <a:pPr marL="342900" lvl="0" indent="-342900">
              <a:buAutoNum type="arabicPeriod"/>
            </a:pPr>
            <a:r>
              <a:rPr lang="de-DE" dirty="0"/>
              <a:t>N</a:t>
            </a:r>
            <a:r>
              <a:rPr dirty="0" err="1"/>
              <a:t>ormalise</a:t>
            </a:r>
            <a:r>
              <a:rPr dirty="0"/>
              <a:t> for set size (NES)</a:t>
            </a:r>
          </a:p>
          <a:p>
            <a:pPr marL="0" lvl="0" indent="0">
              <a:buNone/>
            </a:pPr>
            <a:r>
              <a:rPr dirty="0"/>
              <a:t>A pathway where </a:t>
            </a:r>
            <a:r>
              <a:rPr i="1" dirty="0"/>
              <a:t>every</a:t>
            </a:r>
            <a:r>
              <a:rPr dirty="0"/>
              <a:t> gene moved 1.3-fold — none individually significant — is invisible to ORA and strongly significant in GSEA.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ORA vs GSEA — when to use which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GSEA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 gene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all genes, ranked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Needs a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Detects many small coordinated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Detects a few huge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sometimes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Direction of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must split up/down yourself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built in (NES sign)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Interpretability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Sensitive to background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critically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less 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52900"/>
            <a:ext cx="8229600" cy="609600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b="1"/>
              <a:t>If you have hundreds of hits:</a:t>
            </a:r>
            <a:r>
              <a:t> run both. They answer different questions and disagreeing is informative. </a:t>
            </a:r>
            <a:r>
              <a:rPr b="1"/>
              <a:t>If you have 12 hits:</a:t>
            </a:r>
            <a:r>
              <a:t> ORA is underpowered — use GSEA. </a:t>
            </a:r>
            <a:r>
              <a:rPr b="1"/>
              <a:t>If you have zero hits:</a:t>
            </a:r>
            <a:r>
              <a:t> GSEA can still find coordinated shifts.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enrichment analysis cannot tell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Direction of causality.</a:t>
            </a:r>
            <a:r>
              <a:t> An enriched “cell cycle” term does not mean your treatment targets the cell cycle; it may be a downstream consequence of cells dividing less.</a:t>
            </a:r>
          </a:p>
          <a:p>
            <a:pPr lvl="0"/>
            <a:r>
              <a:rPr b="1"/>
              <a:t>Mechanism.</a:t>
            </a:r>
            <a:r>
              <a:t> Co-regulation is not a pathway.</a:t>
            </a:r>
          </a:p>
          <a:p>
            <a:pPr lvl="0"/>
            <a:r>
              <a:rPr b="1"/>
              <a:t>Anything about unannotated genes.</a:t>
            </a:r>
            <a:r>
              <a:t> In a non-model organism, a large fraction of your genes have no annotation and are silently discarded. If 60% of your DE genes are unannotated, your enrichment result describes the annotated 40% only — say so.</a:t>
            </a:r>
          </a:p>
          <a:p>
            <a:pPr lvl="0"/>
            <a:r>
              <a:rPr b="1"/>
              <a:t>Novelty.</a:t>
            </a:r>
            <a:r>
              <a:t> Well-studied terms win because they have more annotations.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afternoon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300" dirty="0">
                <a:latin typeface="Consolas"/>
              </a:rPr>
              <a:t>Day3_BulkRNAseq_Downstream/scripts/03_visualization_pathways.R</a:t>
            </a:r>
          </a:p>
          <a:p>
            <a:pPr marL="342900" lvl="0" indent="-342900">
              <a:buAutoNum type="arabicPeriod"/>
            </a:pPr>
            <a:r>
              <a:rPr dirty="0"/>
              <a:t>VST transform; PCA (PC1–PC4); sample-distance heatmap</a:t>
            </a:r>
          </a:p>
          <a:p>
            <a:pPr marL="342900" lvl="0" indent="-342900">
              <a:buAutoNum type="arabicPeriod"/>
            </a:pPr>
            <a:r>
              <a:rPr dirty="0"/>
              <a:t>Volcano plot with labelled genes</a:t>
            </a:r>
          </a:p>
          <a:p>
            <a:pPr marL="342900" lvl="0" indent="-342900">
              <a:buAutoNum type="arabicPeriod"/>
            </a:pPr>
            <a:r>
              <a:rPr dirty="0"/>
              <a:t>Heatmap of top variable genes </a:t>
            </a:r>
            <a:r>
              <a:rPr b="1" dirty="0"/>
              <a:t>and</a:t>
            </a:r>
            <a:r>
              <a:rPr dirty="0"/>
              <a:t> top significant genes — compare, and discuss why one is evidence and the other is not</a:t>
            </a:r>
          </a:p>
          <a:p>
            <a:pPr marL="342900" lvl="0" indent="-342900">
              <a:buAutoNum type="arabicPeriod"/>
            </a:pPr>
            <a:r>
              <a:rPr dirty="0"/>
              <a:t>GO over-representation, up and down separately, with the correct background</a:t>
            </a:r>
          </a:p>
          <a:p>
            <a:pPr marL="342900" lvl="0" indent="-342900">
              <a:buAutoNum type="arabicPeriod"/>
            </a:pPr>
            <a:r>
              <a:rPr dirty="0"/>
              <a:t>Redundancy reduction and a term-similarity network</a:t>
            </a:r>
          </a:p>
          <a:p>
            <a:pPr marL="342900" lvl="0" indent="-342900">
              <a:buAutoNum type="arabicPeriod"/>
            </a:pPr>
            <a:r>
              <a:rPr dirty="0"/>
              <a:t>GSEA on the ranked list, with the hallmark collection</a:t>
            </a:r>
          </a:p>
          <a:p>
            <a:pPr marL="342900" lvl="0" indent="-342900">
              <a:buAutoNum type="arabicPeriod"/>
            </a:pPr>
            <a:r>
              <a:rPr dirty="0"/>
              <a:t>Assemble a multi-panel figure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94E4-2E54-9CB3-60A5-29919047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938D-4AAB-6B7F-E2D1-EF742DD64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G:Profiler</a:t>
            </a:r>
            <a:r>
              <a:rPr lang="en-US" dirty="0"/>
              <a:t> - </a:t>
            </a:r>
            <a:r>
              <a:rPr lang="en-US" dirty="0">
                <a:hlinkClick r:id="rId2"/>
              </a:rPr>
              <a:t>https://biit.cs.ut.ee/gprofiler/gost</a:t>
            </a:r>
            <a:r>
              <a:rPr lang="en-US" dirty="0"/>
              <a:t> - Gene ontology analysis quick and dirty</a:t>
            </a:r>
          </a:p>
          <a:p>
            <a:r>
              <a:rPr lang="en-US" dirty="0" err="1"/>
              <a:t>Ensembl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https://www.ensembl.org</a:t>
            </a:r>
            <a:r>
              <a:rPr lang="en-US" dirty="0"/>
              <a:t> - Database for genomes and genes</a:t>
            </a:r>
          </a:p>
          <a:p>
            <a:r>
              <a:rPr lang="en-US" dirty="0"/>
              <a:t>NCBI - </a:t>
            </a:r>
            <a:r>
              <a:rPr lang="en-US" dirty="0">
                <a:hlinkClick r:id="rId4"/>
              </a:rPr>
              <a:t>https://www.ncbi.nlm.nih.gov</a:t>
            </a:r>
            <a:r>
              <a:rPr lang="en-US" dirty="0"/>
              <a:t> – US equivalent to </a:t>
            </a:r>
            <a:r>
              <a:rPr lang="en-US" dirty="0" err="1"/>
              <a:t>Ensembl</a:t>
            </a:r>
            <a:endParaRPr lang="en-US" dirty="0"/>
          </a:p>
          <a:p>
            <a:r>
              <a:rPr lang="en-US" dirty="0"/>
              <a:t>string - </a:t>
            </a:r>
            <a:r>
              <a:rPr lang="en-US" dirty="0">
                <a:hlinkClick r:id="rId5"/>
              </a:rPr>
              <a:t>https://string-db.org/cgi/input?sessionId=bCx7XL107mj8&amp;input_page_show_search=on</a:t>
            </a:r>
            <a:r>
              <a:rPr lang="en-US" dirty="0"/>
              <a:t> – database for </a:t>
            </a:r>
            <a:r>
              <a:rPr lang="en-US"/>
              <a:t>protein interactions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665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5F"/>
      </a:accent1>
      <a:accent2>
        <a:srgbClr val="B4531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d4fd9c7-2e6c-4639-b2db-b3f6330421a3}" enabled="1" method="Privileged" siteId="{98ae7559-10dc-4288-8e2e-4593e62fe3e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2470</Words>
  <Application>Microsoft Macintosh PowerPoint</Application>
  <PresentationFormat>On-screen Show (16:9)</PresentationFormat>
  <Paragraphs>180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Exploration, Visualisation and Functional Interpretation</vt:lpstr>
      <vt:lpstr>Block 1 — Exploratory analysis is quality control</vt:lpstr>
      <vt:lpstr>Yesterday you produced a table. Today: is it real?</vt:lpstr>
      <vt:lpstr>Never test before you look</vt:lpstr>
      <vt:lpstr>Transform first — but not for the test</vt:lpstr>
      <vt:lpstr>PCA: what it does</vt:lpstr>
      <vt:lpstr>PCA: what to look for</vt:lpstr>
      <vt:lpstr>PCA: what it is not</vt:lpstr>
      <vt:lpstr>Sample-distance heatmap</vt:lpstr>
      <vt:lpstr>Sample-distance heatmap</vt:lpstr>
      <vt:lpstr>Sample-distance heatmap</vt:lpstr>
      <vt:lpstr>Heatmaps</vt:lpstr>
      <vt:lpstr>Heatmaps - One of the more misleading figures</vt:lpstr>
      <vt:lpstr>Block 2 — Figures that survive review</vt:lpstr>
      <vt:lpstr>Volcano plots</vt:lpstr>
      <vt:lpstr>Volcano plots</vt:lpstr>
      <vt:lpstr>MA plot</vt:lpstr>
      <vt:lpstr>MA plot</vt:lpstr>
      <vt:lpstr>Counts plots for individual genes</vt:lpstr>
      <vt:lpstr>Figure hygiene checklist</vt:lpstr>
      <vt:lpstr>Block 3 — Functional interpretation</vt:lpstr>
      <vt:lpstr>The problem</vt:lpstr>
      <vt:lpstr>Gene Ontology: the vocabulary</vt:lpstr>
      <vt:lpstr>GO evidence codes — annotations are not equal</vt:lpstr>
      <vt:lpstr>Other databases</vt:lpstr>
      <vt:lpstr>Over-representation analysis (ORA)</vt:lpstr>
      <vt:lpstr>ORA: the background set is the analysis</vt:lpstr>
      <vt:lpstr>ORA: other assumptions you are making</vt:lpstr>
      <vt:lpstr>Gene Set Enrichment Analysis (GSEA)</vt:lpstr>
      <vt:lpstr>ORA vs GSEA — when to use which</vt:lpstr>
      <vt:lpstr>What enrichment analysis cannot tell you</vt:lpstr>
      <vt:lpstr>This afternoon</vt:lpstr>
      <vt:lpstr>Useful links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Exploration, Visualisation and Functional Interpretation</dc:title>
  <dc:creator>Instructor</dc:creator>
  <cp:keywords/>
  <cp:lastModifiedBy>Karagic, Nidal</cp:lastModifiedBy>
  <cp:revision>4</cp:revision>
  <dcterms:created xsi:type="dcterms:W3CDTF">2026-09-30T08:47:20Z</dcterms:created>
  <dcterms:modified xsi:type="dcterms:W3CDTF">2026-10-13T19:13:19Z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output">
    <vt:lpwstr/>
  </property>
  <property fmtid="{D5CDD505-2E9C-101B-9397-08002B2CF9AE}" pid="4" name="subtitle">
    <vt:lpwstr>Day 3 — Transcriptomics Summer School, Sarajevo</vt:lpwstr>
  </property>
</Properties>
</file>