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75" autoAdjust="0"/>
  </p:normalViewPr>
  <p:slideViewPr>
    <p:cSldViewPr snapToGrid="0" snapToObjects="1">
      <p:cViewPr varScale="1">
        <p:scale>
          <a:sx n="159" d="100"/>
          <a:sy n="159" d="100"/>
        </p:scale>
        <p:origin x="81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70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kern="1200">
          <a:solidFill>
            <a:srgbClr val="1F4E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35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35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35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How an RNA-seq Experiment 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From extraction to FASTQ — Transcriptomics Summer School, Sarajevo</a:t>
            </a:r>
            <a:br/>
            <a:br/>
            <a:r>
              <a:t>Instructor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30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From Biology to a Count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Day 1 — Transcriptomics Summer School, Sarajevo</a:t>
            </a:r>
            <a:br/>
            <a:br/>
            <a:r>
              <a:t>Instructor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17 September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week in one slide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Morning (theory)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Afternoon (hands-on)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Biology → count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 from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Counts, models,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DESeq2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Visualisation,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PCA, volcano, GO, GSEA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Single-cell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Seurat QC → UMAP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Clustering, annotation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Clusters → cell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62400"/>
            <a:ext cx="8229600" cy="800100"/>
          </a:xfrm>
        </p:spPr>
        <p:txBody>
          <a:bodyPr/>
          <a:lstStyle/>
          <a:p>
            <a:pPr marL="0" lvl="0" indent="0">
              <a:buNone/>
            </a:pPr>
            <a:r>
              <a:t>You start each afternoon with a </a:t>
            </a:r>
            <a:r>
              <a:rPr b="1"/>
              <a:t>count matrix</a:t>
            </a:r>
            <a:r>
              <a:t>. Everything upstream of that is explained but not executed by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1 — What are we actually measuring?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we measure 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genome is the same in (almost) every cell of your body. The </a:t>
            </a:r>
            <a:r>
              <a:rPr b="1" dirty="0"/>
              <a:t>transcriptome is not.</a:t>
            </a:r>
          </a:p>
          <a:p>
            <a:pPr lvl="0"/>
            <a:r>
              <a:rPr dirty="0"/>
              <a:t>Genome: what the organism </a:t>
            </a:r>
            <a:r>
              <a:rPr i="1" dirty="0"/>
              <a:t>could</a:t>
            </a:r>
            <a:r>
              <a:rPr dirty="0"/>
              <a:t> do</a:t>
            </a:r>
          </a:p>
          <a:p>
            <a:pPr lvl="0"/>
            <a:r>
              <a:rPr dirty="0"/>
              <a:t>Transcriptome: what a cell </a:t>
            </a:r>
            <a:r>
              <a:rPr i="1" dirty="0"/>
              <a:t>is doing</a:t>
            </a:r>
            <a:r>
              <a:rPr dirty="0"/>
              <a:t>, right now, in this condition</a:t>
            </a:r>
          </a:p>
          <a:p>
            <a:pPr lvl="0"/>
            <a:r>
              <a:rPr dirty="0"/>
              <a:t>Proteome: what actually </a:t>
            </a:r>
            <a:r>
              <a:rPr i="1" dirty="0"/>
              <a:t>does</a:t>
            </a:r>
            <a:r>
              <a:rPr dirty="0"/>
              <a:t> the work</a:t>
            </a:r>
          </a:p>
          <a:p>
            <a:pPr marL="0" lvl="0" indent="0">
              <a:buNone/>
            </a:pPr>
            <a:r>
              <a:rPr dirty="0"/>
              <a:t>RNA is the layer that is simultaneously </a:t>
            </a:r>
            <a:r>
              <a:rPr b="1" dirty="0"/>
              <a:t>dynamic</a:t>
            </a:r>
            <a:r>
              <a:rPr dirty="0"/>
              <a:t>, </a:t>
            </a:r>
            <a:r>
              <a:rPr b="1" dirty="0"/>
              <a:t>informative</a:t>
            </a:r>
            <a:r>
              <a:rPr dirty="0"/>
              <a:t>, and </a:t>
            </a:r>
            <a:r>
              <a:rPr lang="de-DE" b="1" dirty="0"/>
              <a:t>"</a:t>
            </a:r>
            <a:r>
              <a:rPr b="1" dirty="0"/>
              <a:t>cheap</a:t>
            </a:r>
            <a:r>
              <a:rPr lang="de-DE" b="1" dirty="0"/>
              <a:t>"</a:t>
            </a:r>
            <a:r>
              <a:rPr b="1" dirty="0"/>
              <a:t> to measure genome-wide</a:t>
            </a:r>
            <a:r>
              <a:rPr dirty="0"/>
              <a:t>. That combination is why RNA-seq became the default assay in functional genomics.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“gene expression” means operationally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Transcription is not a switch. For a given gene in a given cell: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i="0"/>
                        <m:t>observed counts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 ∝ 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0"/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i="0"/>
                                <m:t>transcription rate</m:t>
                              </m:r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biology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0"/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i="0"/>
                                <m:t>transcript stability</m:t>
                              </m:r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biology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0"/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i="0"/>
                                <m:t>capture efficiency</m:t>
                              </m:r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technology</m:t>
                          </m:r>
                        </m:lim>
                      </m:limLow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RNA-seq measures </a:t>
                </a:r>
                <a:r>
                  <a:rPr b="1" dirty="0"/>
                  <a:t>steady-state abundance</a:t>
                </a:r>
                <a:r>
                  <a:rPr dirty="0"/>
                  <a:t>, not transcription rate. A gene can go up because it is transcribed more </a:t>
                </a:r>
                <a:r>
                  <a:rPr i="1" dirty="0"/>
                  <a:t>or</a:t>
                </a:r>
                <a:r>
                  <a:rPr dirty="0"/>
                  <a:t> because its mRNA is degraded less. Standard RNA-seq cannot tell these apart.</a:t>
                </a:r>
              </a:p>
              <a:p>
                <a:pPr marL="1270000" lvl="0" indent="0">
                  <a:buNone/>
                </a:pPr>
                <a:r>
                  <a:rPr sz="2000" dirty="0"/>
                  <a:t>This matters when you write the discussion section.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questions RNA-seq can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Differential expression</a:t>
            </a:r>
            <a:r>
              <a:t> — which genes differ between conditions, genotypes, tissues, time points?</a:t>
            </a:r>
          </a:p>
          <a:p>
            <a:pPr marL="0" lvl="0" indent="0">
              <a:buNone/>
            </a:pPr>
            <a:r>
              <a:rPr b="1"/>
              <a:t>Co-expression and modules</a:t>
            </a:r>
            <a:r>
              <a:t> — which genes move together, implying shared regulation?</a:t>
            </a:r>
          </a:p>
          <a:p>
            <a:pPr marL="0" lvl="0" indent="0">
              <a:buNone/>
            </a:pPr>
            <a:r>
              <a:rPr b="1"/>
              <a:t>Annotation and discovery</a:t>
            </a:r>
            <a:r>
              <a:t> — which transcripts and isoforms exist in this species at all? (</a:t>
            </a:r>
            <a:r>
              <a:rPr i="1"/>
              <a:t>de novo</a:t>
            </a:r>
            <a:r>
              <a:t> assembly, non-model organisms)</a:t>
            </a:r>
          </a:p>
          <a:p>
            <a:pPr marL="0" lvl="0" indent="0">
              <a:buNone/>
            </a:pPr>
            <a:r>
              <a:rPr b="1"/>
              <a:t>Composition</a:t>
            </a:r>
            <a:r>
              <a:t> — which cell types are present and in what proportions? (single cell, or deconvolution of bulk)</a:t>
            </a:r>
          </a:p>
          <a:p>
            <a:pPr marL="0" lvl="0" indent="0">
              <a:buNone/>
            </a:pPr>
            <a:r>
              <a:rPr b="1"/>
              <a:t>Allele-specific expression, splicing, editing, fusions</a:t>
            </a:r>
            <a:r>
              <a:t> — all possible, all require specific designs.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questions RNA-seq cannot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Protein abundance.</a:t>
            </a:r>
            <a:r>
              <a:t> mRNA–protein correlation is typically r ≈ 0.4–0.6 across genes. You did not measure the proteome.</a:t>
            </a:r>
          </a:p>
          <a:p>
            <a:pPr lvl="0"/>
            <a:r>
              <a:rPr b="1"/>
              <a:t>Causality.</a:t>
            </a:r>
            <a:r>
              <a:t> A gene going up 4-fold is not evidence it </a:t>
            </a:r>
            <a:r>
              <a:rPr i="1"/>
              <a:t>drives</a:t>
            </a:r>
            <a:r>
              <a:t> the phenotype.</a:t>
            </a:r>
          </a:p>
          <a:p>
            <a:pPr lvl="0"/>
            <a:r>
              <a:rPr b="1"/>
              <a:t>Absolute molecule counts.</a:t>
            </a:r>
            <a:r>
              <a:t> Without spike-ins, RNA-seq is compositional: it measures </a:t>
            </a:r>
            <a:r>
              <a:rPr i="1"/>
              <a:t>proportions</a:t>
            </a:r>
            <a:r>
              <a:t>, not amounts.</a:t>
            </a:r>
          </a:p>
          <a:p>
            <a:pPr lvl="0"/>
            <a:r>
              <a:rPr b="1"/>
              <a:t>Anything about the cells you lost</a:t>
            </a:r>
            <a:r>
              <a:t> during dissection, dissociation, or filtering.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spend a morning on the wet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You will never run a library prep in this workshop. Every afternoon hands you a </a:t>
            </a:r>
            <a:r>
              <a:rPr b="1" dirty="0"/>
              <a:t>count matrix</a:t>
            </a:r>
            <a:r>
              <a:rPr dirty="0"/>
              <a:t> and asks you to </a:t>
            </a:r>
            <a:r>
              <a:rPr dirty="0" err="1"/>
              <a:t>analyse</a:t>
            </a:r>
            <a:r>
              <a:rPr dirty="0"/>
              <a:t> it.</a:t>
            </a:r>
          </a:p>
          <a:p>
            <a:pPr marL="0" lvl="0" indent="0">
              <a:buNone/>
            </a:pPr>
            <a:r>
              <a:rPr dirty="0"/>
              <a:t>So why does this matter?</a:t>
            </a:r>
          </a:p>
          <a:p>
            <a:pPr marL="0" lvl="0" indent="0">
              <a:buNone/>
            </a:pPr>
            <a:r>
              <a:rPr dirty="0"/>
              <a:t>Because a count matrix is not a measurement. It is the </a:t>
            </a:r>
            <a:r>
              <a:rPr b="1" dirty="0"/>
              <a:t>end of a long chain of decisions</a:t>
            </a:r>
            <a:r>
              <a:rPr dirty="0"/>
              <a:t>, and almost every way an RNA-seq analysis can fail is a decision made before any code was written.</a:t>
            </a:r>
          </a:p>
          <a:p>
            <a:pPr marL="0" lvl="0" indent="0">
              <a:buNone/>
            </a:pPr>
            <a:r>
              <a:rPr dirty="0"/>
              <a:t>By the end of this</a:t>
            </a:r>
            <a:r>
              <a:rPr lang="de-DE" dirty="0"/>
              <a:t>,</a:t>
            </a:r>
            <a:r>
              <a:rPr dirty="0"/>
              <a:t> you should be able to look at a count matrix and ask the four or five questions that decide whether it is worth </a:t>
            </a:r>
            <a:r>
              <a:rPr dirty="0" err="1"/>
              <a:t>analysing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whole thing on one slide</a:t>
            </a:r>
          </a:p>
        </p:txBody>
      </p:sp>
      <p:pic>
        <p:nvPicPr>
          <p:cNvPr id="3" name="Picture 1" descr="workflow_figures/01_over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66800" y="1193800"/>
            <a:ext cx="7010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Overview of an RNA-seq experiment, from cells to FASTQ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Stage 1 — Extraction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Getting RNA out of a cell, intact</a:t>
            </a:r>
          </a:p>
        </p:txBody>
      </p:sp>
      <p:pic>
        <p:nvPicPr>
          <p:cNvPr id="3" name="Picture 1" descr="workflow_figures/02_extrac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31900" y="1193800"/>
            <a:ext cx="66675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RNA extraction: lysis, then phase separation or a silica column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actually in the tube</a:t>
            </a:r>
          </a:p>
        </p:txBody>
      </p:sp>
      <p:pic>
        <p:nvPicPr>
          <p:cNvPr id="3" name="Picture 1" descr="workflow_figures/03_total_rna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193800"/>
            <a:ext cx="71120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Composition of total RNA, and integrity assessed from the ribosomal peaks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numbers to demand, every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Yield</a:t>
            </a:r>
            <a:r>
              <a:t> — ng/µL, by fluorometry (Qubit), not by absorbance. A NanoDrop cannot tell RNA from free nucleotides and will cheerfully over-report by twofold.</a:t>
            </a:r>
          </a:p>
          <a:p>
            <a:pPr marL="0" lvl="0" indent="0">
              <a:buNone/>
            </a:pPr>
            <a:r>
              <a:rPr b="1"/>
              <a:t>Integrity</a:t>
            </a:r>
            <a:r>
              <a:t> — the RIN, from a Bioanalyzer or TapeStation trace.</a:t>
            </a:r>
          </a:p>
          <a:p>
            <a:pPr marL="1270000" lvl="0" indent="0">
              <a:buNone/>
            </a:pPr>
            <a:r>
              <a:rPr sz="2000"/>
              <a:t>RIN above 8 is good. Between 6 and 8, usable with care. Below 6, the 3′ ends are over-represented and your gene-level counts are biased in a way that correlates with transcript length.</a:t>
            </a:r>
          </a:p>
          <a:p>
            <a:pPr marL="0" lvl="0" indent="0">
              <a:buNone/>
            </a:pPr>
            <a:r>
              <a:t>And record the RIN </a:t>
            </a:r>
            <a:r>
              <a:rPr b="1"/>
              <a:t>per sample</a:t>
            </a:r>
            <a:r>
              <a:t>. If your treated samples happen to have lower RIN than your controls, degradation is confounded with treatment and no model can separate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Stage 2 — Library preparation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Removing the 85%</a:t>
            </a:r>
          </a:p>
        </p:txBody>
      </p:sp>
      <p:pic>
        <p:nvPicPr>
          <p:cNvPr id="3" name="Picture 1" descr="workflow_figures/04_enrich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627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Poly-A selection versus rRNA depletion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Turning RNA into a sequenceable construct</a:t>
            </a:r>
          </a:p>
        </p:txBody>
      </p:sp>
      <p:pic>
        <p:nvPicPr>
          <p:cNvPr id="3" name="Picture 1" descr="workflow_figures/05_library_pre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94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The six steps of library preparation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Anatomy of one library molecule</a:t>
            </a:r>
          </a:p>
        </p:txBody>
      </p:sp>
      <p:pic>
        <p:nvPicPr>
          <p:cNvPr id="3" name="Picture 1" descr="workflow_figures/06_library_molecul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389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The finished construct and the four reads taken from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the dUTP step earns its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Without it, you know a read came from a locus. You do not know </a:t>
            </a:r>
            <a:r>
              <a:rPr b="1"/>
              <a:t>which strand</a:t>
            </a:r>
            <a:r>
              <a:t> it came from.</a:t>
            </a:r>
          </a:p>
          <a:p>
            <a:pPr marL="0" lvl="0" indent="0">
              <a:buNone/>
            </a:pPr>
            <a:r>
              <a:t>That matters more often than people expect:</a:t>
            </a:r>
          </a:p>
          <a:p>
            <a:pPr lvl="0"/>
            <a:r>
              <a:t>overlapping genes on opposite strands — common in compact genomes, and in bacteria</a:t>
            </a:r>
          </a:p>
          <a:p>
            <a:pPr lvl="0"/>
            <a:r>
              <a:t>antisense transcripts, which are regulatory, not noise</a:t>
            </a:r>
          </a:p>
          <a:p>
            <a:pPr lvl="0"/>
            <a:r>
              <a:t>distinguishing a real transcript from pervasive background transcription</a:t>
            </a:r>
          </a:p>
          <a:p>
            <a:pPr marL="0" lvl="0" indent="0">
              <a:buNone/>
            </a:pPr>
            <a:r>
              <a:t>A stranded library costs nothing extra and answers a question an unstranded one cannot. There is no good reason to prepare an unstranded RNA-seq library today, and you will still meet them in public data — check before you reuse someone else’s counts.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Every sample gets a barcode</a:t>
            </a:r>
          </a:p>
        </p:txBody>
      </p:sp>
      <p:pic>
        <p:nvPicPr>
          <p:cNvPr id="3" name="Picture 1" descr="workflow_figures/07_multiplexin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65659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Multiplexing: index pairs, then one pooled lane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Stage 3 — Sequencing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Making one molecule visible</a:t>
            </a:r>
          </a:p>
        </p:txBody>
      </p:sp>
      <p:pic>
        <p:nvPicPr>
          <p:cNvPr id="3" name="Picture 1" descr="workflow_figures/08_flowcel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722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Flow cell and cluster generation by bridge amplification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One base per cycle, 150 times</a:t>
            </a:r>
          </a:p>
        </p:txBody>
      </p:sp>
      <p:pic>
        <p:nvPicPr>
          <p:cNvPr id="3" name="Picture 1" descr="workflow_figures/09_sequencin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193800"/>
            <a:ext cx="61595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Sequencing by synthesis, and the decline in base quality along the read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“depth” buys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698500"/>
          </a:xfrm>
        </p:spPr>
        <p:txBody>
          <a:bodyPr/>
          <a:lstStyle/>
          <a:p>
            <a:pPr marL="0" lvl="0" indent="0">
              <a:buNone/>
            </a:pPr>
            <a:r>
              <a:t>Depth is reads per sample, and it trades against sample number at fixed cost. The trade is not symmetric.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019300"/>
          <a:ext cx="8229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Depth per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Differential expression, well-expressed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10–20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Low-expressed genes, or subtle fold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30–40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Novel transcript or isoform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60–100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Allele-specific or splicing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 M+, paired-end essential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4076700"/>
            <a:ext cx="8229600" cy="69850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t>Beyond about 20 M reads, </a:t>
            </a:r>
            <a:r>
              <a:rPr b="1"/>
              <a:t>another biological replicate buys more statistical power than another 10 M reads.</a:t>
            </a:r>
            <a:r>
              <a:t> Sequencing deeper reduces technical noise, which was never your limiting factor; more replicates reduce biological variance, which 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Stage 4 — Demultiplexing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Sorting the pile back into samples</a:t>
            </a:r>
          </a:p>
        </p:txBody>
      </p:sp>
      <p:pic>
        <p:nvPicPr>
          <p:cNvPr id="3" name="Picture 1" descr="workflow_figures/10_demultiplexin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94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Demultiplexing pooled reads into per-sample FASTQ files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And this is what lands in your folder</a:t>
            </a:r>
          </a:p>
        </p:txBody>
      </p:sp>
      <p:pic>
        <p:nvPicPr>
          <p:cNvPr id="3" name="Picture 1" descr="workflow_figures/11_fastq_to_coun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611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3815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The FASTQ record, and the path from reads to a count matrix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What to take away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Where each stage can betray you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 you fix it later?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degraded RNA, 3′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RIN confounded with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Enrichment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wrong chemistry for the RNA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Library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unstranded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Library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low-complexity, over-amplified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partly (deduplication)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one condition per 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too shallow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yes, by resequencing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low-quality read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yes, by trimming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Demultiplex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wrong sample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yes, by re-running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67200"/>
            <a:ext cx="8229600" cy="482600"/>
          </a:xfrm>
        </p:spPr>
        <p:txBody>
          <a:bodyPr/>
          <a:lstStyle/>
          <a:p>
            <a:pPr marL="0" lvl="0" indent="0">
              <a:buNone/>
            </a:pPr>
            <a:r>
              <a:t>Seven of these ten are decided before the machine starts.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five questions to ask about any count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What was the </a:t>
            </a:r>
            <a:r>
              <a:rPr b="1"/>
              <a:t>RIN</a:t>
            </a:r>
            <a:r>
              <a:t>, per sample, and does it correlate with condition?</a:t>
            </a:r>
          </a:p>
          <a:p>
            <a:pPr marL="342900" lvl="0" indent="-342900">
              <a:buAutoNum type="arabicPeriod"/>
            </a:pPr>
            <a:r>
              <a:rPr b="1"/>
              <a:t>Poly-A or rRNA-depleted</a:t>
            </a:r>
            <a:r>
              <a:t>, and does that match the RNA class I care about?</a:t>
            </a:r>
          </a:p>
          <a:p>
            <a:pPr marL="342900" lvl="0" indent="-342900">
              <a:buAutoNum type="arabicPeriod"/>
            </a:pPr>
            <a:r>
              <a:rPr b="1"/>
              <a:t>Stranded or unstranded</a:t>
            </a:r>
            <a:r>
              <a:t>, and in which orientation?</a:t>
            </a:r>
          </a:p>
          <a:p>
            <a:pPr marL="342900" lvl="0" indent="-342900">
              <a:buAutoNum type="arabicPeriod"/>
            </a:pPr>
            <a:r>
              <a:t>How many reads per sample, and were they all on the </a:t>
            </a:r>
            <a:r>
              <a:rPr b="1"/>
              <a:t>same flow cell</a:t>
            </a:r>
            <a:r>
              <a:t>?</a:t>
            </a:r>
          </a:p>
          <a:p>
            <a:pPr marL="342900" lvl="0" indent="-342900">
              <a:buAutoNum type="arabicPeriod"/>
            </a:pPr>
            <a:r>
              <a:t>Which </a:t>
            </a:r>
            <a:r>
              <a:rPr b="1"/>
              <a:t>reference and annotation</a:t>
            </a:r>
            <a:r>
              <a:t> were the counts produced against?</a:t>
            </a:r>
          </a:p>
          <a:p>
            <a:pPr marL="0" lvl="0" indent="0">
              <a:buNone/>
            </a:pPr>
            <a:r>
              <a:t>Ask these of your collaborators, and of every public dataset you reuse. If a dataset’s authors cannot answer question 1 or 3, treat their count matrix with suspicion rather than gratitude.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we do for the rest of the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Everything from here on lives in the last box of that chain.</a:t>
            </a:r>
          </a:p>
          <a:p>
            <a:pPr marL="0" lvl="0" indent="0">
              <a:buNone/>
            </a:pPr>
            <a:r>
              <a:t>The counts you will analyse this afternoon were produced by exactly the process you have just seen — by someone else, some time ago, with decisions you did not make and mostly cannot inspect.</a:t>
            </a:r>
          </a:p>
          <a:p>
            <a:pPr marL="0" lvl="0" indent="0">
              <a:buNone/>
            </a:pPr>
            <a:r>
              <a:t>That is the normal situation for a computational biologist. Knowing what those decisions were is the difference between analysing data and processing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5F"/>
      </a:accent1>
      <a:accent2>
        <a:srgbClr val="B4531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Microsoft Macintosh PowerPoint</Application>
  <PresentationFormat>On-screen Show (16:9)</PresentationFormat>
  <Paragraphs>149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 Math</vt:lpstr>
      <vt:lpstr>Office Theme</vt:lpstr>
      <vt:lpstr>How an RNA-seq Experiment Works</vt:lpstr>
      <vt:lpstr>From Biology to a Count Table</vt:lpstr>
      <vt:lpstr>The week in one slide</vt:lpstr>
      <vt:lpstr>Block 1 — What are we actually measuring?</vt:lpstr>
      <vt:lpstr>Why we measure RNA</vt:lpstr>
      <vt:lpstr>What “gene expression” means operationally</vt:lpstr>
      <vt:lpstr>The questions RNA-seq can answer</vt:lpstr>
      <vt:lpstr>The questions RNA-seq cannot answer</vt:lpstr>
      <vt:lpstr>Why spend a morning on the wet lab</vt:lpstr>
      <vt:lpstr>The whole thing on one slide</vt:lpstr>
      <vt:lpstr>Stage 1 — Extraction</vt:lpstr>
      <vt:lpstr>Getting RNA out of a cell, intact</vt:lpstr>
      <vt:lpstr>What is actually in the tube</vt:lpstr>
      <vt:lpstr>Two numbers to demand, every time</vt:lpstr>
      <vt:lpstr>Stage 2 — Library preparation</vt:lpstr>
      <vt:lpstr>Removing the 85%</vt:lpstr>
      <vt:lpstr>Turning RNA into a sequenceable construct</vt:lpstr>
      <vt:lpstr>Anatomy of one library molecule</vt:lpstr>
      <vt:lpstr>Why the dUTP step earns its place</vt:lpstr>
      <vt:lpstr>Every sample gets a barcode</vt:lpstr>
      <vt:lpstr>Stage 3 — Sequencing</vt:lpstr>
      <vt:lpstr>Making one molecule visible</vt:lpstr>
      <vt:lpstr>One base per cycle, 150 times</vt:lpstr>
      <vt:lpstr>What “depth” buys you</vt:lpstr>
      <vt:lpstr>Stage 4 — Demultiplexing</vt:lpstr>
      <vt:lpstr>Sorting the pile back into samples</vt:lpstr>
      <vt:lpstr>And this is what lands in your folder</vt:lpstr>
      <vt:lpstr>What to take away</vt:lpstr>
      <vt:lpstr>Where each stage can betray you</vt:lpstr>
      <vt:lpstr>The five questions to ask about any count matrix</vt:lpstr>
      <vt:lpstr>What we do for the rest of the week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an RNA-seq Experiment Works</dc:title>
  <dc:creator>Instructor</dc:creator>
  <cp:keywords/>
  <cp:lastModifiedBy>Karagic, Nidal</cp:lastModifiedBy>
  <cp:revision>1</cp:revision>
  <dcterms:created xsi:type="dcterms:W3CDTF">2026-09-30T08:47:18Z</dcterms:created>
  <dcterms:modified xsi:type="dcterms:W3CDTF">2026-10-07T10:50:55Z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output">
    <vt:lpwstr/>
  </property>
  <property fmtid="{D5CDD505-2E9C-101B-9397-08002B2CF9AE}" pid="4" name="subtitle">
    <vt:lpwstr>From extraction to FASTQ — Transcriptomics Summer School, Sarajevo</vt:lpwstr>
  </property>
</Properties>
</file>