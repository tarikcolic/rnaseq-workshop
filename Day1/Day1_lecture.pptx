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308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75" autoAdjust="0"/>
  </p:normalViewPr>
  <p:slideViewPr>
    <p:cSldViewPr snapToGrid="0" snapToObjects="1">
      <p:cViewPr varScale="1">
        <p:scale>
          <a:sx n="159" d="100"/>
          <a:sy n="159" d="100"/>
        </p:scale>
        <p:origin x="81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2E636-130E-6145-985F-FF5971C10F18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07D14-04FD-EF4F-BDBD-ED22DE693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6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07D14-04FD-EF4F-BDBD-ED22DE693E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07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1CA3A-8D4D-FB79-AF70-1A4B94E7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FB1A9-89B2-80C6-1BAC-0B673C3F4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6E201-D0AA-02F8-08BC-EA93A65E0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AB8EC-7227-A824-D082-AFE393781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07D14-04FD-EF4F-BDBD-ED22DE693EE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99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DA608-EEA0-5B2B-F153-F83EC6FEA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C5C9B-8AE6-E0CC-813F-E37E610B8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AEEEC-DB8A-4CE4-B9A4-DC028EAC7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7C19A-04BC-CB94-4740-C28E88AB2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07D14-04FD-EF4F-BDBD-ED22DE693EE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27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A45BE-D057-E6EB-F49F-03DDD3FD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9D158-6160-374E-EE97-DC5F02832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8C5A2-C381-9FE7-A557-F976EA08F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B30B4-8E86-1B1B-5B8B-CD1BEB323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07D14-04FD-EF4F-BDBD-ED22DE693EE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57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8FF87-B5A9-2CD1-DF6D-7C003B0D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0C3D5-F5E3-FC64-012B-69D3A2AA4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C2F92-9F2A-567D-D39C-9A9AF8641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08B33-9D63-A8B4-D601-B54741C41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07D14-04FD-EF4F-BDBD-ED22DE693EE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6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0E017-D448-F434-9225-BD976D8FB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D9336-ED82-A555-9E5F-8915261D9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1F7F8-5BF3-8331-4085-D36C3F501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2626E-8BA1-7B76-372D-364D43C93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07D14-04FD-EF4F-BDBD-ED22DE693E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92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6BBF5-F140-CFFB-FBC7-C26F8187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46F18-C173-A5EE-75B5-22EE37185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89AFD-7ADB-5AD7-BA6B-0551D7866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D4777-E74E-29B8-49CC-2340C55F6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07D14-04FD-EF4F-BDBD-ED22DE693EE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7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A0853-AC3A-99B0-EE63-DC8DF0A0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7E9B4-53DA-6EF8-F012-60D640B53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74992-AEB1-9B72-8693-87B5EFB8E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116FA-563B-7ECE-C8BA-1F18E40BF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07D14-04FD-EF4F-BDBD-ED22DE693EE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80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70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600" kern="1200">
          <a:solidFill>
            <a:srgbClr val="1F4E5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35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35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35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35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35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From Biology to a Count 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Day 1 — Transcriptomics Summer School, Sarajevo</a:t>
            </a:r>
            <a:br/>
            <a:br/>
            <a:r>
              <a:t>Instructor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17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week in one slide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Morning (theory)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Afternoon (hands-on)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Biology → count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 from zero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Counts, models,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DESeq2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Visualisation, pathways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PCA, volcano, GO, GSEA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Single-cell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Seurat QC → UMAP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Clustering, annotation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Clusters → cell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62400"/>
            <a:ext cx="8229600" cy="800100"/>
          </a:xfrm>
        </p:spPr>
        <p:txBody>
          <a:bodyPr/>
          <a:lstStyle/>
          <a:p>
            <a:pPr marL="0" lvl="0" indent="0">
              <a:buNone/>
            </a:pPr>
            <a:r>
              <a:t>You start each afternoon with a </a:t>
            </a:r>
            <a:r>
              <a:rPr b="1"/>
              <a:t>count matrix</a:t>
            </a:r>
            <a:r>
              <a:t>. Everything upstream of that is explained but not executed by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1 — What are we actually measuring?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we measure RNA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genome is the same in (almost) every cell of your body. The </a:t>
            </a:r>
            <a:r>
              <a:rPr b="1" dirty="0"/>
              <a:t>transcriptome is not.</a:t>
            </a:r>
          </a:p>
          <a:p>
            <a:pPr lvl="0"/>
            <a:r>
              <a:rPr dirty="0"/>
              <a:t>Genome: what the organism </a:t>
            </a:r>
            <a:r>
              <a:rPr i="1" dirty="0"/>
              <a:t>could</a:t>
            </a:r>
            <a:r>
              <a:rPr dirty="0"/>
              <a:t> do</a:t>
            </a:r>
          </a:p>
          <a:p>
            <a:pPr lvl="0"/>
            <a:r>
              <a:rPr dirty="0"/>
              <a:t>Transcriptome: what a cell </a:t>
            </a:r>
            <a:r>
              <a:rPr i="1" dirty="0"/>
              <a:t>is doing</a:t>
            </a:r>
            <a:r>
              <a:rPr dirty="0"/>
              <a:t>, right now, in this condition</a:t>
            </a:r>
          </a:p>
          <a:p>
            <a:pPr lvl="0"/>
            <a:r>
              <a:rPr dirty="0"/>
              <a:t>Proteome: what actually </a:t>
            </a:r>
            <a:r>
              <a:rPr i="1" dirty="0"/>
              <a:t>does</a:t>
            </a:r>
            <a:r>
              <a:rPr dirty="0"/>
              <a:t> the work</a:t>
            </a:r>
          </a:p>
          <a:p>
            <a:pPr marL="0" lvl="0" indent="0">
              <a:buNone/>
            </a:pPr>
            <a:r>
              <a:rPr dirty="0"/>
              <a:t>RNA is the layer that is simultaneously </a:t>
            </a:r>
            <a:r>
              <a:rPr b="1" dirty="0"/>
              <a:t>dynamic</a:t>
            </a:r>
            <a:r>
              <a:rPr dirty="0"/>
              <a:t>, </a:t>
            </a:r>
            <a:r>
              <a:rPr b="1" dirty="0"/>
              <a:t>informative</a:t>
            </a:r>
            <a:r>
              <a:rPr dirty="0"/>
              <a:t>, and </a:t>
            </a:r>
            <a:r>
              <a:rPr lang="de-DE" b="1" dirty="0"/>
              <a:t>"</a:t>
            </a:r>
            <a:r>
              <a:rPr b="1" dirty="0"/>
              <a:t>cheap</a:t>
            </a:r>
            <a:r>
              <a:rPr lang="de-DE" b="1" dirty="0"/>
              <a:t>"</a:t>
            </a:r>
            <a:r>
              <a:rPr b="1" dirty="0"/>
              <a:t> to measure genome-wide</a:t>
            </a:r>
            <a:r>
              <a:rPr dirty="0"/>
              <a:t>. That combination is why RNA-seq became the default assay in functional genomics.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“gene expression” means operationally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Transcription is not a switch. For a given gene in a given cell: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i="0"/>
                        <m:t>observed counts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 ∝ </m:t>
                      </m:r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i="0"/>
                              </m:ctrlPr>
                            </m:limLowPr>
                            <m:e>
                              <m:r>
                                <m:rPr>
                                  <m:nor/>
                                </m:rPr>
                                <a:rPr i="0"/>
                                <m:t>transcription rate</m:t>
                              </m:r>
                            </m:e>
                            <m:li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</m:rPr>
                            <a:rPr i="0"/>
                            <m:t>biology</m:t>
                          </m:r>
                        </m:lim>
                      </m:limLow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i="0"/>
                              </m:ctrlPr>
                            </m:limLowPr>
                            <m:e>
                              <m:r>
                                <m:rPr>
                                  <m:nor/>
                                </m:rPr>
                                <a:rPr i="0"/>
                                <m:t>transcript stability</m:t>
                              </m:r>
                            </m:e>
                            <m:li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</m:rPr>
                            <a:rPr i="0"/>
                            <m:t>biology</m:t>
                          </m:r>
                        </m:lim>
                      </m:limLow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i="0"/>
                              </m:ctrlPr>
                            </m:limLowPr>
                            <m:e>
                              <m:r>
                                <m:rPr>
                                  <m:nor/>
                                </m:rPr>
                                <a:rPr i="0"/>
                                <m:t>capture efficiency</m:t>
                              </m:r>
                            </m:e>
                            <m:li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</m:rPr>
                            <a:rPr i="0"/>
                            <m:t>technology</m:t>
                          </m:r>
                        </m:lim>
                      </m:limLow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RNA-seq measures </a:t>
                </a:r>
                <a:r>
                  <a:rPr b="1" dirty="0"/>
                  <a:t>steady-state abundance</a:t>
                </a:r>
                <a:r>
                  <a:rPr dirty="0"/>
                  <a:t>, not transcription rate. A gene can go up because it is transcribed more </a:t>
                </a:r>
                <a:r>
                  <a:rPr i="1" dirty="0"/>
                  <a:t>or</a:t>
                </a:r>
                <a:r>
                  <a:rPr dirty="0"/>
                  <a:t> because its mRNA is degraded less. Standard RNA-seq cannot tell these apart.</a:t>
                </a:r>
              </a:p>
              <a:p>
                <a:pPr marL="1270000" lvl="0" indent="0">
                  <a:buNone/>
                </a:pPr>
                <a:r>
                  <a:rPr sz="2000" dirty="0"/>
                  <a:t>This matters when you write the discussion section.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3" t="-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questions RNA-seq can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Differential expression</a:t>
            </a:r>
            <a:r>
              <a:t> — which genes differ between conditions, genotypes, tissues, time points?</a:t>
            </a:r>
          </a:p>
          <a:p>
            <a:pPr marL="0" lvl="0" indent="0">
              <a:buNone/>
            </a:pPr>
            <a:r>
              <a:rPr b="1"/>
              <a:t>Co-expression and modules</a:t>
            </a:r>
            <a:r>
              <a:t> — which genes move together, implying shared regulation?</a:t>
            </a:r>
          </a:p>
          <a:p>
            <a:pPr marL="0" lvl="0" indent="0">
              <a:buNone/>
            </a:pPr>
            <a:r>
              <a:rPr b="1"/>
              <a:t>Annotation and discovery</a:t>
            </a:r>
            <a:r>
              <a:t> — which transcripts and isoforms exist in this species at all? (</a:t>
            </a:r>
            <a:r>
              <a:rPr i="1"/>
              <a:t>de novo</a:t>
            </a:r>
            <a:r>
              <a:t> assembly, non-model organisms)</a:t>
            </a:r>
          </a:p>
          <a:p>
            <a:pPr marL="0" lvl="0" indent="0">
              <a:buNone/>
            </a:pPr>
            <a:r>
              <a:rPr b="1"/>
              <a:t>Composition</a:t>
            </a:r>
            <a:r>
              <a:t> — which cell types are present and in what proportions? (single cell, or deconvolution of bulk)</a:t>
            </a:r>
          </a:p>
          <a:p>
            <a:pPr marL="0" lvl="0" indent="0">
              <a:buNone/>
            </a:pPr>
            <a:r>
              <a:rPr b="1"/>
              <a:t>Allele-specific expression, splicing, editing, fusions</a:t>
            </a:r>
            <a:r>
              <a:t> — all possible, all require specific designs.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questions RNA-seq cannot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Protein abundance.</a:t>
            </a:r>
            <a:r>
              <a:t> mRNA–protein correlation is typically r ≈ 0.4–0.6 across genes. You did not measure the proteome.</a:t>
            </a:r>
          </a:p>
          <a:p>
            <a:pPr lvl="0"/>
            <a:r>
              <a:rPr b="1"/>
              <a:t>Causality.</a:t>
            </a:r>
            <a:r>
              <a:t> A gene going up 4-fold is not evidence it </a:t>
            </a:r>
            <a:r>
              <a:rPr i="1"/>
              <a:t>drives</a:t>
            </a:r>
            <a:r>
              <a:t> the phenotype.</a:t>
            </a:r>
          </a:p>
          <a:p>
            <a:pPr lvl="0"/>
            <a:r>
              <a:rPr b="1"/>
              <a:t>Absolute molecule counts.</a:t>
            </a:r>
            <a:r>
              <a:t> Without spike-ins, RNA-seq is compositional: it measures </a:t>
            </a:r>
            <a:r>
              <a:rPr i="1"/>
              <a:t>proportions</a:t>
            </a:r>
            <a:r>
              <a:t>, not amounts.</a:t>
            </a:r>
          </a:p>
          <a:p>
            <a:pPr lvl="0"/>
            <a:r>
              <a:rPr b="1"/>
              <a:t>Anything about the cells you lost</a:t>
            </a:r>
            <a:r>
              <a:t> during dissection, dissociation, or filtering.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Bulk vs single cell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Bulk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Single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Unit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tissue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individual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Genes/cell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~15–25k (tissue)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~1–5k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 per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10–100×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Statistical power for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high</a:t>
                      </a:r>
                      <a:r>
                        <a:t> (true replicates)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(n = donors, not cells)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Cell-type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none (or inferred)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Rare populations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detectable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~100 ng 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live, intact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848162A-AF29-5048-687C-17AFC172E6C5}"/>
              </a:ext>
            </a:extLst>
          </p:cNvPr>
          <p:cNvSpPr/>
          <p:nvPr/>
        </p:nvSpPr>
        <p:spPr>
          <a:xfrm>
            <a:off x="3200400" y="1475874"/>
            <a:ext cx="5486400" cy="20953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E140D-0459-A63E-2F87-26C0E3175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AD1D-8BD4-04F4-0B8F-492183E0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Bulk vs single cell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A0B0BBD-7A11-F150-5353-B2B950D014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Bulk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Single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Unit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tissue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individual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Genes/cell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~15–25k (tissue)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~1–5k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 per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10–100×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Statistical power for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high</a:t>
                      </a:r>
                      <a:r>
                        <a:t> (true replicates)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(n = donors, not cells)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Cell-type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none (or inferred)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Rare populations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detectable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~100 ng 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live, intact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2D6F7CE-56A1-C654-8BD5-B23A7AA229CD}"/>
              </a:ext>
            </a:extLst>
          </p:cNvPr>
          <p:cNvSpPr/>
          <p:nvPr/>
        </p:nvSpPr>
        <p:spPr>
          <a:xfrm>
            <a:off x="3200400" y="1783080"/>
            <a:ext cx="5486400" cy="178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25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E6D0B-4C98-3265-BAB3-08D6B3CDA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152E3-840C-4A4B-0EF7-EFEBD1B3D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Bulk vs single cell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B956893-C8F3-1E49-5744-BB037E234C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Bulk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Single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Unit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tissue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individual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Genes/cell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~15–25k (tissue)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~1–5k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 per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10–100×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Statistical power for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high</a:t>
                      </a:r>
                      <a:r>
                        <a:t> (true replicates)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(n = donors, not cells)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Cell-type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none (or inferred)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Rare populations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detectable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~100 ng 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live, intact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5EEAF3E-48C2-5627-5CD0-78C5408D1569}"/>
              </a:ext>
            </a:extLst>
          </p:cNvPr>
          <p:cNvSpPr/>
          <p:nvPr/>
        </p:nvSpPr>
        <p:spPr>
          <a:xfrm>
            <a:off x="3200400" y="2093976"/>
            <a:ext cx="5486400" cy="1477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0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6F9B-8F78-AD96-8F88-76E48380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DEF3-F037-D989-514D-0871F848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Bulk vs single cell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CCA3452-85CB-EA54-6703-1F356079CE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Bulk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Single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Unit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tissue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individual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Genes/cell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~15–25k (tissue)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~1–5k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 per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10–100×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Statistical power for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high</a:t>
                      </a:r>
                      <a:r>
                        <a:t> (true replicates)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(n = donors, not cells)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Cell-type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none (or inferred)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Rare populations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detectable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~100 ng 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live, intact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280E734-E68D-4296-B159-4339C9D9B4E5}"/>
              </a:ext>
            </a:extLst>
          </p:cNvPr>
          <p:cNvSpPr/>
          <p:nvPr/>
        </p:nvSpPr>
        <p:spPr>
          <a:xfrm>
            <a:off x="3200400" y="2377440"/>
            <a:ext cx="5486400" cy="1193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02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D78CB-DA0A-1142-D621-A691CB7A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E2A5-617A-27B6-CDBD-0831B08B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Bulk vs single cell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45FE18A-B1A6-66E7-6BDD-25F4189A87E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Bulk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Single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Unit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tissue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individual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Genes/cell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~15–25k (tissue)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~1–5k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 per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10–100×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Statistical power for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high</a:t>
                      </a:r>
                      <a:r>
                        <a:t> (true replicates)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(n = donors, not cells)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Cell-type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none (or inferred)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Rare populations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detectable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~100 ng 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live, intact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6DE6E8B-09ED-40F6-EA8A-F8B8B91BDAD0}"/>
              </a:ext>
            </a:extLst>
          </p:cNvPr>
          <p:cNvSpPr/>
          <p:nvPr/>
        </p:nvSpPr>
        <p:spPr>
          <a:xfrm>
            <a:off x="3200400" y="2688336"/>
            <a:ext cx="5486400" cy="882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52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FAB35-C65D-48B2-0730-CFD60826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70CEF-79D0-0BBE-093E-78E63547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Bulk vs single cell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3F6A1D9-5FC5-1172-A2DE-479FABE22E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Bulk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Single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Unit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tissue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individual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Genes/cell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~15–25k (tissue)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~1–5k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 per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10–100×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Statistical power for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high</a:t>
                      </a:r>
                      <a:r>
                        <a:t> (true replicates)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(n = donors, not cells)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Cell-type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none (or inferred)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Rare populations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detectable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~100 ng 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live, intact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CDDA1DB-0695-34E1-3692-28E729DF3EF0}"/>
              </a:ext>
            </a:extLst>
          </p:cNvPr>
          <p:cNvSpPr/>
          <p:nvPr/>
        </p:nvSpPr>
        <p:spPr>
          <a:xfrm>
            <a:off x="3200400" y="2990088"/>
            <a:ext cx="5486400" cy="581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86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5C45-6542-DF16-F0E9-F39953C07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BF4F3-99E6-0687-5340-109F8BB5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Bulk vs single cell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3B5AEA2-A681-9D92-09B6-697D5FEF39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Bulk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Single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Unit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tissue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individual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Genes/cell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~15–25k (tissue)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~1–5k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 per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10–100×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Statistical power for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high</a:t>
                      </a:r>
                      <a:r>
                        <a:t> (true replicates)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(n = donors, not cells)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Cell-type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none (or inferred)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Rare populations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detectable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~100 ng 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live, intact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CF315D0-9DF8-CDDC-6274-0704EAB739FF}"/>
              </a:ext>
            </a:extLst>
          </p:cNvPr>
          <p:cNvSpPr/>
          <p:nvPr/>
        </p:nvSpPr>
        <p:spPr>
          <a:xfrm>
            <a:off x="3200400" y="3282696"/>
            <a:ext cx="5486400" cy="2885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40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BFEF-1DD2-A060-20A3-383AE273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86E7C-6985-7F36-DF76-A414B44A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Bulk vs single cell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D9E3281-27C2-20DF-60EC-291BF9A9E6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673186"/>
              </p:ext>
            </p:extLst>
          </p:nvPr>
        </p:nvGraphicFramePr>
        <p:xfrm>
          <a:off x="457200" y="11938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Bulk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Single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Unit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tissue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individual cell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Genes/cell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~15–25k (tissue)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~1–5k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 per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10–100×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Statistical power for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high</a:t>
                      </a:r>
                      <a:r>
                        <a:t> (true replicates)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(n = donors, not cells)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Cell-type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none (or inferred)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Rare populations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detectable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~100 ng 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live, intact cells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or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fixed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cells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631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Choosing between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Use </a:t>
            </a:r>
            <a:r>
              <a:rPr b="1"/>
              <a:t>bulk</a:t>
            </a:r>
            <a:r>
              <a:t> when:</a:t>
            </a:r>
          </a:p>
          <a:p>
            <a:pPr lvl="0"/>
            <a:r>
              <a:t>Your question is about a </a:t>
            </a:r>
            <a:r>
              <a:rPr i="1"/>
              <a:t>condition</a:t>
            </a:r>
            <a:r>
              <a:t>, not a cell type</a:t>
            </a:r>
          </a:p>
          <a:p>
            <a:pPr lvl="0"/>
            <a:r>
              <a:t>The tissue is reasonably homogeneous, or you only care about the average</a:t>
            </a:r>
          </a:p>
          <a:p>
            <a:pPr lvl="0"/>
            <a:r>
              <a:t>You need statistical power and many replicates</a:t>
            </a:r>
          </a:p>
          <a:p>
            <a:pPr lvl="0"/>
            <a:r>
              <a:t>Your material is frozen, fixed, or degraded (FFPE, archived)</a:t>
            </a:r>
          </a:p>
          <a:p>
            <a:pPr marL="0" lvl="0" indent="0">
              <a:buNone/>
            </a:pPr>
            <a:r>
              <a:t>Use </a:t>
            </a:r>
            <a:r>
              <a:rPr b="1"/>
              <a:t>single cell</a:t>
            </a:r>
            <a:r>
              <a:t> when:</a:t>
            </a:r>
          </a:p>
          <a:p>
            <a:pPr lvl="0"/>
            <a:r>
              <a:t>Your question </a:t>
            </a:r>
            <a:r>
              <a:rPr i="1"/>
              <a:t>is</a:t>
            </a:r>
            <a:r>
              <a:t> about composition or heterogeneity</a:t>
            </a:r>
          </a:p>
          <a:p>
            <a:pPr lvl="0"/>
            <a:r>
              <a:t>You expect the effect to be in a minority population</a:t>
            </a:r>
          </a:p>
          <a:p>
            <a:pPr lvl="0"/>
            <a:r>
              <a:t>You want to find new cell states</a:t>
            </a:r>
          </a:p>
          <a:p>
            <a:pPr lvl="0"/>
            <a:r>
              <a:t>You can get live, intact, dissociable cells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most common design mistake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2000" dirty="0"/>
              <a:t>“We’ll do single cell because it’s better.”</a:t>
            </a:r>
          </a:p>
          <a:p>
            <a:pPr marL="0" lvl="0" indent="0">
              <a:buNone/>
            </a:pPr>
            <a:r>
              <a:rPr dirty="0"/>
              <a:t>Single-cell RNA-seq with </a:t>
            </a:r>
            <a:r>
              <a:rPr b="1" dirty="0"/>
              <a:t>n = 1 per condition</a:t>
            </a:r>
            <a:r>
              <a:rPr dirty="0"/>
              <a:t> cannot support any statistical claim about the condition. Thousands of cells from one mouse are thousands of measurements of </a:t>
            </a:r>
            <a:r>
              <a:rPr i="1" dirty="0"/>
              <a:t>one mouse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dirty="0"/>
              <a:t>Cells are </a:t>
            </a:r>
            <a:r>
              <a:rPr b="1" dirty="0"/>
              <a:t>pseudo-replicates</a:t>
            </a:r>
            <a:r>
              <a:rPr dirty="0"/>
              <a:t>. The experimental unit is the animal, the donor, the dish.</a:t>
            </a:r>
          </a:p>
          <a:p>
            <a:pPr marL="0" lvl="0" indent="0">
              <a:buNone/>
            </a:pPr>
            <a:r>
              <a:rPr dirty="0"/>
              <a:t>If your question is “does treatment change expression?”, bulk with n = 6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then</a:t>
            </a:r>
            <a:r>
              <a:rPr dirty="0"/>
              <a:t> single cell with n = 1 every single 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1b — Experimental design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Replication: three kinds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Biological replicates</a:t>
            </a:r>
            <a:r>
              <a:rPr dirty="0"/>
              <a:t> — independent organisms/donors/cultures. These are the only ones that let you </a:t>
            </a:r>
            <a:r>
              <a:rPr dirty="0" err="1"/>
              <a:t>generalise</a:t>
            </a:r>
            <a:r>
              <a:rPr dirty="0"/>
              <a:t>. </a:t>
            </a:r>
            <a:r>
              <a:rPr i="1" dirty="0"/>
              <a:t>These are what n means.</a:t>
            </a:r>
          </a:p>
          <a:p>
            <a:pPr marL="0" lvl="0" indent="0">
              <a:buNone/>
            </a:pPr>
            <a:r>
              <a:rPr b="1" dirty="0"/>
              <a:t>Technical replicates</a:t>
            </a:r>
            <a:r>
              <a:rPr dirty="0"/>
              <a:t> — the same RNA, sequenced twice. Measure machine noise. Almost never worth the money in modern RNA-seq; Illumina technical variance is small relative to biological variance.</a:t>
            </a:r>
          </a:p>
          <a:p>
            <a:pPr marL="0" lvl="0" indent="0">
              <a:buNone/>
            </a:pPr>
            <a:r>
              <a:rPr b="1" dirty="0"/>
              <a:t>Sequencing depth</a:t>
            </a:r>
            <a:r>
              <a:rPr dirty="0"/>
              <a:t> — more reads from the same library. Not replication at all. Doubling depth does not double power.</a:t>
            </a:r>
          </a:p>
          <a:p>
            <a:pPr marL="1270000" lvl="0" indent="0">
              <a:buNone/>
            </a:pPr>
            <a:r>
              <a:rPr sz="2000" b="1" dirty="0"/>
              <a:t>Rule of thumb:</a:t>
            </a:r>
            <a:r>
              <a:rPr sz="2000" dirty="0"/>
              <a:t> more biological replicates beat more reads. Given a fixed budget, prefer 8 samples at 20 M reads over 4 samples at 40 M reads.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48FD9F-FAF3-1D93-C58F-7977D19776C0}"/>
              </a:ext>
            </a:extLst>
          </p:cNvPr>
          <p:cNvSpPr/>
          <p:nvPr/>
        </p:nvSpPr>
        <p:spPr>
          <a:xfrm>
            <a:off x="1645920" y="3362705"/>
            <a:ext cx="6940296" cy="11612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many replicates?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For bulk differential expression:</a:t>
            </a:r>
          </a:p>
          <a:p>
            <a:pPr lvl="0"/>
            <a:r>
              <a:rPr b="1"/>
              <a:t>n = 2</a:t>
            </a:r>
            <a:r>
              <a:t> — detects nothing reliably. Do not.</a:t>
            </a:r>
          </a:p>
          <a:p>
            <a:pPr lvl="0"/>
            <a:r>
              <a:rPr b="1"/>
              <a:t>n = 3</a:t>
            </a:r>
            <a:r>
              <a:t> — the field’s minimum. Detects large, clean effects. Dispersion estimates are poor; you depend entirely on shrinkage.</a:t>
            </a:r>
          </a:p>
          <a:p>
            <a:pPr lvl="0"/>
            <a:r>
              <a:rPr b="1"/>
              <a:t>n = 5–6</a:t>
            </a:r>
            <a:r>
              <a:t> — a comfortable design. Meaningful power for 2-fold changes in moderately expressed genes.</a:t>
            </a:r>
          </a:p>
          <a:p>
            <a:pPr lvl="0"/>
            <a:r>
              <a:rPr b="1"/>
              <a:t>n ≥ 10</a:t>
            </a:r>
            <a:r>
              <a:t> — needed for subtle effects, human cohorts, or when variance is high (patient samples, wild-caught animals).</a:t>
            </a:r>
          </a:p>
          <a:p>
            <a:pPr marL="0" lvl="0" indent="0">
              <a:buNone/>
            </a:pPr>
            <a:r>
              <a:t>Formal answer: run a power analysis with your own pilot dispersion estimates. </a:t>
            </a:r>
            <a:r>
              <a:rPr sz="1300">
                <a:latin typeface="Consolas"/>
              </a:rPr>
              <a:t>RNASeqPower</a:t>
            </a:r>
            <a:r>
              <a:t>, </a:t>
            </a:r>
            <a:r>
              <a:rPr sz="1300">
                <a:latin typeface="Consolas"/>
              </a:rPr>
              <a:t>PROPER</a:t>
            </a:r>
            <a:r>
              <a:t>, or </a:t>
            </a:r>
            <a:r>
              <a:rPr sz="1300">
                <a:latin typeface="Consolas"/>
              </a:rPr>
              <a:t>ssizeRNA</a:t>
            </a:r>
            <a:r>
              <a:t> in 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deep?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609600"/>
          </a:xfrm>
        </p:spPr>
        <p:txBody>
          <a:bodyPr/>
          <a:lstStyle/>
          <a:p>
            <a:pPr marL="0" lvl="0" indent="0">
              <a:buNone/>
            </a:pPr>
            <a:r>
              <a:t>Depth requirement depends on the question, not the organism.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930400"/>
          <a:ext cx="82296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Reads/sample (paired-end)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of moderately/highly expressed 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10–20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including low-expressed genes / TFs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30–40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Isoform-level quantification / splicing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50–100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i="1"/>
                        <a:t>de novo</a:t>
                      </a:r>
                      <a:r>
                        <a:t> transcriptome 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 M+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Single cell (per cell)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20–50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4152900"/>
            <a:ext cx="8229600" cy="609600"/>
          </a:xfrm>
        </p:spPr>
        <p:txBody>
          <a:bodyPr/>
          <a:lstStyle/>
          <a:p>
            <a:pPr marL="0" lvl="0" indent="0">
              <a:buNone/>
            </a:pPr>
            <a:r>
              <a:t>Saturation is real: past ~40 M reads you are mostly re-sequencing the same highly expressed transcripts.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Confounding —</a:t>
            </a:r>
            <a:r>
              <a:rPr lang="de-DE" dirty="0"/>
              <a:t> </a:t>
            </a:r>
            <a:r>
              <a:rPr dirty="0"/>
              <a:t>error</a:t>
            </a:r>
            <a:r>
              <a:rPr lang="de-DE" dirty="0"/>
              <a:t>s</a:t>
            </a:r>
            <a:r>
              <a:rPr dirty="0"/>
              <a:t> you cannot fix later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 </a:t>
            </a:r>
            <a:r>
              <a:rPr b="1" dirty="0"/>
              <a:t>confounder</a:t>
            </a:r>
            <a:r>
              <a:rPr dirty="0"/>
              <a:t> is a variable that changes together with your variable of interest.</a:t>
            </a:r>
          </a:p>
          <a:p>
            <a:pPr marL="0" lvl="0" indent="0">
              <a:buNone/>
            </a:pPr>
            <a:r>
              <a:rPr dirty="0"/>
              <a:t>Bad design:</a:t>
            </a:r>
          </a:p>
          <a:p>
            <a:pPr lvl="0"/>
            <a:r>
              <a:rPr dirty="0"/>
              <a:t>All control</a:t>
            </a:r>
            <a:r>
              <a:rPr lang="de-DE" dirty="0"/>
              <a:t> </a:t>
            </a:r>
            <a:r>
              <a:rPr lang="de-DE" dirty="0" err="1"/>
              <a:t>samples</a:t>
            </a:r>
            <a:r>
              <a:rPr dirty="0"/>
              <a:t> extracted on Monday, all treat</a:t>
            </a:r>
            <a:r>
              <a:rPr lang="de-DE" dirty="0" err="1"/>
              <a:t>ment</a:t>
            </a:r>
            <a:r>
              <a:rPr lang="de-DE" dirty="0"/>
              <a:t> </a:t>
            </a:r>
            <a:r>
              <a:rPr lang="de-DE" dirty="0" err="1"/>
              <a:t>samples</a:t>
            </a:r>
            <a:r>
              <a:rPr dirty="0"/>
              <a:t> on Thursday</a:t>
            </a:r>
          </a:p>
          <a:p>
            <a:pPr lvl="0"/>
            <a:r>
              <a:rPr dirty="0"/>
              <a:t>All wild-types sequenced on lane 1, all mutants on lane 2</a:t>
            </a:r>
          </a:p>
          <a:p>
            <a:pPr lvl="0"/>
            <a:r>
              <a:rPr dirty="0"/>
              <a:t>All patients from hospital A are cases; all from hospital B, controls</a:t>
            </a:r>
          </a:p>
          <a:p>
            <a:pPr marL="0" lvl="0" indent="0">
              <a:buNone/>
            </a:pPr>
            <a:r>
              <a:rPr dirty="0"/>
              <a:t>If batch and condition are perfectly correlated, </a:t>
            </a:r>
            <a:r>
              <a:rPr b="1" dirty="0"/>
              <a:t>no statistical method can separate them.</a:t>
            </a:r>
            <a:r>
              <a:rPr dirty="0"/>
              <a:t> Not DESeq2, not </a:t>
            </a:r>
            <a:r>
              <a:rPr sz="1300" dirty="0" err="1">
                <a:latin typeface="Consolas"/>
              </a:rPr>
              <a:t>removeBatchEffect</a:t>
            </a:r>
            <a:r>
              <a:rPr dirty="0"/>
              <a:t>, not </a:t>
            </a:r>
            <a:r>
              <a:rPr dirty="0" err="1"/>
              <a:t>ComBat</a:t>
            </a:r>
            <a:r>
              <a:rPr dirty="0"/>
              <a:t>. The information is simply not in the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Batch effects — </a:t>
            </a:r>
            <a:r>
              <a:rPr lang="de-DE" dirty="0" err="1"/>
              <a:t>how</a:t>
            </a:r>
            <a:r>
              <a:rPr lang="de-DE" dirty="0"/>
              <a:t> to fix the 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Randomise</a:t>
            </a:r>
            <a:r>
              <a:rPr dirty="0"/>
              <a:t> what you can: sample order at extraction, plate position, library prep day.</a:t>
            </a:r>
          </a:p>
          <a:p>
            <a:pPr marL="0" lvl="0" indent="0">
              <a:buNone/>
            </a:pPr>
            <a:r>
              <a:rPr b="1" dirty="0"/>
              <a:t>Block</a:t>
            </a:r>
            <a:r>
              <a:rPr dirty="0"/>
              <a:t> what you cannot </a:t>
            </a:r>
            <a:r>
              <a:rPr dirty="0" err="1"/>
              <a:t>randomise</a:t>
            </a:r>
            <a:r>
              <a:rPr dirty="0"/>
              <a:t>: make sure </a:t>
            </a:r>
            <a:r>
              <a:rPr i="1" dirty="0"/>
              <a:t>every batch contains every condition</a:t>
            </a:r>
            <a:r>
              <a:rPr dirty="0"/>
              <a:t>.</a:t>
            </a:r>
          </a:p>
          <a:p>
            <a:pPr lvl="0" indent="0">
              <a:buNone/>
            </a:pPr>
            <a:r>
              <a:rPr sz="1300" dirty="0">
                <a:latin typeface="Consolas"/>
              </a:rPr>
              <a:t>BAD                          GOOD
Batch 1: C C C C             Batch 1: C C T T
Batch 2: T T T T             Batch 2: C C T T</a:t>
            </a:r>
          </a:p>
          <a:p>
            <a:pPr marL="0" lvl="0" indent="0">
              <a:buNone/>
            </a:pPr>
            <a:r>
              <a:rPr b="1" dirty="0"/>
              <a:t>Record everything.</a:t>
            </a:r>
            <a:r>
              <a:rPr dirty="0"/>
              <a:t> Extraction date, RIN, operator, plate, lane, kit lot. You cannot model a covariate you did not write down.</a:t>
            </a:r>
          </a:p>
          <a:p>
            <a:pPr marL="0" lvl="0" indent="0">
              <a:buNone/>
            </a:pPr>
            <a:r>
              <a:rPr b="1" dirty="0"/>
              <a:t>Then</a:t>
            </a:r>
            <a:r>
              <a:rPr dirty="0"/>
              <a:t> include batch in the model: </a:t>
            </a:r>
            <a:r>
              <a:rPr sz="1300" dirty="0">
                <a:latin typeface="Consolas"/>
              </a:rPr>
              <a:t>~ batch + condition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Design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dirty="0"/>
              <a:t>What is the biological question, in one sentence?</a:t>
            </a:r>
          </a:p>
          <a:p>
            <a:pPr marL="342900" lvl="0" indent="-342900">
              <a:buAutoNum type="arabicPeriod"/>
            </a:pPr>
            <a:r>
              <a:rPr dirty="0"/>
              <a:t>What is the experimental unit? (Not “cells”. Usually not “wells”.)</a:t>
            </a:r>
          </a:p>
          <a:p>
            <a:pPr marL="342900" lvl="0" indent="-342900">
              <a:buAutoNum type="arabicPeriod"/>
            </a:pPr>
            <a:r>
              <a:rPr dirty="0"/>
              <a:t>What is the smallest effect worth detecting?</a:t>
            </a:r>
          </a:p>
          <a:p>
            <a:pPr marL="342900" lvl="0" indent="-342900">
              <a:buAutoNum type="arabicPeriod"/>
            </a:pPr>
            <a:r>
              <a:rPr dirty="0"/>
              <a:t>How many independent biological units per group?</a:t>
            </a:r>
          </a:p>
          <a:p>
            <a:pPr marL="342900" lvl="0" indent="-342900">
              <a:buAutoNum type="arabicPeriod"/>
            </a:pPr>
            <a:r>
              <a:rPr dirty="0"/>
              <a:t>What could vary systematically besides my variable of interest?</a:t>
            </a:r>
          </a:p>
          <a:p>
            <a:pPr marL="342900" lvl="0" indent="-342900">
              <a:buAutoNum type="arabicPeriod"/>
            </a:pPr>
            <a:r>
              <a:rPr dirty="0"/>
              <a:t>Is every batch balanced for condition?</a:t>
            </a:r>
          </a:p>
          <a:p>
            <a:pPr marL="342900" lvl="0" indent="-342900">
              <a:buAutoNum type="arabicPeriod"/>
            </a:pPr>
            <a:r>
              <a:rPr dirty="0"/>
              <a:t>What metadata am I recording, and where?</a:t>
            </a:r>
          </a:p>
          <a:p>
            <a:pPr marL="342900" lvl="0" indent="-342900">
              <a:buAutoNum type="arabicPeriod"/>
            </a:pPr>
            <a:r>
              <a:rPr b="1" dirty="0"/>
              <a:t>Which statistical comparison will answer the question?</a:t>
            </a:r>
          </a:p>
          <a:p>
            <a:pPr marL="0" lvl="0" indent="0">
              <a:buNone/>
            </a:pPr>
            <a:r>
              <a:rPr dirty="0"/>
              <a:t>If you cannot answer 8 before collecting data, do not collect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2 — From tissue to numbers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wet-lab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300" dirty="0">
                <a:latin typeface="Consolas"/>
              </a:rPr>
              <a:t>tissue / cells
   ↓  extraction (</a:t>
            </a:r>
            <a:r>
              <a:rPr sz="1300" dirty="0" err="1">
                <a:latin typeface="Consolas"/>
              </a:rPr>
              <a:t>TRIzol</a:t>
            </a:r>
            <a:r>
              <a:rPr sz="1300" dirty="0">
                <a:latin typeface="Consolas"/>
              </a:rPr>
              <a:t>, column, magnetic bead)
total RNA  ────→  QC: RIN / RQN on Bioanalyzer or </a:t>
            </a:r>
            <a:r>
              <a:rPr sz="1300" dirty="0" err="1">
                <a:latin typeface="Consolas"/>
              </a:rPr>
              <a:t>TapeStation</a:t>
            </a:r>
            <a:r>
              <a:rPr sz="1300" dirty="0">
                <a:latin typeface="Consolas"/>
              </a:rPr>
              <a:t>
   ↓  enrichment
poly-A selection  OR  rRNA depletion
   ↓  fragmentation
   ↓  reverse transcription → cDNA
   ↓  adapter ligation, indexing (barcodes)
   ↓  PCR amplification
sequencing library  ──→ QC: size distribution, molarity
   ↓  pooling, flow cell loading
FASTQ files</a:t>
            </a:r>
          </a:p>
          <a:p>
            <a:pPr marL="0" lvl="0" indent="0">
              <a:buNone/>
            </a:pPr>
            <a:r>
              <a:rPr dirty="0"/>
              <a:t>Every arrow is a place where bias enters.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RNA quality: RIN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</a:t>
            </a:r>
            <a:r>
              <a:rPr b="1"/>
              <a:t>RNA Integrity Number</a:t>
            </a:r>
            <a:r>
              <a:t> (1–10) comes from the electrophoretic trace, mostly the 28S:18S ratio and the shape of the baseline.</a:t>
            </a:r>
          </a:p>
          <a:p>
            <a:pPr lvl="0"/>
            <a:r>
              <a:t>RIN &gt; 8 — good, use freely</a:t>
            </a:r>
          </a:p>
          <a:p>
            <a:pPr lvl="0"/>
            <a:r>
              <a:t>RIN 6–8 — usable; prefer random priming over poly-A</a:t>
            </a:r>
          </a:p>
          <a:p>
            <a:pPr lvl="0"/>
            <a:r>
              <a:t>RIN &lt; 6 — 3’ bias with poly-A selection becomes severe</a:t>
            </a:r>
          </a:p>
          <a:p>
            <a:pPr lvl="0"/>
            <a:r>
              <a:t>RIN &lt; 4 — consider a degraded-RNA protocol or abandon the sample</a:t>
            </a:r>
          </a:p>
          <a:p>
            <a:pPr marL="0" lvl="0" indent="0">
              <a:buNone/>
            </a:pPr>
            <a:r>
              <a:rPr b="1"/>
              <a:t>Critical:</a:t>
            </a:r>
            <a:r>
              <a:t> if RIN correlates with condition, RIN </a:t>
            </a:r>
            <a:r>
              <a:rPr i="1"/>
              <a:t>is</a:t>
            </a:r>
            <a:r>
              <a:t> a confounder. Report it, plot it, and put it in the model if needed.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7DD3-136C-6DCB-FEAD-F0BDC430A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4BCD-7A10-0D62-E4C0-9210A29FC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RNA quality: RIN</a:t>
            </a:r>
          </a:p>
        </p:txBody>
      </p:sp>
      <p:pic>
        <p:nvPicPr>
          <p:cNvPr id="6" name="Picture 5" descr="RNA Electrophoresis, RNA Integrity, Bioanalyzer RIN | Agilent">
            <a:extLst>
              <a:ext uri="{FF2B5EF4-FFF2-40B4-BE49-F238E27FC236}">
                <a16:creationId xmlns:a16="http://schemas.microsoft.com/office/drawing/2014/main" id="{F5A82F96-D9BB-887A-0C6D-51D50A6F8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216" y="1063229"/>
            <a:ext cx="6559296" cy="36896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7B26A8-52F4-3A1D-2902-E0D1B3A32EC0}"/>
              </a:ext>
            </a:extLst>
          </p:cNvPr>
          <p:cNvSpPr/>
          <p:nvPr/>
        </p:nvSpPr>
        <p:spPr>
          <a:xfrm>
            <a:off x="1892808" y="1063229"/>
            <a:ext cx="365760" cy="3266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79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Poly-A selection vs rRNA depletion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Poly-A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rRNA depletion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Captures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polyadenylated mRNA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mRNA + lncRNA + pre-mRNA + circRNA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Needs intact 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Reads wasted on rRNA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very few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some (2–10%)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Intronic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substantial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Bacteria / non-poly-A 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Reads needed for same mRNA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52900"/>
            <a:ext cx="8229600" cy="609600"/>
          </a:xfrm>
        </p:spPr>
        <p:txBody>
          <a:bodyPr/>
          <a:lstStyle/>
          <a:p>
            <a:pPr marL="0" lvl="0" indent="0">
              <a:buNone/>
            </a:pPr>
            <a:r>
              <a:t>Default for a standard eukaryotic DE experiment: </a:t>
            </a:r>
            <a:r>
              <a:rPr b="1"/>
              <a:t>poly-A</a:t>
            </a:r>
            <a:r>
              <a:t>. For degraded samples, non-coding RNA, or prokaryotes: </a:t>
            </a:r>
            <a:r>
              <a:rPr b="1"/>
              <a:t>ribo-depletion</a:t>
            </a:r>
            <a: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Strandedness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Unstranded libraries lose the information about which DNA strand the transcript came from.</a:t>
            </a:r>
          </a:p>
          <a:p>
            <a:pPr marL="0" lvl="0" indent="0">
              <a:buNone/>
            </a:pPr>
            <a:r>
              <a:t>Why it matters: overlapping genes on opposite strands, antisense transcription, and correct assignment of reads in gene-dense genomes. Typically 5–15% of reads are ambiguous in an unstranded library.</a:t>
            </a:r>
          </a:p>
          <a:p>
            <a:pPr marL="0" lvl="0" indent="0">
              <a:buNone/>
            </a:pPr>
            <a:r>
              <a:t>Modern kits are usually </a:t>
            </a:r>
            <a:r>
              <a:rPr b="1"/>
              <a:t>reverse-stranded (dUTP method)</a:t>
            </a:r>
            <a:r>
              <a:t>: read 2 matches the transcript. In practice: get the setting right in </a:t>
            </a:r>
            <a:r>
              <a:rPr sz="1300">
                <a:latin typeface="Consolas"/>
              </a:rPr>
              <a:t>featureCounts</a:t>
            </a:r>
            <a:r>
              <a:t>/</a:t>
            </a:r>
            <a:r>
              <a:rPr sz="1300">
                <a:latin typeface="Consolas"/>
              </a:rPr>
              <a:t>HTSeq</a:t>
            </a:r>
            <a:r>
              <a:t> or you will silently lose most of your counts.</a:t>
            </a:r>
          </a:p>
          <a:p>
            <a:pPr marL="1270000" lvl="0" indent="0">
              <a:buNone/>
            </a:pPr>
            <a:r>
              <a:rPr sz="2000"/>
              <a:t>If your counts look catastrophically low, check strandedness first.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Single-end vs paired-end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Single-end (SE)</a:t>
            </a:r>
            <a:r>
              <a:t> — one read per fragment. Cheaper. Adequate for straightforward gene-level DE in a well-annotated genome.</a:t>
            </a:r>
          </a:p>
          <a:p>
            <a:pPr marL="0" lvl="0" indent="0">
              <a:buNone/>
            </a:pPr>
            <a:r>
              <a:rPr b="1"/>
              <a:t>Paired-end (PE)</a:t>
            </a:r>
            <a:r>
              <a:t> — both fragment ends. More expensive. Required (or strongly preferred) for: isoform quantification, splicing, fusion detection, </a:t>
            </a:r>
            <a:r>
              <a:rPr i="1"/>
              <a:t>de novo</a:t>
            </a:r>
            <a:r>
              <a:t> assembly, repetitive genomes, and any non-model organism.</a:t>
            </a:r>
          </a:p>
          <a:p>
            <a:pPr marL="0" lvl="0" indent="0">
              <a:buNone/>
            </a:pPr>
            <a:r>
              <a:t>Read length: 50–75 bp is fine for gene-level DE; 100–150 bp for isoforms.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highlight>
                  <a:srgbClr val="FFFF00"/>
                </a:highlight>
              </a:rPr>
              <a:t>Single-cell specifics: 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For scRNA-seq you must convert tissue into a suspension of live, intact, single cells. This is the hardest and least reproducible step in the entire protocol.</a:t>
            </a:r>
          </a:p>
          <a:p>
            <a:pPr marL="0" lvl="0" indent="0">
              <a:buNone/>
            </a:pPr>
            <a:r>
              <a:t>What goes wrong:</a:t>
            </a:r>
          </a:p>
          <a:p>
            <a:pPr lvl="0"/>
            <a:r>
              <a:rPr b="1"/>
              <a:t>Cell-type bias</a:t>
            </a:r>
            <a:r>
              <a:t> — neurons, adipocytes, and large or fragile cells die preferentially. Your “composition” is partly a survival ranking.</a:t>
            </a:r>
          </a:p>
          <a:p>
            <a:pPr lvl="0"/>
            <a:r>
              <a:rPr b="1"/>
              <a:t>Stress response</a:t>
            </a:r>
            <a:r>
              <a:t> — enzymatic digestion at 37 °C induces </a:t>
            </a:r>
            <a:r>
              <a:rPr i="1"/>
              <a:t>Fos</a:t>
            </a:r>
            <a:r>
              <a:t>, </a:t>
            </a:r>
            <a:r>
              <a:rPr i="1"/>
              <a:t>Jun</a:t>
            </a:r>
            <a:r>
              <a:t>, </a:t>
            </a:r>
            <a:r>
              <a:rPr i="1"/>
              <a:t>Hspa1a</a:t>
            </a:r>
            <a:r>
              <a:t>, heat-shock genes. Cold-active protease (Bacillus licheniformis) at 6 °C reduces this.</a:t>
            </a:r>
          </a:p>
          <a:p>
            <a:pPr lvl="0"/>
            <a:r>
              <a:rPr b="1"/>
              <a:t>Ambient RNA</a:t>
            </a:r>
            <a:r>
              <a:t> — lysed cells release mRNA that is captured by every droplet.</a:t>
            </a:r>
          </a:p>
          <a:p>
            <a:pPr lvl="0"/>
            <a:r>
              <a:rPr b="1"/>
              <a:t>Doublets</a:t>
            </a:r>
            <a:r>
              <a:t> — two cells in one droplet, reported as one “cell” with a chimeric profile.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highlight>
                  <a:srgbClr val="FFFF00"/>
                </a:highlight>
              </a:rPr>
              <a:t>Library prep: 10x Chromium in one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dirty="0"/>
              <a:t>Cells + barcoded gel beads + oil → </a:t>
            </a:r>
            <a:r>
              <a:rPr b="1" dirty="0"/>
              <a:t>GEMs</a:t>
            </a:r>
            <a:r>
              <a:rPr dirty="0"/>
              <a:t> (one cell per droplet, ideally)</a:t>
            </a:r>
          </a:p>
          <a:p>
            <a:pPr marL="342900" lvl="0" indent="-342900">
              <a:buAutoNum type="arabicPeriod"/>
            </a:pPr>
            <a:r>
              <a:rPr dirty="0"/>
              <a:t>Cell lyses inside the droplet</a:t>
            </a:r>
          </a:p>
          <a:p>
            <a:pPr marL="342900" lvl="0" indent="-342900">
              <a:buAutoNum type="arabicPeriod"/>
            </a:pPr>
            <a:r>
              <a:rPr dirty="0"/>
              <a:t>mRNA is reverse transcribed onto the bead’s oligo, which carries:</a:t>
            </a:r>
          </a:p>
          <a:p>
            <a:pPr lvl="1"/>
            <a:r>
              <a:rPr dirty="0"/>
              <a:t>a </a:t>
            </a:r>
            <a:r>
              <a:rPr b="1" dirty="0"/>
              <a:t>cell barcode</a:t>
            </a:r>
            <a:r>
              <a:rPr dirty="0"/>
              <a:t> (identical on all oligos of one bead)</a:t>
            </a:r>
          </a:p>
          <a:p>
            <a:pPr lvl="1"/>
            <a:r>
              <a:rPr dirty="0"/>
              <a:t>a </a:t>
            </a:r>
            <a:r>
              <a:rPr b="1" dirty="0"/>
              <a:t>UMI</a:t>
            </a:r>
            <a:r>
              <a:rPr dirty="0"/>
              <a:t> (unique per molecule)</a:t>
            </a:r>
          </a:p>
          <a:p>
            <a:pPr lvl="1"/>
            <a:r>
              <a:rPr dirty="0"/>
              <a:t>a poly-dT capture sequence</a:t>
            </a:r>
          </a:p>
          <a:p>
            <a:pPr marL="342900" lvl="0" indent="-342900">
              <a:buAutoNum type="arabicPeriod"/>
            </a:pPr>
            <a:r>
              <a:rPr dirty="0"/>
              <a:t>Emulsion is broken, cDNA pooled, amplified, fragmented</a:t>
            </a:r>
          </a:p>
          <a:p>
            <a:pPr marL="342900" lvl="0" indent="-342900">
              <a:buAutoNum type="arabicPeriod"/>
            </a:pPr>
            <a:r>
              <a:rPr dirty="0"/>
              <a:t>Sequence: read 1 = barcode + UMI, read 2 = transcript (3’ end)</a:t>
            </a:r>
          </a:p>
          <a:p>
            <a:pPr marL="0" lvl="0" indent="0">
              <a:buNone/>
            </a:pPr>
            <a:r>
              <a:rPr dirty="0"/>
              <a:t>So each read carries: </a:t>
            </a:r>
            <a:r>
              <a:rPr i="1" dirty="0"/>
              <a:t>which cell</a:t>
            </a:r>
            <a:r>
              <a:rPr dirty="0"/>
              <a:t>, </a:t>
            </a:r>
            <a:r>
              <a:rPr i="1" dirty="0"/>
              <a:t>which original molecule</a:t>
            </a:r>
            <a:r>
              <a:rPr dirty="0"/>
              <a:t>, </a:t>
            </a:r>
            <a:r>
              <a:rPr i="1" dirty="0"/>
              <a:t>which gene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highlight>
                  <a:srgbClr val="FFFF00"/>
                </a:highlight>
              </a:rPr>
              <a:t>What a UMI buys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PCR amplifies molecules unevenly. Without UMIs you cannot tell “10 copies of this transcript” from “1 copy amplified 10×”.</a:t>
            </a:r>
          </a:p>
          <a:p>
            <a:pPr marL="0" lvl="0" indent="0">
              <a:buNone/>
            </a:pPr>
            <a:r>
              <a:t>With UMIs you </a:t>
            </a:r>
            <a:r>
              <a:rPr b="1"/>
              <a:t>collapse duplicates</a:t>
            </a:r>
            <a:r>
              <a:t>: count unique UMIs per gene per cell, not reads. This turns a noisy amplification-dependent measurement into an approximate molecule count.</a:t>
            </a:r>
          </a:p>
          <a:p>
            <a:pPr marL="0" lvl="0" indent="0">
              <a:buNone/>
            </a:pPr>
            <a:r>
              <a:t>Consequence: 10x data are </a:t>
            </a:r>
            <a:r>
              <a:rPr b="1"/>
              <a:t>3’-biased</a:t>
            </a:r>
            <a:r>
              <a:t> — you only sequence near the poly-A tail. You get gene-level counts, essentially no isoform information.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Computational pre-processing (demonstrated, not run by you)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300" dirty="0">
                <a:latin typeface="Consolas"/>
              </a:rPr>
              <a:t>FASTQ
  ↓  </a:t>
            </a:r>
            <a:r>
              <a:rPr sz="1300" dirty="0" err="1">
                <a:latin typeface="Consolas"/>
              </a:rPr>
              <a:t>FastQC</a:t>
            </a:r>
            <a:r>
              <a:rPr sz="1300" dirty="0">
                <a:latin typeface="Consolas"/>
              </a:rPr>
              <a:t> + </a:t>
            </a:r>
            <a:r>
              <a:rPr sz="1300" dirty="0" err="1">
                <a:latin typeface="Consolas"/>
              </a:rPr>
              <a:t>MultiQC</a:t>
            </a:r>
            <a:r>
              <a:rPr sz="1300" dirty="0">
                <a:latin typeface="Consolas"/>
              </a:rPr>
              <a:t>          quality, adapters, duplication, GC
  ↓  trimming (</a:t>
            </a:r>
            <a:r>
              <a:rPr sz="1300" dirty="0" err="1">
                <a:latin typeface="Consolas"/>
              </a:rPr>
              <a:t>fastp</a:t>
            </a:r>
            <a:r>
              <a:rPr sz="1300" dirty="0">
                <a:latin typeface="Consolas"/>
              </a:rPr>
              <a:t>/Trim Galore)  adapters, low-quality tails
  ↓  alignment
       genome:     STAR, HISAT2       (splice-aware, gives BAM)
       transcriptome: Salmon, </a:t>
            </a:r>
            <a:r>
              <a:rPr sz="1300" dirty="0" err="1">
                <a:latin typeface="Consolas"/>
              </a:rPr>
              <a:t>kallisto</a:t>
            </a:r>
            <a:r>
              <a:rPr sz="1300" dirty="0">
                <a:latin typeface="Consolas"/>
              </a:rPr>
              <a:t> (pseudo-alignment, gives counts)
  ↓  quantification
       </a:t>
            </a:r>
            <a:r>
              <a:rPr sz="1300" dirty="0" err="1">
                <a:latin typeface="Consolas"/>
              </a:rPr>
              <a:t>featureCounts</a:t>
            </a:r>
            <a:r>
              <a:rPr sz="1300" dirty="0">
                <a:latin typeface="Consolas"/>
              </a:rPr>
              <a:t> / </a:t>
            </a:r>
            <a:r>
              <a:rPr sz="1300" dirty="0" err="1">
                <a:latin typeface="Consolas"/>
              </a:rPr>
              <a:t>HTSeq</a:t>
            </a:r>
            <a:r>
              <a:rPr sz="1300" dirty="0">
                <a:latin typeface="Consolas"/>
              </a:rPr>
              <a:t> (from BAM)
       </a:t>
            </a:r>
            <a:r>
              <a:rPr sz="1300" dirty="0" err="1">
                <a:latin typeface="Consolas"/>
              </a:rPr>
              <a:t>tximport</a:t>
            </a:r>
            <a:r>
              <a:rPr sz="1300" dirty="0">
                <a:latin typeface="Consolas"/>
              </a:rPr>
              <a:t> (from Salmon/</a:t>
            </a:r>
            <a:r>
              <a:rPr sz="1300" dirty="0" err="1">
                <a:latin typeface="Consolas"/>
              </a:rPr>
              <a:t>kallisto</a:t>
            </a:r>
            <a:r>
              <a:rPr sz="1300" dirty="0">
                <a:latin typeface="Consolas"/>
              </a:rPr>
              <a:t>)
COUNT MATRIX   ← your afternoon starts here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FastQC: what to act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Per-base quality dropping at the 3’ end</a:t>
            </a:r>
            <a:r>
              <a:t> → trim</a:t>
            </a:r>
          </a:p>
          <a:p>
            <a:pPr lvl="0"/>
            <a:r>
              <a:rPr b="1"/>
              <a:t>Adapter content</a:t>
            </a:r>
            <a:r>
              <a:t> → trim</a:t>
            </a:r>
          </a:p>
          <a:p>
            <a:pPr lvl="0"/>
            <a:r>
              <a:rPr b="1"/>
              <a:t>Over-represented sequences</a:t>
            </a:r>
            <a:r>
              <a:t> → rRNA contamination, or a highly expressed gene (often fine in RNA-seq)</a:t>
            </a:r>
          </a:p>
          <a:p>
            <a:pPr lvl="0"/>
            <a:r>
              <a:rPr b="1"/>
              <a:t>Unexpected GC distribution</a:t>
            </a:r>
            <a:r>
              <a:t> → contamination, or a different organism than you think</a:t>
            </a:r>
          </a:p>
          <a:p>
            <a:pPr lvl="0"/>
            <a:r>
              <a:rPr b="1"/>
              <a:t>Very high duplication</a:t>
            </a:r>
            <a:r>
              <a:t> → low-complexity library, over-amplification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FastQC: what looks alarming but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Failed “per-base sequence content” in the first ~12 bases.</a:t>
            </a:r>
            <a:r>
              <a:rPr dirty="0"/>
              <a:t> Random-primer bias. Universal in RNA-seq, not fixable, harmless</a:t>
            </a:r>
            <a:r>
              <a:rPr lang="de-DE" dirty="0"/>
              <a:t>, </a:t>
            </a:r>
            <a:r>
              <a:rPr lang="de-DE" dirty="0" err="1"/>
              <a:t>trimmed</a:t>
            </a:r>
            <a:r>
              <a:rPr dirty="0"/>
              <a:t>.</a:t>
            </a:r>
          </a:p>
          <a:p>
            <a:pPr lvl="0"/>
            <a:r>
              <a:rPr b="1" dirty="0"/>
              <a:t>High duplication for highly expressed transcripts.</a:t>
            </a:r>
            <a:r>
              <a:rPr dirty="0"/>
              <a:t> In RNA-seq, duplicate reads are mostly real molecules from an abundant gene — not a PCR artefact. Do </a:t>
            </a:r>
            <a:r>
              <a:rPr i="1" u="sng" dirty="0"/>
              <a:t>not</a:t>
            </a:r>
            <a:r>
              <a:rPr dirty="0"/>
              <a:t> deduplicate RNA-seq reads.</a:t>
            </a:r>
          </a:p>
          <a:p>
            <a:pPr marL="0" lvl="0" indent="0">
              <a:buNone/>
            </a:pPr>
            <a:r>
              <a:rPr dirty="0"/>
              <a:t>A red cross in </a:t>
            </a:r>
            <a:r>
              <a:rPr dirty="0" err="1"/>
              <a:t>FastQC</a:t>
            </a:r>
            <a:r>
              <a:rPr dirty="0"/>
              <a:t> is a flag, not a verdict. The tool does not know it is looking at RNA.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Alignment vs pseudo-alignment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Genome alignment (STAR, HISAT2)</a:t>
            </a:r>
            <a:r>
              <a:t> Finds the actual coordinates of each read, spanning splice junctions. Slow, memory-hungry (STAR: ~32 GB for human), gives a BAM you can look at in IGV. Required for novel transcript discovery, variant calling, or anything positional.</a:t>
            </a:r>
          </a:p>
          <a:p>
            <a:pPr marL="0" lvl="0" indent="0">
              <a:buNone/>
            </a:pPr>
            <a:r>
              <a:rPr b="1"/>
              <a:t>Pseudo-alignment (Salmon, kallisto)</a:t>
            </a:r>
            <a:r>
              <a:t> Asks only </a:t>
            </a:r>
            <a:r>
              <a:rPr i="1"/>
              <a:t>which transcripts is this read compatible with</a:t>
            </a:r>
            <a:r>
              <a:t>, then resolves multi-mapping with an EM algorithm. ~20× faster, runs on a laptop, handles isoform-level quantification well. Cannot find anything that is not already in the annotation.</a:t>
            </a:r>
          </a:p>
          <a:p>
            <a:pPr marL="0" lvl="0" indent="0">
              <a:buNone/>
            </a:pPr>
            <a:r>
              <a:t>For gene-level DE in a well-annotated organism, they agree closely. Salmon/kallisto is the pragmatic default.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a read becomes a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sz="1300">
                <a:latin typeface="Consolas"/>
              </a:rPr>
              <a:t>featureCounts</a:t>
            </a:r>
            <a:r>
              <a:t> / </a:t>
            </a:r>
            <a:r>
              <a:rPr sz="1300">
                <a:latin typeface="Consolas"/>
              </a:rPr>
              <a:t>HTSeq</a:t>
            </a:r>
            <a:r>
              <a:t> assign each alignment to a gene using a GTF:</a:t>
            </a:r>
          </a:p>
          <a:p>
            <a:pPr lvl="0"/>
            <a:r>
              <a:t>Read entirely inside one gene’s exons → count it</a:t>
            </a:r>
          </a:p>
          <a:p>
            <a:pPr lvl="0"/>
            <a:r>
              <a:t>Read overlapping two genes → </a:t>
            </a:r>
            <a:r>
              <a:rPr b="1"/>
              <a:t>ambiguous</a:t>
            </a:r>
            <a:r>
              <a:t>, discarded by default</a:t>
            </a:r>
          </a:p>
          <a:p>
            <a:pPr lvl="0"/>
            <a:r>
              <a:t>Read in an intron or intergenic → </a:t>
            </a:r>
            <a:r>
              <a:rPr b="1"/>
              <a:t>no feature</a:t>
            </a:r>
            <a:r>
              <a:t>, discarded</a:t>
            </a:r>
          </a:p>
          <a:p>
            <a:pPr lvl="0"/>
            <a:r>
              <a:t>Read mapping to many locations → </a:t>
            </a:r>
            <a:r>
              <a:rPr b="1"/>
              <a:t>multi-mapping</a:t>
            </a:r>
            <a:r>
              <a:t>, discarded by default</a:t>
            </a:r>
          </a:p>
          <a:p>
            <a:pPr marL="0" lvl="0" indent="0">
              <a:buNone/>
            </a:pPr>
            <a:r>
              <a:t>You should always look at the assignment summary. If 60% of reads are “no feature”, something is wrong — wrong GTF, wrong strandedness, or DNA contamination.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the count matrix actually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300">
                <a:latin typeface="Consolas"/>
              </a:rPr>
              <a:t>            sample1  sample2  sample3  sample4
ENSG0001        712      690     1204     1188
ENSG0002          0        3        1        0
ENSG0003      13402    12880    13115    14002
...</a:t>
            </a:r>
          </a:p>
          <a:p>
            <a:pPr lvl="0"/>
            <a:r>
              <a:rPr b="1"/>
              <a:t>Rows</a:t>
            </a:r>
            <a:r>
              <a:t> = genes (or transcripts)</a:t>
            </a:r>
          </a:p>
          <a:p>
            <a:pPr lvl="0"/>
            <a:r>
              <a:rPr b="1"/>
              <a:t>Columns</a:t>
            </a:r>
            <a:r>
              <a:t> = samples</a:t>
            </a:r>
          </a:p>
          <a:p>
            <a:pPr lvl="0"/>
            <a:r>
              <a:rPr b="1"/>
              <a:t>Values</a:t>
            </a:r>
            <a:r>
              <a:t> = number of reads/fragments assigned. </a:t>
            </a:r>
            <a:r>
              <a:rPr b="1"/>
              <a:t>Integers.</a:t>
            </a:r>
            <a:r>
              <a:t> Not normalised. Not log-transformed.</a:t>
            </a:r>
          </a:p>
          <a:p>
            <a:pPr marL="0" lvl="0" indent="0">
              <a:buNone/>
            </a:pPr>
            <a:r>
              <a:t>Plus a </a:t>
            </a:r>
            <a:r>
              <a:rPr b="1"/>
              <a:t>sample sheet</a:t>
            </a:r>
            <a:r>
              <a:t> (colData) with one row per column of the matrix, in the same order. </a:t>
            </a:r>
            <a:r>
              <a:rPr i="1"/>
              <a:t>Always check the order.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Three things to check before analysing any count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b="1"/>
              <a:t>Are the values integers?</a:t>
            </a:r>
            <a:r>
              <a:t> If they are decimals, someone already normalised them, and DESeq2 will refuse (or mislead you). </a:t>
            </a:r>
            <a:r>
              <a:rPr sz="1300">
                <a:latin typeface="Consolas"/>
              </a:rPr>
              <a:t>tximport</a:t>
            </a:r>
            <a:r>
              <a:t> output is the legitimate exception.</a:t>
            </a:r>
          </a:p>
          <a:p>
            <a:pPr marL="342900" lvl="0" indent="-342900">
              <a:buAutoNum type="arabicPeriod"/>
            </a:pPr>
            <a:r>
              <a:rPr b="1"/>
              <a:t>Do </a:t>
            </a:r>
            <a:r>
              <a:rPr b="1">
                <a:latin typeface="Consolas"/>
              </a:rPr>
              <a:t>colnames(counts)</a:t>
            </a:r>
            <a:r>
              <a:rPr b="1"/>
              <a:t> and </a:t>
            </a:r>
            <a:r>
              <a:rPr b="1">
                <a:latin typeface="Consolas"/>
              </a:rPr>
              <a:t>rownames(metadata)</a:t>
            </a:r>
            <a:r>
              <a:rPr b="1"/>
              <a:t> match, in order?</a:t>
            </a:r>
            <a:r>
              <a:t> A silent mismatch here has produced published papers with swapped groups.</a:t>
            </a:r>
          </a:p>
          <a:p>
            <a:pPr marL="342900" lvl="0" indent="-342900">
              <a:buAutoNum type="arabicPeriod"/>
            </a:pPr>
            <a:r>
              <a:rPr b="1"/>
              <a:t>What are the library sizes?</a:t>
            </a:r>
            <a:r>
              <a:t> </a:t>
            </a:r>
            <a:r>
              <a:rPr sz="1300">
                <a:latin typeface="Consolas"/>
              </a:rPr>
              <a:t>colSums(counts)</a:t>
            </a:r>
            <a:r>
              <a:t>. A sample at 10% of the others’ depth is a problem to discuss, not to ignore.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>
                <a:highlight>
                  <a:srgbClr val="FFFF00"/>
                </a:highlight>
              </a:rPr>
              <a:t>Preview: why you cannot just do a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Counts are </a:t>
            </a:r>
            <a:r>
              <a:rPr b="1"/>
              <a:t>discrete</a:t>
            </a:r>
            <a:r>
              <a:t> and </a:t>
            </a:r>
            <a:r>
              <a:rPr b="1"/>
              <a:t>non-negative</a:t>
            </a:r>
          </a:p>
          <a:p>
            <a:pPr lvl="0"/>
            <a:r>
              <a:t>Variance </a:t>
            </a:r>
            <a:r>
              <a:rPr b="1"/>
              <a:t>increases with the mean</a:t>
            </a:r>
            <a:r>
              <a:t> (not constant)</a:t>
            </a:r>
          </a:p>
          <a:p>
            <a:pPr lvl="0"/>
            <a:r>
              <a:t>With n = 3 the per-gene variance estimate is nearly worthless</a:t>
            </a:r>
          </a:p>
          <a:p>
            <a:pPr lvl="0"/>
            <a:r>
              <a:t>You test ~20,000 genes at once</a:t>
            </a:r>
          </a:p>
          <a:p>
            <a:pPr lvl="0"/>
            <a:r>
              <a:t>Total counts differ between samples, so raw counts are not comparable</a:t>
            </a:r>
          </a:p>
          <a:p>
            <a:pPr marL="0" lvl="0" indent="0">
              <a:buNone/>
            </a:pPr>
            <a:r>
              <a:t>Tomorrow: the negative binomial model, shrinkage, and DESeq2.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3 — R for research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R, and why we spend a whole afternoon on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Bioconductor is where methods development in genomics happens. DESeq2, edgeR, limma, clusterProfiler, and (via Seurat) most of the single-cell ecosystem are R.</a:t>
            </a:r>
          </a:p>
          <a:p>
            <a:pPr marL="0" lvl="0" indent="0">
              <a:buNone/>
            </a:pPr>
            <a:r>
              <a:t>You do not need to become a programmer. You need to stop losing hours to syntax errors while trying to think about biology.</a:t>
            </a:r>
          </a:p>
          <a:p>
            <a:pPr marL="0" lvl="0" indent="0">
              <a:buNone/>
            </a:pPr>
            <a:r>
              <a:t>This afternoon is deliberately </a:t>
            </a:r>
            <a:r>
              <a:rPr b="1"/>
              <a:t>not</a:t>
            </a:r>
            <a:r>
              <a:t> RNA-seq. Small, clean data; every concept you will need this week; nothing else.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five things that actually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b="1"/>
              <a:t>Assignment and objects</a:t>
            </a:r>
            <a:r>
              <a:t> — </a:t>
            </a:r>
            <a:r>
              <a:rPr sz="1300">
                <a:latin typeface="Consolas"/>
              </a:rPr>
              <a:t>x &lt;- 5</a:t>
            </a:r>
            <a:r>
              <a:t>. Everything is an object.</a:t>
            </a:r>
          </a:p>
          <a:p>
            <a:pPr marL="342900" lvl="0" indent="-342900">
              <a:buAutoNum type="arabicPeriod"/>
            </a:pPr>
            <a:r>
              <a:rPr b="1"/>
              <a:t>Vectors and data frames</a:t>
            </a:r>
            <a:r>
              <a:t> — the shapes your data come in.</a:t>
            </a:r>
          </a:p>
          <a:p>
            <a:pPr marL="342900" lvl="0" indent="-342900">
              <a:buAutoNum type="arabicPeriod"/>
            </a:pPr>
            <a:r>
              <a:rPr b="1"/>
              <a:t>Subsetting</a:t>
            </a:r>
            <a:r>
              <a:t> — </a:t>
            </a:r>
            <a:r>
              <a:rPr sz="1300">
                <a:latin typeface="Consolas"/>
              </a:rPr>
              <a:t>[ ]</a:t>
            </a:r>
            <a:r>
              <a:t>, </a:t>
            </a:r>
            <a:r>
              <a:rPr sz="1300">
                <a:latin typeface="Consolas"/>
              </a:rPr>
              <a:t>$</a:t>
            </a:r>
            <a:r>
              <a:t>, and logical conditions. This is 60% of practical data work.</a:t>
            </a:r>
          </a:p>
          <a:p>
            <a:pPr marL="342900" lvl="0" indent="-342900">
              <a:buAutoNum type="arabicPeriod"/>
            </a:pPr>
            <a:r>
              <a:rPr b="1"/>
              <a:t>Functions</a:t>
            </a:r>
            <a:r>
              <a:t> — </a:t>
            </a:r>
            <a:r>
              <a:rPr sz="1300">
                <a:latin typeface="Consolas"/>
              </a:rPr>
              <a:t>f(arg1, arg2)</a:t>
            </a:r>
            <a:r>
              <a:t>. Read the help page: </a:t>
            </a:r>
            <a:r>
              <a:rPr sz="1300">
                <a:latin typeface="Consolas"/>
              </a:rPr>
              <a:t>?mean</a:t>
            </a:r>
            <a:r>
              <a:t>.</a:t>
            </a:r>
          </a:p>
          <a:p>
            <a:pPr marL="342900" lvl="0" indent="-342900">
              <a:buAutoNum type="arabicPeriod"/>
            </a:pPr>
            <a:r>
              <a:rPr b="1"/>
              <a:t>Packages</a:t>
            </a:r>
            <a:r>
              <a:t> — </a:t>
            </a:r>
            <a:r>
              <a:rPr sz="1300">
                <a:latin typeface="Consolas"/>
              </a:rPr>
              <a:t>install.packages()</a:t>
            </a:r>
            <a:r>
              <a:t> from CRAN, </a:t>
            </a:r>
            <a:r>
              <a:rPr sz="1300">
                <a:latin typeface="Consolas"/>
              </a:rPr>
              <a:t>BiocManager::install()</a:t>
            </a:r>
            <a:r>
              <a:t> from Bioconductor, then </a:t>
            </a:r>
            <a:r>
              <a:rPr sz="1300">
                <a:latin typeface="Consolas"/>
              </a:rPr>
              <a:t>library()</a:t>
            </a:r>
            <a:r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 structures you will meet this week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909012"/>
              </p:ext>
            </p:extLst>
          </p:nvPr>
        </p:nvGraphicFramePr>
        <p:xfrm>
          <a:off x="457200" y="11938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What it holds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one type, 1-D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300">
                          <a:latin typeface="Consolas"/>
                        </a:rPr>
                        <a:t>c(1, 5, 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categorical with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300">
                          <a:latin typeface="Consolas"/>
                        </a:rPr>
                        <a:t>factor(c("ctrl","trt"))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one type, 2-D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the count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data.frame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mixed types, 2-D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the sample sheet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anything, nested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S4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slots, formal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300" dirty="0" err="1">
                          <a:latin typeface="Consolas"/>
                        </a:rPr>
                        <a:t>DESeqDataSet</a:t>
                      </a:r>
                      <a:r>
                        <a:rPr dirty="0"/>
                        <a:t>, </a:t>
                      </a:r>
                      <a:r>
                        <a:rPr sz="1300" dirty="0">
                          <a:latin typeface="Consolas"/>
                        </a:rPr>
                        <a:t>Seurat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dirty="0" err="1"/>
                        <a:t>Sparse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matrix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dirty="0"/>
                        <a:t>Count </a:t>
                      </a:r>
                      <a:r>
                        <a:rPr lang="de-DE" dirty="0" err="1"/>
                        <a:t>data</a:t>
                      </a:r>
                      <a:r>
                        <a:rPr lang="de-DE" dirty="0"/>
                        <a:t> for </a:t>
                      </a:r>
                      <a:r>
                        <a:rPr lang="de-DE" dirty="0" err="1"/>
                        <a:t>single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cells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sz="1300" dirty="0" err="1">
                          <a:latin typeface="Consolas"/>
                        </a:rPr>
                        <a:t>seurat</a:t>
                      </a:r>
                      <a:endParaRPr sz="1300" dirty="0"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387684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64000"/>
            <a:ext cx="8229600" cy="6985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Factors matter: </a:t>
            </a:r>
            <a:r>
              <a:rPr b="1" dirty="0"/>
              <a:t>the first level is the reference level</a:t>
            </a:r>
            <a:r>
              <a:rPr dirty="0"/>
              <a:t> in every model you fit. </a:t>
            </a:r>
            <a:r>
              <a:rPr sz="1300" dirty="0">
                <a:latin typeface="Consolas"/>
              </a:rPr>
              <a:t>relevel()</a:t>
            </a:r>
            <a:r>
              <a:rPr dirty="0"/>
              <a:t> is your friend.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two dialects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Base R</a:t>
            </a:r>
            <a:r>
              <a:rPr dirty="0"/>
              <a:t> — </a:t>
            </a:r>
            <a:r>
              <a:rPr sz="1300" dirty="0" err="1">
                <a:latin typeface="Consolas"/>
              </a:rPr>
              <a:t>df</a:t>
            </a:r>
            <a:r>
              <a:rPr sz="1300" dirty="0">
                <a:latin typeface="Consolas"/>
              </a:rPr>
              <a:t>[</a:t>
            </a:r>
            <a:r>
              <a:rPr sz="1300" dirty="0" err="1">
                <a:latin typeface="Consolas"/>
              </a:rPr>
              <a:t>df$gene</a:t>
            </a:r>
            <a:r>
              <a:rPr sz="1300" dirty="0">
                <a:latin typeface="Consolas"/>
              </a:rPr>
              <a:t> == "TP53", ]</a:t>
            </a:r>
            <a:r>
              <a:rPr dirty="0"/>
              <a:t> Always available, no dependencies, used throughout Bioconductor.</a:t>
            </a:r>
          </a:p>
          <a:p>
            <a:pPr marL="0" lvl="0" indent="0">
              <a:buNone/>
            </a:pPr>
            <a:r>
              <a:rPr b="1" dirty="0" err="1"/>
              <a:t>Tidyverse</a:t>
            </a:r>
            <a:r>
              <a:rPr dirty="0"/>
              <a:t> — </a:t>
            </a:r>
            <a:r>
              <a:rPr sz="1300" dirty="0" err="1">
                <a:latin typeface="Consolas"/>
              </a:rPr>
              <a:t>df</a:t>
            </a:r>
            <a:r>
              <a:rPr sz="1300" dirty="0">
                <a:latin typeface="Consolas"/>
              </a:rPr>
              <a:t> |&gt; filter(gene == "TP53")</a:t>
            </a:r>
            <a:r>
              <a:rPr dirty="0"/>
              <a:t> More readable for data wrangling; </a:t>
            </a:r>
            <a:r>
              <a:rPr sz="1300" dirty="0">
                <a:latin typeface="Consolas"/>
              </a:rPr>
              <a:t>ggplot2</a:t>
            </a:r>
            <a:r>
              <a:rPr dirty="0"/>
              <a:t> for figures.</a:t>
            </a:r>
          </a:p>
          <a:p>
            <a:pPr marL="0" lvl="0" indent="0">
              <a:buNone/>
            </a:pPr>
            <a:r>
              <a:rPr dirty="0"/>
              <a:t>You need both. Bioconductor objects are base-R/S4; your figures and tables will be </a:t>
            </a:r>
            <a:r>
              <a:rPr dirty="0" err="1"/>
              <a:t>tidyverse</a:t>
            </a:r>
            <a:r>
              <a:rPr dirty="0"/>
              <a:t>. We teach both and switch between them explicitly.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ggplot2 in one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703320"/>
          </a:xfrm>
        </p:spPr>
        <p:txBody>
          <a:bodyPr>
            <a:normAutofit lnSpcReduction="10000"/>
          </a:bodyPr>
          <a:lstStyle/>
          <a:p>
            <a:pPr lvl="0" indent="0">
              <a:buNone/>
            </a:pPr>
            <a:r>
              <a:rPr dirty="0" err="1">
                <a:solidFill>
                  <a:srgbClr val="06287E"/>
                </a:solidFill>
                <a:latin typeface="Consolas"/>
              </a:rPr>
              <a:t>ggplot</a:t>
            </a:r>
            <a:r>
              <a:rPr sz="1300" dirty="0">
                <a:latin typeface="Consolas"/>
              </a:rPr>
              <a:t>(</a:t>
            </a:r>
            <a:r>
              <a:rPr dirty="0">
                <a:solidFill>
                  <a:srgbClr val="7D9029"/>
                </a:solidFill>
                <a:latin typeface="Consolas"/>
              </a:rPr>
              <a:t>data =</a:t>
            </a:r>
            <a:r>
              <a:rPr sz="1300" dirty="0">
                <a:latin typeface="Consolas"/>
              </a:rPr>
              <a:t> </a:t>
            </a:r>
            <a:r>
              <a:rPr sz="1300" dirty="0" err="1">
                <a:latin typeface="Consolas"/>
              </a:rPr>
              <a:t>df</a:t>
            </a:r>
            <a:r>
              <a:rPr sz="1300" dirty="0">
                <a:latin typeface="Consolas"/>
              </a:rPr>
              <a:t>, </a:t>
            </a:r>
            <a:r>
              <a:rPr dirty="0" err="1">
                <a:solidFill>
                  <a:srgbClr val="06287E"/>
                </a:solidFill>
                <a:latin typeface="Consolas"/>
              </a:rPr>
              <a:t>aes</a:t>
            </a:r>
            <a:r>
              <a:rPr sz="1300" dirty="0">
                <a:latin typeface="Consolas"/>
              </a:rPr>
              <a:t>(</a:t>
            </a:r>
            <a:r>
              <a:rPr dirty="0">
                <a:solidFill>
                  <a:srgbClr val="7D9029"/>
                </a:solidFill>
                <a:latin typeface="Consolas"/>
              </a:rPr>
              <a:t>x =</a:t>
            </a:r>
            <a:r>
              <a:rPr sz="1300" dirty="0">
                <a:latin typeface="Consolas"/>
              </a:rPr>
              <a:t> </a:t>
            </a:r>
            <a:r>
              <a:rPr sz="1300" dirty="0" err="1">
                <a:latin typeface="Consolas"/>
              </a:rPr>
              <a:t>logFC</a:t>
            </a:r>
            <a:r>
              <a:rPr sz="1300" dirty="0">
                <a:latin typeface="Consolas"/>
              </a:rPr>
              <a:t>, </a:t>
            </a:r>
            <a:r>
              <a:rPr dirty="0">
                <a:solidFill>
                  <a:srgbClr val="7D9029"/>
                </a:solidFill>
                <a:latin typeface="Consolas"/>
              </a:rPr>
              <a:t>y =</a:t>
            </a:r>
            <a:r>
              <a:rPr sz="1300" dirty="0">
                <a:latin typeface="Consolas"/>
              </a:rPr>
              <a:t> </a:t>
            </a:r>
            <a:r>
              <a:rPr dirty="0">
                <a:solidFill>
                  <a:srgbClr val="4070A0"/>
                </a:solidFill>
                <a:latin typeface="Consolas"/>
              </a:rPr>
              <a:t>-</a:t>
            </a:r>
            <a:r>
              <a:rPr dirty="0">
                <a:solidFill>
                  <a:srgbClr val="06287E"/>
                </a:solidFill>
                <a:latin typeface="Consolas"/>
              </a:rPr>
              <a:t>log10</a:t>
            </a:r>
            <a:r>
              <a:rPr sz="1300" dirty="0">
                <a:latin typeface="Consolas"/>
              </a:rPr>
              <a:t>(</a:t>
            </a:r>
            <a:r>
              <a:rPr sz="1300" dirty="0" err="1">
                <a:latin typeface="Consolas"/>
              </a:rPr>
              <a:t>pvalue</a:t>
            </a:r>
            <a:r>
              <a:rPr sz="1300" dirty="0">
                <a:latin typeface="Consolas"/>
              </a:rPr>
              <a:t>))) </a:t>
            </a:r>
            <a:r>
              <a:rPr dirty="0">
                <a:solidFill>
                  <a:srgbClr val="4070A0"/>
                </a:solidFill>
                <a:latin typeface="Consolas"/>
              </a:rPr>
              <a:t>+</a:t>
            </a:r>
            <a:br>
              <a:rPr dirty="0"/>
            </a:br>
            <a:r>
              <a:rPr sz="1300" dirty="0">
                <a:latin typeface="Consolas"/>
              </a:rPr>
              <a:t>  </a:t>
            </a:r>
            <a:r>
              <a:rPr dirty="0" err="1">
                <a:solidFill>
                  <a:srgbClr val="06287E"/>
                </a:solidFill>
                <a:latin typeface="Consolas"/>
              </a:rPr>
              <a:t>geom_point</a:t>
            </a:r>
            <a:r>
              <a:rPr sz="1300" dirty="0">
                <a:latin typeface="Consolas"/>
              </a:rPr>
              <a:t>(</a:t>
            </a:r>
            <a:r>
              <a:rPr dirty="0" err="1">
                <a:solidFill>
                  <a:srgbClr val="06287E"/>
                </a:solidFill>
                <a:latin typeface="Consolas"/>
              </a:rPr>
              <a:t>aes</a:t>
            </a:r>
            <a:r>
              <a:rPr sz="1300" dirty="0">
                <a:latin typeface="Consolas"/>
              </a:rPr>
              <a:t>(</a:t>
            </a:r>
            <a:r>
              <a:rPr dirty="0" err="1">
                <a:solidFill>
                  <a:srgbClr val="7D9029"/>
                </a:solidFill>
                <a:latin typeface="Consolas"/>
              </a:rPr>
              <a:t>colour</a:t>
            </a:r>
            <a:r>
              <a:rPr dirty="0">
                <a:solidFill>
                  <a:srgbClr val="7D9029"/>
                </a:solidFill>
                <a:latin typeface="Consolas"/>
              </a:rPr>
              <a:t> =</a:t>
            </a:r>
            <a:r>
              <a:rPr sz="1300" dirty="0">
                <a:latin typeface="Consolas"/>
              </a:rPr>
              <a:t> significant), </a:t>
            </a:r>
            <a:r>
              <a:rPr dirty="0">
                <a:solidFill>
                  <a:srgbClr val="7D9029"/>
                </a:solidFill>
                <a:latin typeface="Consolas"/>
              </a:rPr>
              <a:t>alpha =</a:t>
            </a:r>
            <a:r>
              <a:rPr sz="1300" dirty="0">
                <a:latin typeface="Consolas"/>
              </a:rPr>
              <a:t> </a:t>
            </a:r>
            <a:r>
              <a:rPr dirty="0">
                <a:solidFill>
                  <a:srgbClr val="40A070"/>
                </a:solidFill>
                <a:latin typeface="Consolas"/>
              </a:rPr>
              <a:t>0.6</a:t>
            </a:r>
            <a:r>
              <a:rPr sz="1300" dirty="0">
                <a:latin typeface="Consolas"/>
              </a:rPr>
              <a:t>) </a:t>
            </a:r>
            <a:r>
              <a:rPr dirty="0">
                <a:solidFill>
                  <a:srgbClr val="4070A0"/>
                </a:solidFill>
                <a:latin typeface="Consolas"/>
              </a:rPr>
              <a:t>+</a:t>
            </a:r>
            <a:br>
              <a:rPr dirty="0"/>
            </a:br>
            <a:r>
              <a:rPr sz="1300" dirty="0">
                <a:latin typeface="Consolas"/>
              </a:rPr>
              <a:t>  </a:t>
            </a:r>
            <a:r>
              <a:rPr dirty="0" err="1">
                <a:solidFill>
                  <a:srgbClr val="06287E"/>
                </a:solidFill>
                <a:latin typeface="Consolas"/>
              </a:rPr>
              <a:t>scale_colour_manual</a:t>
            </a:r>
            <a:r>
              <a:rPr sz="1300" dirty="0">
                <a:latin typeface="Consolas"/>
              </a:rPr>
              <a:t>(</a:t>
            </a:r>
            <a:r>
              <a:rPr dirty="0">
                <a:solidFill>
                  <a:srgbClr val="7D9029"/>
                </a:solidFill>
                <a:latin typeface="Consolas"/>
              </a:rPr>
              <a:t>values =</a:t>
            </a:r>
            <a:r>
              <a:rPr sz="1300" dirty="0">
                <a:latin typeface="Consolas"/>
              </a:rPr>
              <a:t> </a:t>
            </a:r>
            <a:r>
              <a:rPr dirty="0">
                <a:solidFill>
                  <a:srgbClr val="06287E"/>
                </a:solidFill>
                <a:latin typeface="Consolas"/>
              </a:rPr>
              <a:t>c</a:t>
            </a:r>
            <a:r>
              <a:rPr sz="1300" dirty="0">
                <a:latin typeface="Consolas"/>
              </a:rPr>
              <a:t>(</a:t>
            </a:r>
            <a:r>
              <a:rPr dirty="0">
                <a:solidFill>
                  <a:srgbClr val="4070A0"/>
                </a:solidFill>
                <a:latin typeface="Consolas"/>
              </a:rPr>
              <a:t>"grey70"</a:t>
            </a:r>
            <a:r>
              <a:rPr sz="1300" dirty="0">
                <a:latin typeface="Consolas"/>
              </a:rPr>
              <a:t>, </a:t>
            </a:r>
            <a:r>
              <a:rPr dirty="0">
                <a:solidFill>
                  <a:srgbClr val="4070A0"/>
                </a:solidFill>
                <a:latin typeface="Consolas"/>
              </a:rPr>
              <a:t>"firebrick"</a:t>
            </a:r>
            <a:r>
              <a:rPr sz="1300" dirty="0">
                <a:latin typeface="Consolas"/>
              </a:rPr>
              <a:t>)) </a:t>
            </a:r>
            <a:r>
              <a:rPr dirty="0">
                <a:solidFill>
                  <a:srgbClr val="4070A0"/>
                </a:solidFill>
                <a:latin typeface="Consolas"/>
              </a:rPr>
              <a:t>+</a:t>
            </a:r>
            <a:br>
              <a:rPr dirty="0"/>
            </a:br>
            <a:r>
              <a:rPr sz="1300" dirty="0">
                <a:latin typeface="Consolas"/>
              </a:rPr>
              <a:t>  </a:t>
            </a:r>
            <a:r>
              <a:rPr dirty="0">
                <a:solidFill>
                  <a:srgbClr val="06287E"/>
                </a:solidFill>
                <a:latin typeface="Consolas"/>
              </a:rPr>
              <a:t>labs</a:t>
            </a:r>
            <a:r>
              <a:rPr sz="1300" dirty="0">
                <a:latin typeface="Consolas"/>
              </a:rPr>
              <a:t>(</a:t>
            </a:r>
            <a:r>
              <a:rPr dirty="0">
                <a:solidFill>
                  <a:srgbClr val="7D9029"/>
                </a:solidFill>
                <a:latin typeface="Consolas"/>
              </a:rPr>
              <a:t>x =</a:t>
            </a:r>
            <a:r>
              <a:rPr sz="1300" dirty="0">
                <a:latin typeface="Consolas"/>
              </a:rPr>
              <a:t> </a:t>
            </a:r>
            <a:r>
              <a:rPr dirty="0">
                <a:solidFill>
                  <a:srgbClr val="4070A0"/>
                </a:solidFill>
                <a:latin typeface="Consolas"/>
              </a:rPr>
              <a:t>"log2 fold change"</a:t>
            </a:r>
            <a:r>
              <a:rPr sz="1300" dirty="0">
                <a:latin typeface="Consolas"/>
              </a:rPr>
              <a:t>, </a:t>
            </a:r>
            <a:r>
              <a:rPr dirty="0">
                <a:solidFill>
                  <a:srgbClr val="7D9029"/>
                </a:solidFill>
                <a:latin typeface="Consolas"/>
              </a:rPr>
              <a:t>y =</a:t>
            </a:r>
            <a:r>
              <a:rPr sz="1300" dirty="0">
                <a:latin typeface="Consolas"/>
              </a:rPr>
              <a:t> </a:t>
            </a:r>
            <a:r>
              <a:rPr dirty="0">
                <a:solidFill>
                  <a:srgbClr val="4070A0"/>
                </a:solidFill>
                <a:latin typeface="Consolas"/>
              </a:rPr>
              <a:t>"-log10 p"</a:t>
            </a:r>
            <a:r>
              <a:rPr sz="1300" dirty="0">
                <a:latin typeface="Consolas"/>
              </a:rPr>
              <a:t>) </a:t>
            </a:r>
            <a:r>
              <a:rPr dirty="0">
                <a:solidFill>
                  <a:srgbClr val="4070A0"/>
                </a:solidFill>
                <a:latin typeface="Consolas"/>
              </a:rPr>
              <a:t>+</a:t>
            </a:r>
            <a:br>
              <a:rPr dirty="0"/>
            </a:br>
            <a:r>
              <a:rPr sz="1300" dirty="0">
                <a:latin typeface="Consolas"/>
              </a:rPr>
              <a:t>  </a:t>
            </a:r>
            <a:r>
              <a:rPr dirty="0" err="1">
                <a:solidFill>
                  <a:srgbClr val="06287E"/>
                </a:solidFill>
                <a:latin typeface="Consolas"/>
              </a:rPr>
              <a:t>theme_bw</a:t>
            </a:r>
            <a:r>
              <a:rPr sz="1300" dirty="0">
                <a:latin typeface="Consolas"/>
              </a:rPr>
              <a:t>()</a:t>
            </a:r>
          </a:p>
          <a:p>
            <a:pPr lvl="0"/>
            <a:r>
              <a:rPr sz="1300" dirty="0" err="1">
                <a:latin typeface="Consolas"/>
              </a:rPr>
              <a:t>ggplot</a:t>
            </a:r>
            <a:r>
              <a:rPr sz="1300" dirty="0">
                <a:latin typeface="Consolas"/>
              </a:rPr>
              <a:t>()</a:t>
            </a:r>
            <a:r>
              <a:rPr dirty="0"/>
              <a:t> — the data and the canvas</a:t>
            </a:r>
          </a:p>
          <a:p>
            <a:pPr lvl="0"/>
            <a:r>
              <a:rPr sz="1300" dirty="0" err="1">
                <a:latin typeface="Consolas"/>
              </a:rPr>
              <a:t>aes</a:t>
            </a:r>
            <a:r>
              <a:rPr sz="1300" dirty="0">
                <a:latin typeface="Consolas"/>
              </a:rPr>
              <a:t>()</a:t>
            </a:r>
            <a:r>
              <a:rPr dirty="0"/>
              <a:t> — which variable maps to which visual property</a:t>
            </a:r>
          </a:p>
          <a:p>
            <a:pPr lvl="0"/>
            <a:r>
              <a:rPr sz="1300" dirty="0" err="1">
                <a:latin typeface="Consolas"/>
              </a:rPr>
              <a:t>geom</a:t>
            </a:r>
            <a:r>
              <a:rPr sz="1300" dirty="0">
                <a:latin typeface="Consolas"/>
              </a:rPr>
              <a:t>_*()</a:t>
            </a:r>
            <a:r>
              <a:rPr dirty="0"/>
              <a:t> — what to draw</a:t>
            </a:r>
          </a:p>
          <a:p>
            <a:pPr lvl="0"/>
            <a:r>
              <a:rPr sz="1300" dirty="0">
                <a:latin typeface="Consolas"/>
              </a:rPr>
              <a:t>scale_*()</a:t>
            </a:r>
            <a:r>
              <a:rPr dirty="0"/>
              <a:t> — how to translate values to </a:t>
            </a:r>
            <a:r>
              <a:rPr dirty="0" err="1"/>
              <a:t>colours</a:t>
            </a:r>
            <a:r>
              <a:rPr dirty="0"/>
              <a:t>/sizes/positions</a:t>
            </a:r>
          </a:p>
          <a:p>
            <a:pPr lvl="0"/>
            <a:r>
              <a:rPr sz="1300" dirty="0">
                <a:latin typeface="Consolas"/>
              </a:rPr>
              <a:t>labs()</a:t>
            </a:r>
            <a:r>
              <a:rPr dirty="0"/>
              <a:t>, </a:t>
            </a:r>
            <a:r>
              <a:rPr sz="1300" dirty="0">
                <a:latin typeface="Consolas"/>
              </a:rPr>
              <a:t>theme_*()</a:t>
            </a:r>
            <a:r>
              <a:rPr dirty="0"/>
              <a:t> — text and appearance</a:t>
            </a:r>
          </a:p>
          <a:p>
            <a:pPr lvl="0"/>
            <a:r>
              <a:rPr b="1" dirty="0">
                <a:latin typeface="Consolas"/>
              </a:rPr>
              <a:t>+</a:t>
            </a:r>
            <a:r>
              <a:rPr dirty="0"/>
              <a:t> — add layers</a:t>
            </a:r>
          </a:p>
          <a:p>
            <a:pPr marL="0" lvl="0" indent="0">
              <a:buNone/>
            </a:pPr>
            <a:r>
              <a:rPr dirty="0"/>
              <a:t>Every figure this week is built from these pieces.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Working practices we will insist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Use RStudio Projects.</a:t>
            </a:r>
            <a:r>
              <a:t> One folder per analysis. No </a:t>
            </a:r>
            <a:r>
              <a:rPr sz="1300">
                <a:latin typeface="Consolas"/>
              </a:rPr>
              <a:t>setwd()</a:t>
            </a:r>
            <a:r>
              <a:t>.</a:t>
            </a:r>
          </a:p>
          <a:p>
            <a:pPr marL="0" lvl="0" indent="0">
              <a:buNone/>
            </a:pPr>
            <a:r>
              <a:rPr b="1"/>
              <a:t>Write scripts, never console-only work.</a:t>
            </a:r>
            <a:r>
              <a:t> If it is not in a script, it did not happen reproducibly.</a:t>
            </a:r>
          </a:p>
          <a:p>
            <a:pPr marL="0" lvl="0" indent="0">
              <a:buNone/>
            </a:pPr>
            <a:r>
              <a:rPr b="1"/>
              <a:t>Comment </a:t>
            </a:r>
            <a:r>
              <a:rPr b="1" i="1"/>
              <a:t>why</a:t>
            </a:r>
            <a:r>
              <a:rPr b="1"/>
              <a:t>, not </a:t>
            </a:r>
            <a:r>
              <a:rPr b="1" i="1"/>
              <a:t>what</a:t>
            </a:r>
            <a:r>
              <a:rPr b="1"/>
              <a:t>.</a:t>
            </a:r>
            <a:r>
              <a:t> </a:t>
            </a:r>
            <a:r>
              <a:rPr sz="1300">
                <a:latin typeface="Consolas"/>
              </a:rPr>
              <a:t># filter low-expressed genes to reduce multiple-testing burden</a:t>
            </a:r>
            <a:r>
              <a:t> is useful. </a:t>
            </a:r>
            <a:r>
              <a:rPr sz="1300">
                <a:latin typeface="Consolas"/>
              </a:rPr>
              <a:t># filter rows</a:t>
            </a:r>
            <a:r>
              <a:t> is not.</a:t>
            </a:r>
          </a:p>
          <a:p>
            <a:pPr marL="0" lvl="0" indent="0">
              <a:buNone/>
            </a:pPr>
            <a:r>
              <a:rPr b="1"/>
              <a:t>Print </a:t>
            </a:r>
            <a:r>
              <a:rPr b="1">
                <a:latin typeface="Consolas"/>
              </a:rPr>
              <a:t>sessionInfo()</a:t>
            </a:r>
            <a:r>
              <a:rPr b="1"/>
              <a:t> at the end of every analysis.</a:t>
            </a:r>
            <a:r>
              <a:t> Package versions change results.</a:t>
            </a:r>
          </a:p>
          <a:p>
            <a:pPr marL="0" lvl="0" indent="0">
              <a:buNone/>
            </a:pPr>
            <a:r>
              <a:rPr b="1"/>
              <a:t>Never overwrite raw data.</a:t>
            </a:r>
            <a:r>
              <a:t> Read it, transform it, write the result somewhere else.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b="1"/>
              <a:t>Read the error message.</a:t>
            </a:r>
            <a:r>
              <a:t> Genuinely read it. The line number and the object name are usually enough.</a:t>
            </a:r>
          </a:p>
          <a:p>
            <a:pPr marL="342900" lvl="0" indent="-342900">
              <a:buAutoNum type="arabicPeriod"/>
            </a:pPr>
            <a:r>
              <a:rPr sz="1300">
                <a:latin typeface="Consolas"/>
              </a:rPr>
              <a:t>?function_name</a:t>
            </a:r>
            <a:r>
              <a:t> — every R function has a help page with examples.</a:t>
            </a:r>
          </a:p>
          <a:p>
            <a:pPr marL="342900" lvl="0" indent="-342900">
              <a:buAutoNum type="arabicPeriod"/>
            </a:pPr>
            <a:r>
              <a:rPr sz="1300">
                <a:latin typeface="Consolas"/>
              </a:rPr>
              <a:t>str(object)</a:t>
            </a:r>
            <a:r>
              <a:t> — what </a:t>
            </a:r>
            <a:r>
              <a:rPr i="1"/>
              <a:t>is</a:t>
            </a:r>
            <a:r>
              <a:t> this thing? Use constantly.</a:t>
            </a:r>
          </a:p>
          <a:p>
            <a:pPr marL="342900" lvl="0" indent="-342900">
              <a:buAutoNum type="arabicPeriod"/>
            </a:pPr>
            <a:r>
              <a:rPr sz="1300">
                <a:latin typeface="Consolas"/>
              </a:rPr>
              <a:t>dim()</a:t>
            </a:r>
            <a:r>
              <a:t>, </a:t>
            </a:r>
            <a:r>
              <a:rPr sz="1300">
                <a:latin typeface="Consolas"/>
              </a:rPr>
              <a:t>head()</a:t>
            </a:r>
            <a:r>
              <a:t>, </a:t>
            </a:r>
            <a:r>
              <a:rPr sz="1300">
                <a:latin typeface="Consolas"/>
              </a:rPr>
              <a:t>class()</a:t>
            </a:r>
            <a:r>
              <a:t>, </a:t>
            </a:r>
            <a:r>
              <a:rPr sz="1300">
                <a:latin typeface="Consolas"/>
              </a:rPr>
              <a:t>summary()</a:t>
            </a:r>
            <a:r>
              <a:t> — cheap sanity checks.</a:t>
            </a:r>
          </a:p>
          <a:p>
            <a:pPr marL="342900" lvl="0" indent="-342900">
              <a:buAutoNum type="arabicPeriod"/>
            </a:pPr>
            <a:r>
              <a:t>Bioconductor package </a:t>
            </a:r>
            <a:r>
              <a:rPr b="1"/>
              <a:t>vignettes</a:t>
            </a:r>
            <a:r>
              <a:t>: </a:t>
            </a:r>
            <a:r>
              <a:rPr sz="1300">
                <a:latin typeface="Consolas"/>
              </a:rPr>
              <a:t>browseVignettes("DESeq2")</a:t>
            </a:r>
            <a:r>
              <a:t>. These are written by the method authors and are excellent.</a:t>
            </a:r>
          </a:p>
          <a:p>
            <a:pPr marL="342900" lvl="0" indent="-342900">
              <a:buAutoNum type="arabicPeriod"/>
            </a:pPr>
            <a:r>
              <a:t>Search the error text verbatim. Bioconductor Support, Biostars.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afternoon — nine 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Open </a:t>
            </a:r>
            <a:r>
              <a:rPr sz="1300">
                <a:latin typeface="Consolas"/>
              </a:rPr>
              <a:t>Day1_Intro_and_R_Basics/scripts/01_R_basics.R</a:t>
            </a:r>
            <a:r>
              <a:t>.</a:t>
            </a:r>
          </a:p>
          <a:p>
            <a:pPr marL="342900" lvl="0" indent="-342900">
              <a:buAutoNum type="arabicPeriod"/>
            </a:pPr>
            <a:r>
              <a:t>R as a calculator; assignment</a:t>
            </a:r>
          </a:p>
          <a:p>
            <a:pPr marL="342900" lvl="0" indent="-342900">
              <a:buAutoNum type="arabicPeriod"/>
            </a:pPr>
            <a:r>
              <a:t>Vectors and vectorised operations</a:t>
            </a:r>
          </a:p>
          <a:p>
            <a:pPr marL="342900" lvl="0" indent="-342900">
              <a:buAutoNum type="arabicPeriod"/>
            </a:pPr>
            <a:r>
              <a:t>Data frames; reading and writing files</a:t>
            </a:r>
          </a:p>
          <a:p>
            <a:pPr marL="342900" lvl="0" indent="-342900">
              <a:buAutoNum type="arabicPeriod"/>
            </a:pPr>
            <a:r>
              <a:t>Subsetting and logical indexing</a:t>
            </a:r>
          </a:p>
          <a:p>
            <a:pPr marL="342900" lvl="0" indent="-342900">
              <a:buAutoNum type="arabicPeriod"/>
            </a:pPr>
            <a:r>
              <a:t>Factors (and why they bite)</a:t>
            </a:r>
          </a:p>
          <a:p>
            <a:pPr marL="342900" lvl="0" indent="-342900">
              <a:buAutoNum type="arabicPeriod"/>
            </a:pPr>
            <a:r>
              <a:t>Writing functions</a:t>
            </a:r>
          </a:p>
          <a:p>
            <a:pPr marL="342900" lvl="0" indent="-342900">
              <a:buAutoNum type="arabicPeriod"/>
            </a:pPr>
            <a:r>
              <a:rPr sz="1300">
                <a:latin typeface="Consolas"/>
              </a:rPr>
              <a:t>apply</a:t>
            </a:r>
            <a:r>
              <a:t> family and iteration</a:t>
            </a:r>
          </a:p>
          <a:p>
            <a:pPr marL="342900" lvl="0" indent="-342900">
              <a:buAutoNum type="arabicPeriod"/>
            </a:pPr>
            <a:r>
              <a:rPr sz="1300">
                <a:latin typeface="Consolas"/>
              </a:rPr>
              <a:t>dplyr</a:t>
            </a:r>
            <a:r>
              <a:t> verbs</a:t>
            </a:r>
          </a:p>
          <a:p>
            <a:pPr marL="342900" lvl="0" indent="-342900">
              <a:buAutoNum type="arabicPeriod"/>
            </a:pPr>
            <a:r>
              <a:rPr sz="1300">
                <a:latin typeface="Consolas"/>
              </a:rPr>
              <a:t>ggplot2</a:t>
            </a:r>
            <a:r>
              <a:t>, layer by layer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to work through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Each section has worked examples and an </a:t>
            </a:r>
            <a:r>
              <a:rPr b="1"/>
              <a:t>exercise</a:t>
            </a:r>
            <a:r>
              <a:t>. Do the exercises. Reading code and writing code are different skills, and only one of them transfers to tomorrow.</a:t>
            </a:r>
          </a:p>
          <a:p>
            <a:pPr marL="0" lvl="0" indent="0">
              <a:buNone/>
            </a:pPr>
            <a:r>
              <a:t>Run it </a:t>
            </a:r>
            <a:r>
              <a:rPr b="1"/>
              <a:t>line by line</a:t>
            </a:r>
            <a:r>
              <a:t> — </a:t>
            </a:r>
            <a:r>
              <a:rPr sz="1300">
                <a:latin typeface="Consolas"/>
              </a:rPr>
              <a:t>Ctrl</a:t>
            </a:r>
            <a:r>
              <a:t>/</a:t>
            </a:r>
            <a:r>
              <a:rPr sz="1300">
                <a:latin typeface="Consolas"/>
              </a:rPr>
              <a:t>Cmd</a:t>
            </a:r>
            <a:r>
              <a:t> + </a:t>
            </a:r>
            <a:r>
              <a:rPr sz="1300">
                <a:latin typeface="Consolas"/>
              </a:rPr>
              <a:t>Enter</a:t>
            </a:r>
            <a:r>
              <a:t> — and read the output before moving on. If you do not understand an output, that is the moment to ask, not three sections later.</a:t>
            </a:r>
          </a:p>
          <a:p>
            <a:pPr marL="0" lvl="0" indent="0">
              <a:buNone/>
            </a:pPr>
            <a:r>
              <a:t>We stop at 15:15 wherever we have got to; finish the rest in the group block. Sections 4, 5 and 8 are the ones you will use immediately tomorrow, so prioritise those if you fall behind.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Tomorrow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Morning:</a:t>
            </a:r>
            <a:r>
              <a:t> the statistics of count data. Normalisation done properly, the negative binomial, dispersion shrinkage, hypothesis testing, and how to write a design formula for a real experiment.</a:t>
            </a:r>
          </a:p>
          <a:p>
            <a:pPr marL="0" lvl="0" indent="0">
              <a:buNone/>
            </a:pPr>
            <a:r>
              <a:rPr b="1"/>
              <a:t>Afternoon:</a:t>
            </a:r>
            <a:r>
              <a:t> your group’s first complete differential expression analysis in DESeq2.</a:t>
            </a:r>
          </a:p>
          <a:p>
            <a:pPr marL="0" lvl="0" indent="0">
              <a:buNone/>
            </a:pPr>
            <a:r>
              <a:t>Please have </a:t>
            </a:r>
            <a:r>
              <a:rPr sz="1300">
                <a:latin typeface="Consolas"/>
              </a:rPr>
              <a:t>00_check_installation.R</a:t>
            </a:r>
            <a:r>
              <a:t> passing before tomorrow 13:00.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4E5F"/>
      </a:accent1>
      <a:accent2>
        <a:srgbClr val="B4531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8358</TotalTime>
  <Words>4223</Words>
  <Application>Microsoft Macintosh PowerPoint</Application>
  <PresentationFormat>On-screen Show (16:9)</PresentationFormat>
  <Paragraphs>502</Paragraphs>
  <Slides>53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Aptos</vt:lpstr>
      <vt:lpstr>Arial</vt:lpstr>
      <vt:lpstr>Calibri</vt:lpstr>
      <vt:lpstr>Cambria Math</vt:lpstr>
      <vt:lpstr>Consolas</vt:lpstr>
      <vt:lpstr>Office Theme</vt:lpstr>
      <vt:lpstr>From Biology to a Count Table</vt:lpstr>
      <vt:lpstr>The week in one slide</vt:lpstr>
      <vt:lpstr>Block 1 — What are we actually measuring?</vt:lpstr>
      <vt:lpstr>Why we measure RNA</vt:lpstr>
      <vt:lpstr>What “gene expression” means operationally</vt:lpstr>
      <vt:lpstr>The questions RNA-seq can answer</vt:lpstr>
      <vt:lpstr>The questions RNA-seq cannot answer</vt:lpstr>
      <vt:lpstr>Bulk vs single cell</vt:lpstr>
      <vt:lpstr>Bulk vs single cell</vt:lpstr>
      <vt:lpstr>Bulk vs single cell</vt:lpstr>
      <vt:lpstr>Bulk vs single cell</vt:lpstr>
      <vt:lpstr>Bulk vs single cell</vt:lpstr>
      <vt:lpstr>Bulk vs single cell</vt:lpstr>
      <vt:lpstr>Bulk vs single cell</vt:lpstr>
      <vt:lpstr>Bulk vs single cell</vt:lpstr>
      <vt:lpstr>Choosing between them</vt:lpstr>
      <vt:lpstr>The most common design mistake</vt:lpstr>
      <vt:lpstr>Block 1b — Experimental design</vt:lpstr>
      <vt:lpstr>Replication: three kinds</vt:lpstr>
      <vt:lpstr>How many replicates?</vt:lpstr>
      <vt:lpstr>How deep?</vt:lpstr>
      <vt:lpstr>Confounding — errors you cannot fix later</vt:lpstr>
      <vt:lpstr>Batch effects — how to fix the design</vt:lpstr>
      <vt:lpstr>Design checklist</vt:lpstr>
      <vt:lpstr>Block 2 — From tissue to numbers</vt:lpstr>
      <vt:lpstr>The wet-lab path</vt:lpstr>
      <vt:lpstr>RNA quality: RIN</vt:lpstr>
      <vt:lpstr>RNA quality: RIN</vt:lpstr>
      <vt:lpstr>Poly-A selection vs rRNA depletion</vt:lpstr>
      <vt:lpstr>Strandedness</vt:lpstr>
      <vt:lpstr>Single-end vs paired-end</vt:lpstr>
      <vt:lpstr>Single-cell specifics: dissociation</vt:lpstr>
      <vt:lpstr>Library prep: 10x Chromium in one slide</vt:lpstr>
      <vt:lpstr>What a UMI buys you</vt:lpstr>
      <vt:lpstr>Computational pre-processing (demonstrated, not run by you)</vt:lpstr>
      <vt:lpstr>FastQC: what to act on</vt:lpstr>
      <vt:lpstr>FastQC: what looks alarming but is not</vt:lpstr>
      <vt:lpstr>Alignment vs pseudo-alignment</vt:lpstr>
      <vt:lpstr>How a read becomes a count</vt:lpstr>
      <vt:lpstr>What the count matrix actually is</vt:lpstr>
      <vt:lpstr>Three things to check before analysing any count matrix</vt:lpstr>
      <vt:lpstr>Preview: why you cannot just do a t-test</vt:lpstr>
      <vt:lpstr>Block 3 — R for research</vt:lpstr>
      <vt:lpstr>Why R, and why we spend a whole afternoon on it</vt:lpstr>
      <vt:lpstr>The five things that actually matter</vt:lpstr>
      <vt:lpstr>Data structures you will meet this week</vt:lpstr>
      <vt:lpstr>The two dialects</vt:lpstr>
      <vt:lpstr>ggplot2 in one slide</vt:lpstr>
      <vt:lpstr>Working practices we will insist on</vt:lpstr>
      <vt:lpstr>Getting unstuck</vt:lpstr>
      <vt:lpstr>This afternoon — nine sections</vt:lpstr>
      <vt:lpstr>How to work through it</vt:lpstr>
      <vt:lpstr>Tomorrow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Biology to a Count Table</dc:title>
  <dc:creator>Instructor</dc:creator>
  <cp:keywords/>
  <cp:lastModifiedBy>Karagic, Nidal</cp:lastModifiedBy>
  <cp:revision>6</cp:revision>
  <dcterms:created xsi:type="dcterms:W3CDTF">2026-09-17T16:40:55Z</dcterms:created>
  <dcterms:modified xsi:type="dcterms:W3CDTF">2026-10-07T10:50:58Z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17 September 2026</vt:lpwstr>
  </property>
  <property fmtid="{D5CDD505-2E9C-101B-9397-08002B2CF9AE}" pid="3" name="output">
    <vt:lpwstr/>
  </property>
  <property fmtid="{D5CDD505-2E9C-101B-9397-08002B2CF9AE}" pid="4" name="subtitle">
    <vt:lpwstr>Day 1 — Transcriptomics Summer School, Sarajevo</vt:lpwstr>
  </property>
</Properties>
</file>