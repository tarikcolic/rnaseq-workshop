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openxmlformats.org/package/2006/relationships/metadata/extended-properties" Target="docProps/app0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6" r:id="rId28"/>
    <p:sldId id="287" r:id="rId29"/>
    <p:sldId id="284" r:id="rId30"/>
    <p:sldId id="285" r:id="rId31"/>
    <p:sldId id="288" r:id="rId32"/>
    <p:sldId id="289" r:id="rId33"/>
    <p:sldId id="290" r:id="rId34"/>
    <p:sldId id="299" r:id="rId35"/>
    <p:sldId id="291" r:id="rId36"/>
    <p:sldId id="292" r:id="rId37"/>
    <p:sldId id="293" r:id="rId38"/>
    <p:sldId id="294" r:id="rId39"/>
    <p:sldId id="295" r:id="rId40"/>
    <p:sldId id="297" r:id="rId4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75" autoAdjust="0"/>
  </p:normalViewPr>
  <p:slideViewPr>
    <p:cSldViewPr snapToGrid="0" snapToObjects="1">
      <p:cViewPr varScale="1">
        <p:scale>
          <a:sx n="159" d="100"/>
          <a:sy n="159" d="100"/>
        </p:scale>
        <p:origin x="81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70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600" kern="1200">
          <a:solidFill>
            <a:srgbClr val="1F4E5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35000"/>
        </a:spcBef>
        <a:buFont typeface="Arial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35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35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35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35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Single-Cell RNA-seq: Technology and Preprocessing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Day 4 — Transcriptomics Summer School, Sarajevo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30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1 — Why single cell, and what it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bulk cannot tell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You measure a tissue and find </a:t>
            </a:r>
            <a:r>
              <a:rPr i="1"/>
              <a:t>Gene X</a:t>
            </a:r>
            <a:r>
              <a:t> up 2-fold. Four explanations, indistinguishable in bulk:</a:t>
            </a:r>
          </a:p>
          <a:p>
            <a:pPr marL="342900" lvl="0" indent="-342900">
              <a:buAutoNum type="arabicPeriod"/>
            </a:pPr>
            <a:r>
              <a:t>Every cell increased </a:t>
            </a:r>
            <a:r>
              <a:rPr i="1"/>
              <a:t>Gene X</a:t>
            </a:r>
            <a:r>
              <a:t> 2-fold</a:t>
            </a:r>
          </a:p>
          <a:p>
            <a:pPr marL="342900" lvl="0" indent="-342900">
              <a:buAutoNum type="arabicPeriod"/>
            </a:pPr>
            <a:r>
              <a:t>Half the cells increased it 4-fold, half did nothing</a:t>
            </a:r>
          </a:p>
          <a:p>
            <a:pPr marL="342900" lvl="0" indent="-342900">
              <a:buAutoNum type="arabicPeriod"/>
            </a:pPr>
            <a:r>
              <a:t>A cell type that expresses </a:t>
            </a:r>
            <a:r>
              <a:rPr i="1"/>
              <a:t>Gene X</a:t>
            </a:r>
            <a:r>
              <a:t> highly doubled in abundance</a:t>
            </a:r>
          </a:p>
          <a:p>
            <a:pPr marL="342900" lvl="0" indent="-342900">
              <a:buAutoNum type="arabicPeriod"/>
            </a:pPr>
            <a:r>
              <a:t>A new cell state appeared that did not exist before</a:t>
            </a:r>
          </a:p>
          <a:p>
            <a:pPr marL="0" lvl="0" indent="0">
              <a:buNone/>
            </a:pPr>
            <a:r>
              <a:t>Explanation 3 is the most common, and it is a </a:t>
            </a:r>
            <a:r>
              <a:rPr b="1"/>
              <a:t>composition</a:t>
            </a:r>
            <a:r>
              <a:t> change, not a regulation change. Bulk cannot distinguish regulation from composition. Single cell can.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three questions single cell answers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What cell types/states are here, and in what proportions?</a:t>
            </a:r>
            <a:r>
              <a:rPr dirty="0"/>
              <a:t> This is what </a:t>
            </a:r>
            <a:r>
              <a:rPr dirty="0" err="1"/>
              <a:t>scRNA</a:t>
            </a:r>
            <a:r>
              <a:rPr dirty="0"/>
              <a:t>-seq is genuinely best at.</a:t>
            </a:r>
          </a:p>
          <a:p>
            <a:pPr marL="0" lvl="0" indent="0">
              <a:buNone/>
            </a:pPr>
            <a:r>
              <a:rPr b="1" dirty="0"/>
              <a:t>What is happening inside one specific population?</a:t>
            </a:r>
            <a:r>
              <a:rPr dirty="0"/>
              <a:t> Especially a rare one — 2% of cells is invisible in bulk and is 1,000 cells in a 50,000-cell experiment.</a:t>
            </a:r>
          </a:p>
          <a:p>
            <a:pPr marL="0" lvl="0" indent="0">
              <a:buNone/>
            </a:pPr>
            <a:r>
              <a:rPr b="1" dirty="0"/>
              <a:t>What is the structure of a continuous process?</a:t>
            </a:r>
            <a:r>
              <a:rPr dirty="0"/>
              <a:t> Differentiation, activation, cell cycle. Cells caught at different points along a trajectory, which you can then 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it costs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Statistical power per sample.</a:t>
            </a:r>
            <a:r>
              <a:t> You have 5,000 cells from one mouse. Your n is </a:t>
            </a:r>
            <a:r>
              <a:rPr b="1"/>
              <a:t>one</a:t>
            </a:r>
            <a:r>
              <a:t>. Cells are pseudo-replicates.</a:t>
            </a:r>
          </a:p>
          <a:p>
            <a:pPr marL="0" lvl="0" indent="0">
              <a:buNone/>
            </a:pPr>
            <a:r>
              <a:rPr b="1"/>
              <a:t>Sensitivity.</a:t>
            </a:r>
            <a:r>
              <a:t> 1,000–5,000 genes detected per cell versus ~20,000 in bulk. Transcription factors — low-expressed and interesting — are frequently undetected.</a:t>
            </a:r>
          </a:p>
          <a:p>
            <a:pPr marL="0" lvl="0" indent="0">
              <a:buNone/>
            </a:pPr>
            <a:r>
              <a:rPr b="1"/>
              <a:t>Money.</a:t>
            </a:r>
            <a:r>
              <a:t> Roughly 10–50× bulk per biological sample.</a:t>
            </a:r>
          </a:p>
          <a:p>
            <a:pPr marL="0" lvl="0" indent="0">
              <a:buNone/>
            </a:pPr>
            <a:r>
              <a:rPr b="1"/>
              <a:t>Live cells.</a:t>
            </a:r>
            <a:r>
              <a:t> No FFPE, no frozen tissue (though fixed and single-nucleus protocols exist and are improving fast).</a:t>
            </a:r>
          </a:p>
          <a:p>
            <a:pPr marL="0" lvl="0" indent="0">
              <a:buNone/>
            </a:pPr>
            <a:r>
              <a:rPr b="1"/>
              <a:t>The dissociation.</a:t>
            </a:r>
            <a:r>
              <a:t> You measure the cells that survived.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design principle that gets violated most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2000" b="1"/>
              <a:t>Cells are not replicates. Donors are.</a:t>
            </a:r>
          </a:p>
          <a:p>
            <a:pPr marL="0" lvl="0" indent="0">
              <a:buNone/>
            </a:pPr>
            <a:r>
              <a:t>If you want to say “treatment changes expression in macrophages”, you need </a:t>
            </a:r>
            <a:r>
              <a:rPr b="1"/>
              <a:t>several independent animals per group</a:t>
            </a:r>
            <a:r>
              <a:t> and you should analyse them as </a:t>
            </a:r>
            <a:r>
              <a:rPr b="1"/>
              <a:t>pseudobulk</a:t>
            </a:r>
            <a:r>
              <a:t> — sum counts per cell type per animal, then run DESeq2 on that. (Friday morning.)</a:t>
            </a:r>
          </a:p>
          <a:p>
            <a:pPr marL="0" lvl="0" indent="0">
              <a:buNone/>
            </a:pPr>
            <a:r>
              <a:t>Treating 3,000 cells as n = 3,000 gives p-values around 10⁻⁵⁰ for essentially anything. Those numbers are not small; they are wrong. The technical term is </a:t>
            </a:r>
            <a:r>
              <a:rPr i="1"/>
              <a:t>pseudoreplication</a:t>
            </a:r>
            <a:r>
              <a:t>, and it is endemic in the published single-cell literature.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Minimum viable single-cell design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What you need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Describe cell types in a 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1–2 samples is defensible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Compare proportions between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≥ 4–5 donors per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 within a cell type between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≥ 4–5 donors per group, pseudobulk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Find a rare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depth of cells, not of donors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Trajectory within one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 sample, many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49650"/>
            <a:ext cx="8229600" cy="800100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Multiplex if you possibly can.</a:t>
            </a:r>
            <a:r>
              <a:rPr dirty="0"/>
              <a:t> Cell hashing or genetic demultiplexing lets you load several donors in one lane, which removes the batch–condition confounding that otherwise ruins these experiments.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2 — How the data are made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three platform families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Droplet-based (10x Chromium, Drop-seq)</a:t>
            </a:r>
            <a:r>
              <a:t> Thousands–millions of cells, 3’ (or 5’) end only, UMI-based, ~1,000–3,000 genes/cell. The default for atlas and census work.</a:t>
            </a:r>
          </a:p>
          <a:p>
            <a:pPr marL="0" lvl="0" indent="0">
              <a:buNone/>
            </a:pPr>
            <a:r>
              <a:rPr b="1"/>
              <a:t>Plate-based (Smart-seq2/3, CEL-seq2)</a:t>
            </a:r>
            <a:r>
              <a:t> Hundreds of cells, </a:t>
            </a:r>
            <a:r>
              <a:rPr b="1"/>
              <a:t>full-length</a:t>
            </a:r>
            <a:r>
              <a:t> transcripts, higher sensitivity (5,000–10,000 genes/cell), isoform and allele information possible. Expensive per cell. Use when you need depth on few, selected cells.</a:t>
            </a:r>
          </a:p>
          <a:p>
            <a:pPr marL="0" lvl="0" indent="0">
              <a:buNone/>
            </a:pPr>
            <a:r>
              <a:rPr b="1"/>
              <a:t>Combinatorial indexing (sci-RNA-seq, Parse Evercode, 10x Flex)</a:t>
            </a:r>
            <a:r>
              <a:t> No droplets: cells are split and pooled through rounds of barcoding. Very high cell numbers, cheap per cell, works on fixed material.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10x Chromium, mechanically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Cell suspension, barcoded gel beads and oil meet in a microfluidic chip → </a:t>
            </a:r>
            <a:r>
              <a:rPr b="1"/>
              <a:t>GEMs</a:t>
            </a:r>
            <a:r>
              <a:t> (gel bead-in-emulsion droplets)</a:t>
            </a:r>
          </a:p>
          <a:p>
            <a:pPr marL="342900" lvl="0" indent="-342900">
              <a:buAutoNum type="arabicPeriod"/>
            </a:pPr>
            <a:r>
              <a:t>Loading is deliberately dilute: most droplets get </a:t>
            </a:r>
            <a:r>
              <a:rPr b="1"/>
              <a:t>zero</a:t>
            </a:r>
            <a:r>
              <a:t> cells. This is what keeps doublets rare.</a:t>
            </a:r>
          </a:p>
          <a:p>
            <a:pPr marL="342900" lvl="0" indent="-342900">
              <a:buAutoNum type="arabicPeriod"/>
            </a:pPr>
            <a:r>
              <a:t>Inside a droplet: the cell lyses, the bead dissolves, and poly-dT oligos capture mRNA</a:t>
            </a:r>
          </a:p>
          <a:p>
            <a:pPr marL="342900" lvl="0" indent="-342900">
              <a:buAutoNum type="arabicPeriod"/>
            </a:pPr>
            <a:r>
              <a:t>Reverse transcription attaches, to every cDNA molecule: </a:t>
            </a:r>
            <a:r>
              <a:rPr b="1"/>
              <a:t>cell barcode</a:t>
            </a:r>
            <a:r>
              <a:t> (16 bp, same across the bead) + </a:t>
            </a:r>
            <a:r>
              <a:rPr b="1"/>
              <a:t>UMI</a:t>
            </a:r>
            <a:r>
              <a:t> (12 bp, unique per molecule) + partial read-1 sequence</a:t>
            </a:r>
          </a:p>
          <a:p>
            <a:pPr marL="342900" lvl="0" indent="-342900">
              <a:buAutoNum type="arabicPeriod"/>
            </a:pPr>
            <a:r>
              <a:t>Emulsion broken, cDNA amplified, fragmented, sequenced</a:t>
            </a:r>
          </a:p>
          <a:p>
            <a:pPr marL="342900" lvl="0" indent="-342900">
              <a:buAutoNum type="arabicPeriod"/>
            </a:pPr>
            <a:r>
              <a:t>Read 1 = barcode + UMI; read 2 = the transcript’s 3’ 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Poisson loading and the doublet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574800"/>
          </a:xfrm>
        </p:spPr>
        <p:txBody>
          <a:bodyPr/>
          <a:lstStyle/>
          <a:p>
            <a:pPr marL="0" lvl="0" indent="0">
              <a:buNone/>
            </a:pPr>
            <a:r>
              <a:t>Loading is a Poisson process. If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𝜆</m:t>
                </m:r>
              </m:oMath>
            </a14:m>
            <a:r>
              <a:t> cells per droplet on average: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𝑃</m:t>
                  </m:r>
                  <m:r>
                    <a:rPr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nor/>
                    </m:rPr>
                    <a:rPr i="0"/>
                    <m:t>2 or more cells</m:t>
                  </m:r>
                  <m:r>
                    <a:rPr>
                      <a:latin typeface="Cambria Math" panose="02040503050406030204" pitchFamily="18" charset="0"/>
                    </a:rPr>
                    <m:t>)≈</m:t>
                  </m:r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𝜆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/2 </m:t>
                  </m:r>
                  <m:r>
                    <m:rPr>
                      <m:nor/>
                    </m:rPr>
                    <a:rPr i="0"/>
                    <m:t>for small </m:t>
                  </m:r>
                  <m:r>
                    <a:rPr>
                      <a:latin typeface="Cambria Math" panose="02040503050406030204" pitchFamily="18" charset="0"/>
                    </a:rPr>
                    <m:t>𝜆</m:t>
                  </m:r>
                </m:oMath>
              </m:oMathPara>
            </a14:m>
            <a:endParaRPr/>
          </a:p>
          <a:p>
            <a:pPr marL="0" lvl="0" indent="0">
              <a:buNone/>
            </a:pPr>
            <a:r>
              <a:t>so the doublet rate scales roughly with the </a:t>
            </a:r>
            <a:r>
              <a:rPr b="1"/>
              <a:t>number of cells recovered</a:t>
            </a:r>
            <a:r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874943"/>
              </p:ext>
            </p:extLst>
          </p:nvPr>
        </p:nvGraphicFramePr>
        <p:xfrm>
          <a:off x="457200" y="2463800"/>
          <a:ext cx="82296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Cells recovered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Doublet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~0.8%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~16%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4213727"/>
            <a:ext cx="8229600" cy="72379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Load more cells and you buy cells at the price of doublets. At 20,000 recovered cells, one in six “cells” is not a cell.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UMIs: counting molecules, not 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PCR amplifies unevenly, by orders of magnitude. Without UMIs you cannot distinguish 10 molecules from 1 molecule amplified 10-fold.</a:t>
            </a:r>
          </a:p>
          <a:p>
            <a:pPr marL="0" lvl="0" indent="0">
              <a:buNone/>
            </a:pPr>
            <a:r>
              <a:t>With UMIs: collapse all reads sharing (cell barcode, UMI, gene) into </a:t>
            </a:r>
            <a:r>
              <a:rPr b="1"/>
              <a:t>one count</a:t>
            </a:r>
            <a:r>
              <a:t>. The matrix holds approximate molecule counts.</a:t>
            </a:r>
          </a:p>
          <a:p>
            <a:pPr marL="0" lvl="0" indent="0">
              <a:buNone/>
            </a:pPr>
            <a:r>
              <a:t>Practical consequences:</a:t>
            </a:r>
          </a:p>
          <a:p>
            <a:pPr lvl="0"/>
            <a:r>
              <a:t>counts saturate: a gene cannot exceed the number of distinct UMIs</a:t>
            </a:r>
          </a:p>
          <a:p>
            <a:pPr lvl="0"/>
            <a:r>
              <a:t>sequencing deeper stops adding information once UMIs are saturated (~20,000–50,000 reads/cell for 10x 3’)</a:t>
            </a:r>
          </a:p>
          <a:p>
            <a:pPr lvl="0"/>
            <a:r>
              <a:t>the data are </a:t>
            </a:r>
            <a:r>
              <a:rPr b="1"/>
              <a:t>3’-biased</a:t>
            </a:r>
            <a:r>
              <a:t>: no isoform information, and 3’ UTR annotation quality directly affects your counts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From FASTQ to matrix: Cell Ranger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300">
                <a:latin typeface="Consolas"/>
              </a:rPr>
              <a:t>FASTQ (R1 = barcode+UMI, R2 = cDNA)
   ↓ extract and correct cell barcodes against the known whitelist
   ↓ align R2 to the transcriptome (STAR)
   ↓ deduplicate UMIs per cell per gene
raw matrix — ~500,000 barcodes × 30,000 genes (mostly empty droplets)
   ↓ call cells (EmptyDrops / knee on the barcode-rank curve)
filtered matrix — ~3,000 cells × 30,000 genes   ← where you start</a:t>
            </a:r>
          </a:p>
          <a:p>
            <a:pPr marL="0" lvl="0" indent="0">
              <a:buNone/>
            </a:pPr>
            <a:r>
              <a:t>Alternatives: </a:t>
            </a:r>
            <a:r>
              <a:rPr b="1"/>
              <a:t>STARsolo</a:t>
            </a:r>
            <a:r>
              <a:t>, </a:t>
            </a:r>
            <a:r>
              <a:rPr b="1"/>
              <a:t>alevin-fry</a:t>
            </a:r>
            <a:r>
              <a:t>, </a:t>
            </a:r>
            <a:r>
              <a:rPr b="1"/>
              <a:t>kallisto|bustools</a:t>
            </a:r>
            <a:r>
              <a:t> — faster, open, and give equivalent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Where </a:t>
            </a:r>
            <a:r>
              <a:rPr lang="de-DE" dirty="0"/>
              <a:t>do</a:t>
            </a:r>
            <a:r>
              <a:rPr dirty="0"/>
              <a:t> artefacts come from — 1: ambient RNA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Cells that lysed before encapsulation release mRNA into the suspension. </a:t>
            </a:r>
            <a:r>
              <a:rPr b="1"/>
              <a:t>Every</a:t>
            </a:r>
            <a:r>
              <a:t> droplet is filled with that soup.</a:t>
            </a:r>
          </a:p>
          <a:p>
            <a:pPr marL="0" lvl="0" indent="0">
              <a:buNone/>
            </a:pPr>
            <a:r>
              <a:t>Consequences:</a:t>
            </a:r>
          </a:p>
          <a:p>
            <a:pPr lvl="0"/>
            <a:r>
              <a:t>empty droplets have non-zero counts (which is how </a:t>
            </a:r>
            <a:r>
              <a:rPr sz="1300">
                <a:latin typeface="Consolas"/>
              </a:rPr>
              <a:t>EmptyDrops</a:t>
            </a:r>
            <a:r>
              <a:t> works: it tests against the ambient profile)</a:t>
            </a:r>
          </a:p>
          <a:p>
            <a:pPr lvl="0"/>
            <a:r>
              <a:t>real cells get a background of transcripts they never expressed</a:t>
            </a:r>
          </a:p>
          <a:p>
            <a:pPr lvl="0"/>
            <a:r>
              <a:t>you see haemoglobin in T cells, insulin in every pancreatic cell type, and the tissue’s dominant transcript everywhere</a:t>
            </a:r>
          </a:p>
          <a:p>
            <a:pPr marL="0" lvl="0" indent="0">
              <a:buNone/>
            </a:pPr>
            <a:r>
              <a:t>Correction: </a:t>
            </a:r>
            <a:r>
              <a:rPr sz="1300">
                <a:latin typeface="Consolas"/>
              </a:rPr>
              <a:t>SoupX</a:t>
            </a:r>
            <a:r>
              <a:t>, </a:t>
            </a:r>
            <a:r>
              <a:rPr sz="1300">
                <a:latin typeface="Consolas"/>
              </a:rPr>
              <a:t>CellBender</a:t>
            </a:r>
            <a:r>
              <a:t>, </a:t>
            </a:r>
            <a:r>
              <a:rPr sz="1300">
                <a:latin typeface="Consolas"/>
              </a:rPr>
              <a:t>DecontX</a:t>
            </a:r>
            <a:r>
              <a:t>. Worth doing when one cell type dominates the tissue — </a:t>
            </a:r>
            <a:r>
              <a:rPr b="1"/>
              <a:t>always check</a:t>
            </a:r>
            <a:r>
              <a:t> for implausible markers before you believe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Where the artefacts come from — 2: doublets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Two cells, one barcode, one chimeric profile. A T-cell/monocyte doublet looks like a novel cell type expressing both programmes, and it will form its own cluster.</a:t>
            </a:r>
          </a:p>
          <a:p>
            <a:pPr marL="0" lvl="0" indent="0">
              <a:buNone/>
            </a:pPr>
            <a:r>
              <a:t>Detection: simulate artificial doublets from your own data and find cells that resemble them. </a:t>
            </a:r>
            <a:r>
              <a:rPr sz="1300">
                <a:latin typeface="Consolas"/>
              </a:rPr>
              <a:t>DoubletFinder</a:t>
            </a:r>
            <a:r>
              <a:t>, </a:t>
            </a:r>
            <a:r>
              <a:rPr sz="1300">
                <a:latin typeface="Consolas"/>
              </a:rPr>
              <a:t>scDblFinder</a:t>
            </a:r>
            <a:r>
              <a:t>, </a:t>
            </a:r>
            <a:r>
              <a:rPr sz="1300">
                <a:latin typeface="Consolas"/>
              </a:rPr>
              <a:t>Scrublet</a:t>
            </a:r>
            <a:r>
              <a:t>.</a:t>
            </a:r>
          </a:p>
          <a:p>
            <a:pPr marL="0" lvl="0" indent="0">
              <a:buNone/>
            </a:pPr>
            <a:r>
              <a:t>Heuristics that help: doublets have </a:t>
            </a:r>
            <a:r>
              <a:rPr b="1"/>
              <a:t>high</a:t>
            </a:r>
            <a:r>
              <a:t> UMI counts and </a:t>
            </a:r>
            <a:r>
              <a:rPr b="1"/>
              <a:t>high</a:t>
            </a:r>
            <a:r>
              <a:t> gene counts, and co-express markers of two lineages.</a:t>
            </a:r>
          </a:p>
          <a:p>
            <a:pPr marL="1270000" lvl="0" indent="0">
              <a:buNone/>
            </a:pPr>
            <a:r>
              <a:rPr sz="2000"/>
              <a:t>A cluster co-expressing two lineage programmes is a doublet cluster until proven otherwise. This is the single most common false “novel cell type” in the literature.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Where the artefacts come from — 3: dying 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Apoptotic and damaged cells leak cytoplasmic RNA. Mitochondrial transcripts are retained longer, so the </a:t>
            </a:r>
            <a:r>
              <a:rPr b="1"/>
              <a:t>mitochondrial fraction rises</a:t>
            </a:r>
            <a:r>
              <a:t>.</a:t>
            </a:r>
          </a:p>
          <a:p>
            <a:pPr marL="0" lvl="0" indent="0">
              <a:buNone/>
            </a:pPr>
            <a:r>
              <a:t>Typical thresholds — and they are </a:t>
            </a:r>
            <a:r>
              <a:rPr i="1"/>
              <a:t>organism- and tissue-dependent</a:t>
            </a:r>
            <a:r>
              <a:t>:</a:t>
            </a:r>
          </a:p>
          <a:p>
            <a:pPr lvl="0"/>
            <a:r>
              <a:t>&lt; 5% MT: common cut for cell lines and PBMCs</a:t>
            </a:r>
          </a:p>
          <a:p>
            <a:pPr lvl="0"/>
            <a:r>
              <a:t>&lt; 10–20%: tissues; heart and muscle are genuinely mito-rich</a:t>
            </a:r>
          </a:p>
          <a:p>
            <a:pPr lvl="0"/>
            <a:r>
              <a:t>cardiomyocytes can be 30–40% mitochondrial </a:t>
            </a:r>
            <a:r>
              <a:rPr b="1"/>
              <a:t>while perfectly healthy</a:t>
            </a:r>
          </a:p>
          <a:p>
            <a:pPr marL="0" lvl="0" indent="0">
              <a:buNone/>
            </a:pPr>
            <a:r>
              <a:t>Never copy a threshold from a tutorial. Plot your distribution and choose from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Where the artefacts come from — 4: the dissociation itself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Enzymatic digestion at 37 °C for 30–60 minutes is a stress experiment.</a:t>
            </a:r>
          </a:p>
          <a:p>
            <a:pPr marL="0" lvl="0" indent="0">
              <a:buNone/>
            </a:pPr>
            <a:r>
              <a:t>Cells induce </a:t>
            </a:r>
            <a:r>
              <a:rPr i="1"/>
              <a:t>FOS</a:t>
            </a:r>
            <a:r>
              <a:t>, </a:t>
            </a:r>
            <a:r>
              <a:rPr i="1"/>
              <a:t>JUN</a:t>
            </a:r>
            <a:r>
              <a:t>, </a:t>
            </a:r>
            <a:r>
              <a:rPr i="1"/>
              <a:t>JUNB</a:t>
            </a:r>
            <a:r>
              <a:t>, </a:t>
            </a:r>
            <a:r>
              <a:rPr i="1"/>
              <a:t>EGR1</a:t>
            </a:r>
            <a:r>
              <a:t>, </a:t>
            </a:r>
            <a:r>
              <a:rPr i="1"/>
              <a:t>HSPA1A</a:t>
            </a:r>
            <a:r>
              <a:t>, </a:t>
            </a:r>
            <a:r>
              <a:rPr i="1"/>
              <a:t>HSPA1B</a:t>
            </a:r>
            <a:r>
              <a:t>, </a:t>
            </a:r>
            <a:r>
              <a:rPr i="1"/>
              <a:t>SOCS3</a:t>
            </a:r>
            <a:r>
              <a:t> — a stress signature that is </a:t>
            </a:r>
            <a:r>
              <a:rPr b="1"/>
              <a:t>not</a:t>
            </a:r>
            <a:r>
              <a:t> in the tissue you sampled.</a:t>
            </a:r>
          </a:p>
          <a:p>
            <a:pPr marL="0" lvl="0" indent="0">
              <a:buNone/>
            </a:pPr>
            <a:r>
              <a:t>Mitigations:</a:t>
            </a:r>
          </a:p>
          <a:p>
            <a:pPr lvl="0"/>
            <a:r>
              <a:t>cold-active protease (</a:t>
            </a:r>
            <a:r>
              <a:rPr i="1"/>
              <a:t>Bacillus licheniformis</a:t>
            </a:r>
            <a:r>
              <a:t>) at 6 °C</a:t>
            </a:r>
          </a:p>
          <a:p>
            <a:pPr lvl="0"/>
            <a:r>
              <a:t>transcription inhibitors (actinomycin D) during digestion</a:t>
            </a:r>
          </a:p>
          <a:p>
            <a:pPr lvl="0"/>
            <a:r>
              <a:t>single-</a:t>
            </a:r>
            <a:r>
              <a:rPr b="1"/>
              <a:t>nucleus</a:t>
            </a:r>
            <a:r>
              <a:t> RNA-seq: nuclei are isolated mechanically, no incubation, and works on frozen tissue</a:t>
            </a:r>
          </a:p>
          <a:p>
            <a:pPr lvl="0"/>
            <a:r>
              <a:t>computationally: score the stress signature and regress it out, or at minimum report 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Composition bias: you measure the survivors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Different cell types survive dissociation at very different rates.</a:t>
            </a:r>
          </a:p>
          <a:p>
            <a:pPr lvl="0"/>
            <a:r>
              <a:t>Neurons, adipocytes and cardiomyocytes are large and fragile → lost</a:t>
            </a:r>
          </a:p>
          <a:p>
            <a:pPr lvl="0"/>
            <a:r>
              <a:t>Immune cells are small and robust → over-represented</a:t>
            </a:r>
          </a:p>
          <a:p>
            <a:pPr lvl="0"/>
            <a:r>
              <a:t>In a solid tumour, the immune fraction in scRNA-seq routinely exceeds the histological fraction several-fold</a:t>
            </a:r>
          </a:p>
          <a:p>
            <a:pPr marL="0" lvl="0" indent="0">
              <a:buNone/>
            </a:pPr>
            <a:r>
              <a:t>Therefore: </a:t>
            </a:r>
            <a:r>
              <a:rPr b="1"/>
              <a:t>cell-type proportions from scRNA-seq are not tissue proportions.</a:t>
            </a:r>
            <a:r>
              <a:t> Treat them as relative, compare like with like (same protocol), and validate with imaging or flow cytometry before making a quantitative claim.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3 — The count matrix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it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300" dirty="0">
                <a:latin typeface="Consolas"/>
              </a:rPr>
              <a:t>        Cell_1  Cell_2  Cell_3  ...  Cell_2700
GAPDH        12       8      21             15
CD3D          </a:t>
            </a:r>
            <a:r>
              <a:rPr lang="de-DE" sz="1300" dirty="0">
                <a:latin typeface="Consolas"/>
              </a:rPr>
              <a:t>.</a:t>
            </a:r>
            <a:r>
              <a:rPr sz="1300" dirty="0">
                <a:latin typeface="Consolas"/>
              </a:rPr>
              <a:t>       4       </a:t>
            </a:r>
            <a:r>
              <a:rPr lang="de-DE" sz="1300" dirty="0">
                <a:latin typeface="Consolas"/>
              </a:rPr>
              <a:t>.</a:t>
            </a:r>
            <a:r>
              <a:rPr sz="1300" dirty="0">
                <a:latin typeface="Consolas"/>
              </a:rPr>
              <a:t>              3
MS4A1         </a:t>
            </a:r>
            <a:r>
              <a:rPr lang="de-DE" sz="1300" dirty="0">
                <a:latin typeface="Consolas"/>
              </a:rPr>
              <a:t>.</a:t>
            </a:r>
            <a:r>
              <a:rPr sz="1300" dirty="0">
                <a:latin typeface="Consolas"/>
              </a:rPr>
              <a:t>       </a:t>
            </a:r>
            <a:r>
              <a:rPr lang="de-DE" sz="1300" dirty="0">
                <a:latin typeface="Consolas"/>
              </a:rPr>
              <a:t>.</a:t>
            </a:r>
            <a:r>
              <a:rPr sz="1300" dirty="0">
                <a:latin typeface="Consolas"/>
              </a:rPr>
              <a:t>       7              </a:t>
            </a:r>
            <a:r>
              <a:rPr lang="de-DE" sz="1300" dirty="0">
                <a:latin typeface="Consolas"/>
              </a:rPr>
              <a:t>.</a:t>
            </a:r>
            <a:r>
              <a:rPr sz="1300" dirty="0">
                <a:latin typeface="Consolas"/>
              </a:rPr>
              <a:t>
LYZ          45       </a:t>
            </a:r>
            <a:r>
              <a:rPr lang="de-DE" sz="1300" dirty="0">
                <a:latin typeface="Consolas"/>
              </a:rPr>
              <a:t>.</a:t>
            </a:r>
            <a:r>
              <a:rPr sz="1300" dirty="0">
                <a:latin typeface="Consolas"/>
              </a:rPr>
              <a:t>       </a:t>
            </a:r>
            <a:r>
              <a:rPr lang="de-DE" sz="1300" dirty="0">
                <a:latin typeface="Consolas"/>
              </a:rPr>
              <a:t>.</a:t>
            </a:r>
            <a:r>
              <a:rPr sz="1300" dirty="0">
                <a:latin typeface="Consolas"/>
              </a:rPr>
              <a:t>             88
...</a:t>
            </a:r>
          </a:p>
          <a:p>
            <a:pPr lvl="0"/>
            <a:r>
              <a:rPr dirty="0"/>
              <a:t>~20,000–30,000 genes × 500–500,000 cells</a:t>
            </a:r>
          </a:p>
          <a:p>
            <a:pPr lvl="0"/>
            <a:r>
              <a:rPr b="1" dirty="0"/>
              <a:t>90–95% of entries are zero</a:t>
            </a:r>
          </a:p>
          <a:p>
            <a:pPr lvl="0"/>
            <a:r>
              <a:rPr dirty="0"/>
              <a:t>values are small integers: most non-zero entries are 1, 2 or 3</a:t>
            </a:r>
          </a:p>
          <a:p>
            <a:pPr lvl="0"/>
            <a:r>
              <a:rPr dirty="0"/>
              <a:t>stored </a:t>
            </a:r>
            <a:r>
              <a:rPr b="1" dirty="0"/>
              <a:t>sparse</a:t>
            </a:r>
            <a:r>
              <a:rPr dirty="0"/>
              <a:t> (only non-zeros): a 3,000-cell matrix is ~10 MB dense but ~3 MB sparse; a 500,000-cell matrix is impossible dense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a zero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Three different causes, and the distinction matters:</a:t>
            </a:r>
          </a:p>
          <a:p>
            <a:pPr marL="342900" lvl="0" indent="-342900">
              <a:buAutoNum type="arabicPeriod"/>
            </a:pPr>
            <a:r>
              <a:rPr b="1"/>
              <a:t>Biological zero</a:t>
            </a:r>
            <a:r>
              <a:t> — the gene is genuinely off in this cell</a:t>
            </a:r>
          </a:p>
          <a:p>
            <a:pPr marL="342900" lvl="0" indent="-342900">
              <a:buAutoNum type="arabicPeriod"/>
            </a:pPr>
            <a:r>
              <a:rPr b="1"/>
              <a:t>Sampling zero</a:t>
            </a:r>
            <a:r>
              <a:t> — the gene is expressed, but you captured ~10% of the cell’s mRNA and missed it. Purely a depth problem.</a:t>
            </a:r>
          </a:p>
          <a:p>
            <a:pPr marL="342900" lvl="0" indent="-342900">
              <a:buAutoNum type="arabicPeriod"/>
            </a:pPr>
            <a:r>
              <a:rPr b="1"/>
              <a:t>Technical failure</a:t>
            </a:r>
            <a:r>
              <a:t> — capture bias, unmappable, missing from annotation</a:t>
            </a:r>
          </a:p>
          <a:p>
            <a:pPr marL="0" lvl="0" indent="0">
              <a:buNone/>
            </a:pPr>
            <a:r>
              <a:t>Type 2 dominates and is well described by simple </a:t>
            </a:r>
            <a:r>
              <a:rPr b="1"/>
              <a:t>multinomial / Poisson sampling</a:t>
            </a:r>
            <a:r>
              <a:t> from the cell’s true composition.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“dropout” debate, settled enough for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Early single-cell papers assumed a </a:t>
            </a:r>
            <a:r>
              <a:rPr b="1"/>
              <a:t>zero-inflated</a:t>
            </a:r>
            <a:r>
              <a:t> process: extra zeros beyond what sampling predicts, needing imputation.</a:t>
            </a:r>
          </a:p>
          <a:p>
            <a:pPr marL="0" lvl="0" indent="0">
              <a:buNone/>
            </a:pPr>
            <a:r>
              <a:t>For UMI-based droplet data the current view is that </a:t>
            </a:r>
            <a:r>
              <a:rPr b="1"/>
              <a:t>there is little or no zero inflation</a:t>
            </a:r>
            <a:r>
              <a:t> beyond Poisson/negative-binomial sampling (Svensson 2020; Townes 2019; Choudhary &amp; Satija 2022). The zeros are mostly just low depth.</a:t>
            </a:r>
          </a:p>
          <a:p>
            <a:pPr marL="0" lvl="0" indent="0">
              <a:buNone/>
            </a:pPr>
            <a:r>
              <a:t>Practical consequences:</a:t>
            </a:r>
          </a:p>
          <a:p>
            <a:pPr lvl="0"/>
            <a:r>
              <a:t>you do </a:t>
            </a:r>
            <a:r>
              <a:rPr b="1"/>
              <a:t>not</a:t>
            </a:r>
            <a:r>
              <a:t> need imputation for standard analysis; imputation invents correlations and inflates significance</a:t>
            </a:r>
          </a:p>
          <a:p>
            <a:pPr lvl="0"/>
            <a:r>
              <a:t>zero-inflated models (ZINB) are usually unnecessary for UMI data</a:t>
            </a:r>
          </a:p>
          <a:p>
            <a:pPr lvl="0"/>
            <a:r>
              <a:t>plate-based, non-UMI data are a different story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Normalisation problem 1: depth varies enormously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Total UMIs per cell vary 10–100× </a:t>
            </a:r>
            <a:r>
              <a:rPr i="1"/>
              <a:t>within one sample</a:t>
            </a:r>
            <a:r>
              <a:t> — because of cell size, RNA content, capture efficiency, and cell-cycle stage.</a:t>
            </a:r>
          </a:p>
          <a:p>
            <a:pPr marL="0" lvl="0" indent="0">
              <a:buNone/>
            </a:pPr>
            <a:r>
              <a:t>The standard fix — </a:t>
            </a:r>
            <a:r>
              <a:rPr b="1"/>
              <a:t>log-normalisation</a:t>
            </a:r>
            <a:r>
              <a:t>: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̃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𝑔𝑐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>
                      <a:latin typeface="Cambria Math" panose="02040503050406030204" pitchFamily="18" charset="0"/>
                    </a:rPr>
                    <m:t>log</m:t>
                  </m:r>
                  <m:r>
                    <a:rPr>
                      <a:latin typeface="Cambria Math" panose="02040503050406030204" pitchFamily="18" charset="0"/>
                    </a:rPr>
                    <m:t>​</m:t>
                  </m:r>
                  <m:d>
                    <m:d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𝑔𝑐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𝑔𝑐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e>
                  </m:d>
                </m:oMath>
              </m:oMathPara>
            </a14:m>
            <a:endParaRPr/>
          </a:p>
          <a:p>
            <a:pPr marL="0" lvl="0" indent="0">
              <a:buNone/>
            </a:pPr>
            <a:r>
              <a:t>i.e. counts per 10,000, then log1p. </a:t>
            </a:r>
            <a:r>
              <a:rPr sz="1300">
                <a:latin typeface="Consolas"/>
              </a:rPr>
              <a:t>NormalizeData()</a:t>
            </a:r>
            <a:r>
              <a:t> in Seurat.</a:t>
            </a:r>
          </a:p>
          <a:p>
            <a:pPr marL="0" lvl="0" indent="0">
              <a:buNone/>
            </a:pPr>
            <a:r>
              <a:t>Simple, fast, and adequate for clustering and annotation, which is what you will do this afternoon.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log10 is imperfect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log transform does not fully stabilise variance for small counts, and the pseudocount interacts with depth: cells with few UMIs get systematically different values, so </a:t>
            </a:r>
            <a:r>
              <a:rPr b="1"/>
              <a:t>residual depth structure survives</a:t>
            </a:r>
            <a:r>
              <a:t> into the PCA.</a:t>
            </a:r>
          </a:p>
          <a:p>
            <a:pPr marL="0" lvl="0" indent="0">
              <a:buNone/>
            </a:pPr>
            <a:r>
              <a:rPr sz="1300">
                <a:latin typeface="Consolas"/>
              </a:rPr>
              <a:t>SCTransform</a:t>
            </a:r>
            <a:r>
              <a:t> instead fits a regularised negative-binomial regression per gene with sequencing depth as a covariate, and uses the </a:t>
            </a:r>
            <a:r>
              <a:rPr b="1"/>
              <a:t>Pearson residuals</a:t>
            </a:r>
            <a:r>
              <a:t> as the normalised values.</a:t>
            </a:r>
          </a:p>
          <a:p>
            <a:pPr lvl="0"/>
            <a:r>
              <a:t>better variance stabilisation; depth structure largely removed</a:t>
            </a:r>
          </a:p>
          <a:p>
            <a:pPr lvl="0"/>
            <a:r>
              <a:t>feature selection comes free (residual variance ranks genes)</a:t>
            </a:r>
          </a:p>
          <a:p>
            <a:pPr lvl="0"/>
            <a:r>
              <a:t>slower, more memory, and the residuals are harder to interpret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Which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Use </a:t>
            </a:r>
            <a:r>
              <a:rPr b="1">
                <a:latin typeface="Consolas"/>
              </a:rPr>
              <a:t>NormalizeData</a:t>
            </a:r>
            <a:r>
              <a:rPr b="1"/>
              <a:t> (log-CP10K)</a:t>
            </a:r>
            <a:r>
              <a:t> when: you are learning, the data are one clean sample, you need speed, or you want values you can interpret as “log expression”.</a:t>
            </a:r>
          </a:p>
          <a:p>
            <a:pPr marL="0" lvl="0" indent="0">
              <a:buNone/>
            </a:pPr>
            <a:r>
              <a:rPr b="1"/>
              <a:t>Use </a:t>
            </a:r>
            <a:r>
              <a:rPr b="1">
                <a:latin typeface="Consolas"/>
              </a:rPr>
              <a:t>SCTransform</a:t>
            </a:r>
            <a:r>
              <a:t> when: depth varies a lot between cells, you are integrating datasets, or the standard pipeline leaves obvious depth-driven structure in the UMAP.</a:t>
            </a:r>
          </a:p>
          <a:p>
            <a:pPr marL="0" lvl="0" indent="0">
              <a:buNone/>
            </a:pPr>
            <a:r>
              <a:t>They rarely change the </a:t>
            </a:r>
            <a:r>
              <a:rPr i="1"/>
              <a:t>biological</a:t>
            </a:r>
            <a:r>
              <a:t> conclusion. They do change cluster boundaries, so do not mix them within a project.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Feature selection: highly variable genes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20,000 genes; most carry no information about which cell is which. Using all of them adds noise and cost.</a:t>
            </a:r>
          </a:p>
          <a:p>
            <a:pPr marL="0" lvl="0" indent="0">
              <a:buNone/>
            </a:pPr>
            <a:r>
              <a:t>Find genes whose variance </a:t>
            </a:r>
            <a:r>
              <a:rPr b="1"/>
              <a:t>exceeds</a:t>
            </a:r>
            <a:r>
              <a:t> what their mean predicts: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nsolas"/>
              </a:rPr>
              <a:t>FindVariableFeatures</a:t>
            </a:r>
            <a:r>
              <a:rPr sz="1300">
                <a:latin typeface="Consolas"/>
              </a:rPr>
              <a:t>(obj, </a:t>
            </a:r>
            <a:r>
              <a:rPr>
                <a:solidFill>
                  <a:srgbClr val="7D9029"/>
                </a:solidFill>
                <a:latin typeface="Consolas"/>
              </a:rPr>
              <a:t>selection.method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70A0"/>
                </a:solidFill>
                <a:latin typeface="Consolas"/>
              </a:rPr>
              <a:t>"vst"</a:t>
            </a:r>
            <a:r>
              <a:rPr sz="1300">
                <a:latin typeface="Consolas"/>
              </a:rPr>
              <a:t>, </a:t>
            </a:r>
            <a:r>
              <a:rPr>
                <a:solidFill>
                  <a:srgbClr val="7D9029"/>
                </a:solidFill>
                <a:latin typeface="Consolas"/>
              </a:rPr>
              <a:t>nfeatures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A070"/>
                </a:solidFill>
                <a:latin typeface="Consolas"/>
              </a:rPr>
              <a:t>2000</a:t>
            </a:r>
            <a:r>
              <a:rPr sz="1300">
                <a:latin typeface="Consolas"/>
              </a:rPr>
              <a:t>)</a:t>
            </a:r>
          </a:p>
          <a:p>
            <a:pPr marL="0" lvl="0" indent="0">
              <a:buNone/>
            </a:pPr>
            <a:r>
              <a:t>2,000 is the conventional number. It is a tuning parameter, not a law: try 1,000 and 3,000 and see whether your clusters change. If they change a lot, say so.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4 — Dimensionality reduction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PCA first, always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Same mathematics as Tuesday, applied to scaled HVGs.</a:t>
            </a:r>
          </a:p>
          <a:p>
            <a:pPr marL="0" lvl="0" indent="0">
              <a:buNone/>
            </a:pPr>
            <a:r>
              <a:t>Its role here is </a:t>
            </a:r>
            <a:r>
              <a:rPr b="1"/>
              <a:t>denoising</a:t>
            </a:r>
            <a:r>
              <a:t>: each PC averages over many genes, so the top PCs carry coordinated biological variation while the tail carries mostly per-cell sampling noise.</a:t>
            </a:r>
          </a:p>
          <a:p>
            <a:pPr marL="0" lvl="0" indent="0">
              <a:buNone/>
            </a:pPr>
            <a:r>
              <a:t>Everything downstream — the neighbour graph, clustering, UMAP — is computed on the top PCs, </a:t>
            </a:r>
            <a:r>
              <a:rPr b="1"/>
              <a:t>not</a:t>
            </a:r>
            <a:r>
              <a:t> on genes. So the number of PCs you keep is one of the most consequential choices in the whole pipeline.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HVG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Highly variable genes are </a:t>
            </a:r>
            <a:r>
              <a:rPr b="1"/>
              <a:t>variable across all cells</a:t>
            </a:r>
            <a:r>
              <a:t>, so they are dominated by whatever distinguishes your </a:t>
            </a:r>
            <a:r>
              <a:rPr i="1"/>
              <a:t>largest</a:t>
            </a:r>
            <a:r>
              <a:t> cell populations.</a:t>
            </a:r>
          </a:p>
          <a:p>
            <a:pPr marL="0" lvl="0" indent="0">
              <a:buNone/>
            </a:pPr>
            <a:r>
              <a:t>Consequences:</a:t>
            </a:r>
          </a:p>
          <a:p>
            <a:pPr lvl="0"/>
            <a:r>
              <a:t>a rare population differing in a few genes may not contribute any HVGs, and will not separate</a:t>
            </a:r>
          </a:p>
          <a:p>
            <a:pPr lvl="0"/>
            <a:r>
              <a:t>immunoglobulin, mitochondrial and ribosomal genes often top the list and carry mostly technical signal</a:t>
            </a:r>
          </a:p>
          <a:p>
            <a:pPr lvl="0"/>
            <a:r>
              <a:t>cell-cycle genes are highly variable, and if you do not want proliferation to drive your clusters you must handle it (</a:t>
            </a:r>
            <a:r>
              <a:rPr sz="1300">
                <a:latin typeface="Consolas"/>
              </a:rPr>
              <a:t>CellCycleScoring</a:t>
            </a:r>
            <a:r>
              <a:t> then regress, or exclude those genes)</a:t>
            </a:r>
          </a:p>
          <a:p>
            <a:pPr marL="0" lvl="0" indent="0">
              <a:buNone/>
            </a:pPr>
            <a:r>
              <a:t>If a population you know exists does not appear, HVG selection is the first thing to interrogate.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dirty="0" err="1">
                <a:solidFill>
                  <a:srgbClr val="06287E"/>
                </a:solidFill>
                <a:latin typeface="Consolas"/>
              </a:rPr>
              <a:t>ScaleData</a:t>
            </a:r>
            <a:r>
              <a:rPr sz="1300" dirty="0">
                <a:latin typeface="Consolas"/>
              </a:rPr>
              <a:t>(obj) </a:t>
            </a:r>
            <a:endParaRPr lang="de-DE" sz="1300" dirty="0">
              <a:latin typeface="Consolas"/>
            </a:endParaRPr>
          </a:p>
          <a:p>
            <a:pPr lvl="0" indent="0">
              <a:buNone/>
            </a:pPr>
            <a:endParaRPr lang="de-DE" sz="1300" dirty="0">
              <a:latin typeface="Consolas"/>
            </a:endParaRPr>
          </a:p>
          <a:p>
            <a:pPr indent="0">
              <a:buNone/>
            </a:pPr>
            <a:r>
              <a:rPr dirty="0"/>
              <a:t>PCA is variance-driven, so without scaling the highest-expressed genes dominate. Scaling gives every selected gene equal influence.</a:t>
            </a:r>
          </a:p>
          <a:p>
            <a:pPr marL="0" lvl="0" indent="0">
              <a:buNone/>
            </a:pPr>
            <a:r>
              <a:rPr sz="1300" dirty="0" err="1">
                <a:latin typeface="Consolas"/>
              </a:rPr>
              <a:t>vars.to.regress</a:t>
            </a:r>
            <a:r>
              <a:rPr sz="1300" dirty="0">
                <a:latin typeface="Consolas"/>
              </a:rPr>
              <a:t> = c("</a:t>
            </a:r>
            <a:r>
              <a:rPr sz="1300" dirty="0" err="1">
                <a:latin typeface="Consolas"/>
              </a:rPr>
              <a:t>percent.mt</a:t>
            </a:r>
            <a:r>
              <a:rPr sz="1300" dirty="0">
                <a:latin typeface="Consolas"/>
              </a:rPr>
              <a:t>", "</a:t>
            </a:r>
            <a:r>
              <a:rPr sz="1300" dirty="0" err="1">
                <a:latin typeface="Consolas"/>
              </a:rPr>
              <a:t>nCount_RNA</a:t>
            </a:r>
            <a:r>
              <a:rPr sz="1300" dirty="0">
                <a:latin typeface="Consolas"/>
              </a:rPr>
              <a:t>")</a:t>
            </a:r>
            <a:r>
              <a:rPr dirty="0"/>
              <a:t> regresses out unwanted covariates at this step. Use sparingly: every regression removes real biology along with the artefact, and mitochondrial content is sometimes genuinely biological.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many PCs?</a:t>
            </a:r>
          </a:p>
        </p:txBody>
      </p:sp>
      <p:pic>
        <p:nvPicPr>
          <p:cNvPr id="3" name="Picture 1" descr="Day4_lecture_files/figure-pptx/elbow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7700" y="1193800"/>
            <a:ext cx="7835900" cy="369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Methods: the elbow plot (visual, fine in practice), </a:t>
            </a:r>
            <a:r>
              <a:rPr sz="1300">
                <a:latin typeface="Consolas"/>
              </a:rPr>
              <a:t>JackStraw</a:t>
            </a:r>
            <a:r>
              <a:t> (permutation, slow), or the Molecular Cross-Validation / Horn’s parallel analysis family.</a:t>
            </a:r>
          </a:p>
          <a:p>
            <a:pPr marL="0" lvl="0" indent="0">
              <a:buNone/>
            </a:pPr>
            <a:r>
              <a:rPr b="1"/>
              <a:t>Erring high is safer than erring low.</a:t>
            </a:r>
            <a:r>
              <a:t> Too few PCs merges distinct populations — an error you cannot detect. Too many adds noise, which mostly makes clusters slightly fuzzier.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t-SNE and UMAP: what they are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Both take your 15–30 dimensional PCA space and produce 2D coordinates that preserve </a:t>
            </a:r>
            <a:r>
              <a:rPr b="1"/>
              <a:t>local neighbourhoods</a:t>
            </a:r>
            <a:r>
              <a:t>.</a:t>
            </a:r>
          </a:p>
          <a:p>
            <a:pPr marL="0" lvl="0" indent="0">
              <a:buNone/>
            </a:pPr>
            <a:r>
              <a:t>Both are </a:t>
            </a:r>
            <a:r>
              <a:rPr b="1"/>
              <a:t>non-linear</a:t>
            </a:r>
            <a:r>
              <a:t> and </a:t>
            </a:r>
            <a:r>
              <a:rPr b="1"/>
              <a:t>stochastic</a:t>
            </a:r>
            <a:r>
              <a:t>. Both exist so you can look at your data. Neither is a measurement.</a:t>
            </a:r>
          </a:p>
          <a:p>
            <a:pPr marL="0" lvl="0" indent="0">
              <a:buNone/>
            </a:pPr>
            <a:r>
              <a:t>UMAP is now standard: faster, more reproducible, preserves somewhat more global structure, and can project new data onto an existing embedding.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6C21-5295-BD27-0AE7-8017A376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2138-DDA4-B00F-5D9C-79FBCC683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t-SNE and UMAP: what they are for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0CF0E5-7FB3-173C-962A-E70568566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326" y="1217018"/>
            <a:ext cx="4598111" cy="372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915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UMAP algorithm, conceptually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Build a kNN graph in PCA space (</a:t>
            </a:r>
            <a:r>
              <a:rPr sz="1300">
                <a:latin typeface="Consolas"/>
              </a:rPr>
              <a:t>n_neighbors</a:t>
            </a:r>
            <a:r>
              <a:t>, default 30)</a:t>
            </a:r>
          </a:p>
          <a:p>
            <a:pPr marL="342900" lvl="0" indent="-342900">
              <a:buAutoNum type="arabicPeriod"/>
            </a:pPr>
            <a:r>
              <a:t>Convert distances to edge weights — a fuzzy topological representation of the data</a:t>
            </a:r>
          </a:p>
          <a:p>
            <a:pPr marL="342900" lvl="0" indent="-342900">
              <a:buAutoNum type="arabicPeriod"/>
            </a:pPr>
            <a:r>
              <a:t>Lay out a low-dimensional graph whose weights match, by minimising a cross-entropy with </a:t>
            </a:r>
            <a:r>
              <a:rPr sz="1300">
                <a:latin typeface="Consolas"/>
              </a:rPr>
              <a:t>min_dist</a:t>
            </a:r>
            <a:r>
              <a:t> controlling how tightly points can pack</a:t>
            </a:r>
          </a:p>
          <a:p>
            <a:pPr marL="0" lvl="0" indent="0">
              <a:buNone/>
            </a:pPr>
            <a:r>
              <a:t>Key parameters:</a:t>
            </a:r>
          </a:p>
          <a:p>
            <a:pPr lvl="0"/>
            <a:r>
              <a:rPr b="1">
                <a:latin typeface="Consolas"/>
              </a:rPr>
              <a:t>n_neighbors</a:t>
            </a:r>
            <a:r>
              <a:t> small (5–10) → local detail, fragmented; large (50+) → global structure, merged detail</a:t>
            </a:r>
          </a:p>
          <a:p>
            <a:pPr lvl="0"/>
            <a:r>
              <a:rPr b="1">
                <a:latin typeface="Consolas"/>
              </a:rPr>
              <a:t>min_dist</a:t>
            </a:r>
            <a:r>
              <a:t> small → tight clumps; large → diffuse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you may and may not conclude from a UMAP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May:</a:t>
            </a:r>
          </a:p>
          <a:p>
            <a:pPr lvl="0"/>
            <a:r>
              <a:t>there appear to be distinct groups of cells (then verify with markers)</a:t>
            </a:r>
          </a:p>
          <a:p>
            <a:pPr lvl="0"/>
            <a:r>
              <a:t>these cells are neighbours in high-dimensional space</a:t>
            </a:r>
          </a:p>
          <a:p>
            <a:pPr lvl="0"/>
            <a:r>
              <a:t>a continuum </a:t>
            </a:r>
            <a:r>
              <a:rPr i="1"/>
              <a:t>may</a:t>
            </a:r>
            <a:r>
              <a:t> exist here (then test it properly)</a:t>
            </a:r>
          </a:p>
          <a:p>
            <a:pPr marL="0" lvl="0" indent="0">
              <a:buNone/>
            </a:pPr>
            <a:r>
              <a:rPr b="1"/>
              <a:t>May not:</a:t>
            </a:r>
          </a:p>
          <a:p>
            <a:pPr lvl="0"/>
            <a:r>
              <a:t>distances between clusters are meaningful — </a:t>
            </a:r>
            <a:r>
              <a:rPr b="1"/>
              <a:t>they are not</a:t>
            </a:r>
          </a:p>
          <a:p>
            <a:pPr lvl="0"/>
            <a:r>
              <a:t>the </a:t>
            </a:r>
            <a:r>
              <a:rPr i="1"/>
              <a:t>sizes</a:t>
            </a:r>
            <a:r>
              <a:t> of clusters reflect anything — they do not</a:t>
            </a:r>
          </a:p>
          <a:p>
            <a:pPr lvl="0"/>
            <a:r>
              <a:t>a cluster appearing between two others is intermediate — it may not be</a:t>
            </a:r>
          </a:p>
          <a:p>
            <a:pPr lvl="0"/>
            <a:r>
              <a:t>the branching structure is a lineage — it may be an artefact of </a:t>
            </a:r>
            <a:r>
              <a:rPr sz="1300">
                <a:latin typeface="Consolas"/>
              </a:rPr>
              <a:t>min_dist</a:t>
            </a:r>
          </a:p>
          <a:p>
            <a:pPr marL="0" lvl="0" indent="0">
              <a:buNone/>
            </a:pPr>
            <a:r>
              <a:t>A published finding that rests on a UMAP’s </a:t>
            </a:r>
            <a:r>
              <a:rPr i="1"/>
              <a:t>geometry</a:t>
            </a:r>
            <a:r>
              <a:t> rests on nothing.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UMAP is stochastic — demonstrate it to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300">
                <a:latin typeface="Consolas"/>
              </a:rPr>
              <a:t>obj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RunUMAP</a:t>
            </a:r>
            <a:r>
              <a:rPr sz="1300">
                <a:latin typeface="Consolas"/>
              </a:rPr>
              <a:t>(obj, </a:t>
            </a:r>
            <a:r>
              <a:rPr>
                <a:solidFill>
                  <a:srgbClr val="7D9029"/>
                </a:solidFill>
                <a:latin typeface="Consolas"/>
              </a:rPr>
              <a:t>dims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A070"/>
                </a:solidFill>
                <a:latin typeface="Consolas"/>
              </a:rPr>
              <a:t>1</a:t>
            </a:r>
            <a:r>
              <a:rPr>
                <a:solidFill>
                  <a:srgbClr val="4070A0"/>
                </a:solidFill>
                <a:latin typeface="Consolas"/>
              </a:rPr>
              <a:t>:</a:t>
            </a:r>
            <a:r>
              <a:rPr>
                <a:solidFill>
                  <a:srgbClr val="40A070"/>
                </a:solidFill>
                <a:latin typeface="Consolas"/>
              </a:rPr>
              <a:t>15</a:t>
            </a:r>
            <a:r>
              <a:rPr sz="1300">
                <a:latin typeface="Consolas"/>
              </a:rPr>
              <a:t>, </a:t>
            </a:r>
            <a:r>
              <a:rPr>
                <a:solidFill>
                  <a:srgbClr val="7D9029"/>
                </a:solidFill>
                <a:latin typeface="Consolas"/>
              </a:rPr>
              <a:t>seed.use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A070"/>
                </a:solidFill>
                <a:latin typeface="Consolas"/>
              </a:rPr>
              <a:t>42</a:t>
            </a:r>
            <a:r>
              <a:rPr sz="1300">
                <a:latin typeface="Consolas"/>
              </a:rPr>
              <a:t>)</a:t>
            </a:r>
            <a:br/>
            <a:r>
              <a:rPr sz="1300">
                <a:latin typeface="Consolas"/>
              </a:rPr>
              <a:t>obj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RunUMAP</a:t>
            </a:r>
            <a:r>
              <a:rPr sz="1300">
                <a:latin typeface="Consolas"/>
              </a:rPr>
              <a:t>(obj, </a:t>
            </a:r>
            <a:r>
              <a:rPr>
                <a:solidFill>
                  <a:srgbClr val="7D9029"/>
                </a:solidFill>
                <a:latin typeface="Consolas"/>
              </a:rPr>
              <a:t>dims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A070"/>
                </a:solidFill>
                <a:latin typeface="Consolas"/>
              </a:rPr>
              <a:t>1</a:t>
            </a:r>
            <a:r>
              <a:rPr>
                <a:solidFill>
                  <a:srgbClr val="4070A0"/>
                </a:solidFill>
                <a:latin typeface="Consolas"/>
              </a:rPr>
              <a:t>:</a:t>
            </a:r>
            <a:r>
              <a:rPr>
                <a:solidFill>
                  <a:srgbClr val="40A070"/>
                </a:solidFill>
                <a:latin typeface="Consolas"/>
              </a:rPr>
              <a:t>15</a:t>
            </a:r>
            <a:r>
              <a:rPr sz="1300">
                <a:latin typeface="Consolas"/>
              </a:rPr>
              <a:t>, </a:t>
            </a:r>
            <a:r>
              <a:rPr>
                <a:solidFill>
                  <a:srgbClr val="7D9029"/>
                </a:solidFill>
                <a:latin typeface="Consolas"/>
              </a:rPr>
              <a:t>seed.use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A070"/>
                </a:solidFill>
                <a:latin typeface="Consolas"/>
              </a:rPr>
              <a:t>1</a:t>
            </a:r>
            <a:r>
              <a:rPr sz="1300">
                <a:latin typeface="Consolas"/>
              </a:rPr>
              <a:t>)</a:t>
            </a:r>
          </a:p>
          <a:p>
            <a:pPr marL="0" lvl="0" indent="0">
              <a:buNone/>
            </a:pPr>
            <a:r>
              <a:t>Different seeds: same clusters, different positions, sometimes different apparent adjacencies. Always set </a:t>
            </a:r>
            <a:r>
              <a:rPr sz="1300">
                <a:latin typeface="Consolas"/>
              </a:rPr>
              <a:t>seed.use</a:t>
            </a:r>
            <a:r>
              <a:t> and report it.</a:t>
            </a:r>
          </a:p>
          <a:p>
            <a:pPr marL="0" lvl="0" indent="0">
              <a:buNone/>
            </a:pPr>
            <a:r>
              <a:t>Then change </a:t>
            </a:r>
            <a:r>
              <a:rPr sz="1300">
                <a:latin typeface="Consolas"/>
              </a:rPr>
              <a:t>dims = 1:10</a:t>
            </a:r>
            <a:r>
              <a:t> vs </a:t>
            </a:r>
            <a:r>
              <a:rPr sz="1300">
                <a:latin typeface="Consolas"/>
              </a:rPr>
              <a:t>1:30</a:t>
            </a:r>
            <a:r>
              <a:t> and look again. If your conclusion changes, it was never a conclusion.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scRNA-seq pipeline, one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300">
                <a:latin typeface="Consolas"/>
              </a:rPr>
              <a:t>filtered count matrix
   ↓ QC: nFeature, nCount, %MT      → filter cells and genes
   ↓ NormalizeData / SCTransform
   ↓ FindVariableFeatures (~2000)
   ↓ ScaleData
   ↓ RunPCA                          → ElbowPlot: choose dims
   ↓ RunUMAP                         (visualisation only)
   ↓ FindNeighbors + FindClusters    → clusters          [Friday]
   ↓ FindAllMarkers                  → marker genes      [Friday]
   ↓ annotation                      → cell types        [Friday]</a:t>
            </a:r>
          </a:p>
          <a:p>
            <a:pPr marL="0" lvl="0" indent="0">
              <a:buNone/>
            </a:pPr>
            <a:r>
              <a:t>Today: down to </a:t>
            </a:r>
            <a:r>
              <a:rPr sz="1300">
                <a:latin typeface="Consolas"/>
              </a:rPr>
              <a:t>RunUMAP</a:t>
            </a:r>
            <a:r>
              <a:t>. Tomorrow: the rest.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Seurat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indent="0">
              <a:buNone/>
            </a:pPr>
            <a:r>
              <a:rPr sz="1300">
                <a:latin typeface="Consolas"/>
              </a:rPr>
              <a:t>obj[[</a:t>
            </a:r>
            <a:r>
              <a:rPr>
                <a:solidFill>
                  <a:srgbClr val="4070A0"/>
                </a:solidFill>
                <a:latin typeface="Consolas"/>
              </a:rPr>
              <a:t>"RNA"</a:t>
            </a:r>
            <a:r>
              <a:rPr sz="1300">
                <a:latin typeface="Consolas"/>
              </a:rPr>
              <a:t>]]            </a:t>
            </a:r>
            <a:r>
              <a:rPr i="1">
                <a:solidFill>
                  <a:srgbClr val="60A0B0"/>
                </a:solidFill>
                <a:latin typeface="Consolas"/>
              </a:rPr>
              <a:t># an Assay: counts, data, scale.data</a:t>
            </a:r>
            <a:br/>
            <a:r>
              <a:rPr sz="1300">
                <a:latin typeface="Consolas"/>
              </a:rPr>
              <a:t>obj</a:t>
            </a:r>
            <a:r>
              <a:rPr>
                <a:solidFill>
                  <a:srgbClr val="4070A0"/>
                </a:solidFill>
                <a:latin typeface="Consolas"/>
              </a:rPr>
              <a:t>@</a:t>
            </a:r>
            <a:r>
              <a:rPr sz="1300">
                <a:latin typeface="Consolas"/>
              </a:rPr>
              <a:t>meta.data           </a:t>
            </a:r>
            <a:r>
              <a:rPr i="1">
                <a:solidFill>
                  <a:srgbClr val="60A0B0"/>
                </a:solidFill>
                <a:latin typeface="Consolas"/>
              </a:rPr>
              <a:t># one ROW PER CELL — QC metrics, clusters, labels</a:t>
            </a:r>
            <a:br/>
            <a:r>
              <a:rPr sz="1300">
                <a:latin typeface="Consolas"/>
              </a:rPr>
              <a:t>obj</a:t>
            </a:r>
            <a:r>
              <a:rPr>
                <a:solidFill>
                  <a:srgbClr val="4070A0"/>
                </a:solidFill>
                <a:latin typeface="Consolas"/>
              </a:rPr>
              <a:t>@</a:t>
            </a:r>
            <a:r>
              <a:rPr sz="1300">
                <a:latin typeface="Consolas"/>
              </a:rPr>
              <a:t>reductions</a:t>
            </a:r>
            <a:r>
              <a:rPr>
                <a:solidFill>
                  <a:srgbClr val="4070A0"/>
                </a:solidFill>
                <a:latin typeface="Consolas"/>
              </a:rPr>
              <a:t>$</a:t>
            </a:r>
            <a:r>
              <a:rPr sz="1300">
                <a:latin typeface="Consolas"/>
              </a:rPr>
              <a:t>pca      </a:t>
            </a:r>
            <a:r>
              <a:rPr i="1">
                <a:solidFill>
                  <a:srgbClr val="60A0B0"/>
                </a:solidFill>
                <a:latin typeface="Consolas"/>
              </a:rPr>
              <a:t># cell embeddings and gene loadings</a:t>
            </a:r>
            <a:br/>
            <a:r>
              <a:rPr sz="1300">
                <a:latin typeface="Consolas"/>
              </a:rPr>
              <a:t>obj</a:t>
            </a:r>
            <a:r>
              <a:rPr>
                <a:solidFill>
                  <a:srgbClr val="4070A0"/>
                </a:solidFill>
                <a:latin typeface="Consolas"/>
              </a:rPr>
              <a:t>@</a:t>
            </a:r>
            <a:r>
              <a:rPr sz="1300">
                <a:latin typeface="Consolas"/>
              </a:rPr>
              <a:t>reductions</a:t>
            </a:r>
            <a:r>
              <a:rPr>
                <a:solidFill>
                  <a:srgbClr val="4070A0"/>
                </a:solidFill>
                <a:latin typeface="Consolas"/>
              </a:rPr>
              <a:t>$</a:t>
            </a:r>
            <a:r>
              <a:rPr sz="1300">
                <a:latin typeface="Consolas"/>
              </a:rPr>
              <a:t>umap</a:t>
            </a:r>
            <a:br/>
            <a:r>
              <a:rPr>
                <a:solidFill>
                  <a:srgbClr val="06287E"/>
                </a:solidFill>
                <a:latin typeface="Consolas"/>
              </a:rPr>
              <a:t>Idents</a:t>
            </a:r>
            <a:r>
              <a:rPr sz="1300">
                <a:latin typeface="Consolas"/>
              </a:rPr>
              <a:t>(obj)             </a:t>
            </a:r>
            <a:r>
              <a:rPr i="1">
                <a:solidFill>
                  <a:srgbClr val="60A0B0"/>
                </a:solidFill>
                <a:latin typeface="Consolas"/>
              </a:rPr>
              <a:t># the "current" cell labels</a:t>
            </a:r>
            <a:br/>
            <a:r>
              <a:rPr>
                <a:solidFill>
                  <a:srgbClr val="06287E"/>
                </a:solidFill>
                <a:latin typeface="Consolas"/>
              </a:rPr>
              <a:t>DefaultAssay</a:t>
            </a:r>
            <a:r>
              <a:rPr sz="1300">
                <a:latin typeface="Consolas"/>
              </a:rPr>
              <a:t>(obj)       </a:t>
            </a:r>
            <a:r>
              <a:rPr i="1">
                <a:solidFill>
                  <a:srgbClr val="60A0B0"/>
                </a:solidFill>
                <a:latin typeface="Consolas"/>
              </a:rPr>
              <a:t># which assay functions act on</a:t>
            </a:r>
          </a:p>
          <a:p>
            <a:pPr marL="0" lvl="0" indent="0">
              <a:buNone/>
            </a:pPr>
            <a:r>
              <a:t>Access patterns you will use constantly:</a:t>
            </a:r>
          </a:p>
          <a:p>
            <a:pPr lvl="0" indent="0">
              <a:buNone/>
            </a:pPr>
            <a:r>
              <a:rPr sz="1300">
                <a:latin typeface="Consolas"/>
              </a:rPr>
              <a:t>obj</a:t>
            </a:r>
            <a:r>
              <a:rPr>
                <a:solidFill>
                  <a:srgbClr val="4070A0"/>
                </a:solidFill>
                <a:latin typeface="Consolas"/>
              </a:rPr>
              <a:t>$</a:t>
            </a:r>
            <a:r>
              <a:rPr sz="1300">
                <a:latin typeface="Consolas"/>
              </a:rPr>
              <a:t>percent.mt                       </a:t>
            </a:r>
            <a:r>
              <a:rPr i="1">
                <a:solidFill>
                  <a:srgbClr val="60A0B0"/>
                </a:solidFill>
                <a:latin typeface="Consolas"/>
              </a:rPr>
              <a:t># a meta.data column</a:t>
            </a:r>
            <a:br/>
            <a:r>
              <a:rPr sz="1300">
                <a:latin typeface="Consolas"/>
              </a:rPr>
              <a:t>obj</a:t>
            </a:r>
            <a:r>
              <a:rPr>
                <a:solidFill>
                  <a:srgbClr val="4070A0"/>
                </a:solidFill>
                <a:latin typeface="Consolas"/>
              </a:rPr>
              <a:t>@</a:t>
            </a:r>
            <a:r>
              <a:rPr sz="1300">
                <a:latin typeface="Consolas"/>
              </a:rPr>
              <a:t>meta.data</a:t>
            </a:r>
            <a:r>
              <a:rPr>
                <a:solidFill>
                  <a:srgbClr val="4070A0"/>
                </a:solidFill>
                <a:latin typeface="Consolas"/>
              </a:rPr>
              <a:t>$</a:t>
            </a:r>
            <a:r>
              <a:rPr sz="1300">
                <a:latin typeface="Consolas"/>
              </a:rPr>
              <a:t>seurat_clusters</a:t>
            </a:r>
            <a:br/>
            <a:r>
              <a:rPr>
                <a:solidFill>
                  <a:srgbClr val="06287E"/>
                </a:solidFill>
                <a:latin typeface="Consolas"/>
              </a:rPr>
              <a:t>GetAssayData</a:t>
            </a:r>
            <a:r>
              <a:rPr sz="1300">
                <a:latin typeface="Consolas"/>
              </a:rPr>
              <a:t>(obj, </a:t>
            </a:r>
            <a:r>
              <a:rPr>
                <a:solidFill>
                  <a:srgbClr val="7D9029"/>
                </a:solidFill>
                <a:latin typeface="Consolas"/>
              </a:rPr>
              <a:t>layer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70A0"/>
                </a:solidFill>
                <a:latin typeface="Consolas"/>
              </a:rPr>
              <a:t>"data"</a:t>
            </a:r>
            <a:r>
              <a:rPr sz="1300">
                <a:latin typeface="Consolas"/>
              </a:rPr>
              <a:t>)    </a:t>
            </a:r>
            <a:r>
              <a:rPr i="1">
                <a:solidFill>
                  <a:srgbClr val="60A0B0"/>
                </a:solidFill>
                <a:latin typeface="Consolas"/>
              </a:rPr>
              <a:t># normalised matrix (Seurat v5)</a:t>
            </a:r>
            <a:br/>
            <a:r>
              <a:rPr>
                <a:solidFill>
                  <a:srgbClr val="06287E"/>
                </a:solidFill>
                <a:latin typeface="Consolas"/>
              </a:rPr>
              <a:t>Cells</a:t>
            </a:r>
            <a:r>
              <a:rPr sz="1300">
                <a:latin typeface="Consolas"/>
              </a:rPr>
              <a:t>(obj); </a:t>
            </a:r>
            <a:r>
              <a:rPr>
                <a:solidFill>
                  <a:srgbClr val="06287E"/>
                </a:solidFill>
                <a:latin typeface="Consolas"/>
              </a:rPr>
              <a:t>nrow</a:t>
            </a:r>
            <a:r>
              <a:rPr sz="1300">
                <a:latin typeface="Consolas"/>
              </a:rPr>
              <a:t>(obj); </a:t>
            </a:r>
            <a:r>
              <a:rPr>
                <a:solidFill>
                  <a:srgbClr val="06287E"/>
                </a:solidFill>
                <a:latin typeface="Consolas"/>
              </a:rPr>
              <a:t>ncol</a:t>
            </a:r>
            <a:r>
              <a:rPr sz="1300">
                <a:latin typeface="Consolas"/>
              </a:rPr>
              <a:t>(obj)     </a:t>
            </a:r>
            <a:r>
              <a:rPr i="1">
                <a:solidFill>
                  <a:srgbClr val="60A0B0"/>
                </a:solidFill>
                <a:latin typeface="Consolas"/>
              </a:rPr>
              <a:t># cells are COLUMNS</a:t>
            </a:r>
          </a:p>
          <a:p>
            <a:pPr marL="0" lvl="0" indent="0">
              <a:buNone/>
            </a:pPr>
            <a:r>
              <a:rPr b="1"/>
              <a:t>Note the transposition:</a:t>
            </a:r>
            <a:r>
              <a:t> genes are rows, cells are columns in the assay; but </a:t>
            </a:r>
            <a:r>
              <a:rPr sz="1300">
                <a:latin typeface="Consolas"/>
              </a:rPr>
              <a:t>meta.data</a:t>
            </a:r>
            <a:r>
              <a:t> has one row per </a:t>
            </a:r>
            <a:r>
              <a:rPr b="1"/>
              <a:t>cell</a:t>
            </a:r>
            <a: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afternoon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sz="1300" dirty="0">
                <a:latin typeface="Consolas"/>
              </a:rPr>
              <a:t>Day4_scRNAseq_Intro/scripts/04_seurat_qc_dimred.R</a:t>
            </a:r>
          </a:p>
          <a:p>
            <a:pPr marL="342900" lvl="0" indent="-342900">
              <a:buAutoNum type="arabicPeriod"/>
            </a:pPr>
            <a:r>
              <a:rPr dirty="0"/>
              <a:t>Read 10x output; build a Seurat object; understand its structure</a:t>
            </a:r>
          </a:p>
          <a:p>
            <a:pPr marL="342900" lvl="0" indent="-342900">
              <a:buAutoNum type="arabicPeriod"/>
            </a:pPr>
            <a:r>
              <a:rPr dirty="0"/>
              <a:t>Compute QC metrics; plot their </a:t>
            </a:r>
            <a:r>
              <a:rPr b="1" dirty="0"/>
              <a:t>joint</a:t>
            </a:r>
            <a:r>
              <a:rPr dirty="0"/>
              <a:t> distributions</a:t>
            </a:r>
          </a:p>
          <a:p>
            <a:pPr marL="342900" lvl="0" indent="-342900">
              <a:buAutoNum type="arabicPeriod"/>
            </a:pPr>
            <a:r>
              <a:rPr dirty="0"/>
              <a:t>Choose thresholds </a:t>
            </a:r>
            <a:r>
              <a:rPr b="1" dirty="0"/>
              <a:t>from your own data</a:t>
            </a:r>
            <a:r>
              <a:rPr dirty="0"/>
              <a:t> and justify them in writing</a:t>
            </a:r>
          </a:p>
          <a:p>
            <a:pPr marL="342900" lvl="0" indent="-342900">
              <a:buAutoNum type="arabicPeriod"/>
            </a:pPr>
            <a:r>
              <a:rPr dirty="0" err="1"/>
              <a:t>Normalise</a:t>
            </a:r>
            <a:r>
              <a:rPr dirty="0"/>
              <a:t> (log-CP10K, and compare with </a:t>
            </a:r>
            <a:r>
              <a:rPr dirty="0" err="1"/>
              <a:t>SCTransform</a:t>
            </a:r>
            <a:r>
              <a:rPr dirty="0"/>
              <a:t>)</a:t>
            </a:r>
          </a:p>
          <a:p>
            <a:pPr marL="342900" lvl="0" indent="-342900">
              <a:buAutoNum type="arabicPeriod"/>
            </a:pPr>
            <a:r>
              <a:rPr dirty="0"/>
              <a:t>HVGs; inspect the top 20 and ask whether they are biology</a:t>
            </a:r>
          </a:p>
          <a:p>
            <a:pPr marL="342900" lvl="0" indent="-342900">
              <a:buAutoNum type="arabicPeriod"/>
            </a:pPr>
            <a:r>
              <a:rPr dirty="0"/>
              <a:t>Scale, PCA, examine the loadings of PC1–PC4</a:t>
            </a:r>
          </a:p>
          <a:p>
            <a:pPr marL="342900" lvl="0" indent="-342900">
              <a:buAutoNum type="arabicPeriod"/>
            </a:pPr>
            <a:r>
              <a:rPr dirty="0"/>
              <a:t>Elbow plot; choose dims; UMAP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F4E5F"/>
      </a:accent1>
      <a:accent2>
        <a:srgbClr val="B4531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d4fd9c7-2e6c-4639-b2db-b3f6330421a3}" enabled="1" method="Privileged" siteId="{98ae7559-10dc-4288-8e2e-4593e62fe3e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3263</Words>
  <Application>Microsoft Macintosh PowerPoint</Application>
  <PresentationFormat>On-screen Show (16:9)</PresentationFormat>
  <Paragraphs>215</Paragraphs>
  <Slides>40</Slides>
  <Notes>0</Notes>
  <HiddenSlides>7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Cambria Math</vt:lpstr>
      <vt:lpstr>Consolas</vt:lpstr>
      <vt:lpstr>Office Theme</vt:lpstr>
      <vt:lpstr>Single-Cell RNA-seq: Technology and Preprocessing</vt:lpstr>
      <vt:lpstr>Block 1 — Why single cell, and what it costs</vt:lpstr>
      <vt:lpstr>What bulk cannot tell you</vt:lpstr>
      <vt:lpstr>The three questions single cell answers well</vt:lpstr>
      <vt:lpstr>What it costs you</vt:lpstr>
      <vt:lpstr>The design principle that gets violated most</vt:lpstr>
      <vt:lpstr>Minimum viable single-cell design</vt:lpstr>
      <vt:lpstr>Block 2 — How the data are made</vt:lpstr>
      <vt:lpstr>The three platform families</vt:lpstr>
      <vt:lpstr>10x Chromium, mechanically</vt:lpstr>
      <vt:lpstr>Poisson loading and the doublet rate</vt:lpstr>
      <vt:lpstr>UMIs: counting molecules, not reads</vt:lpstr>
      <vt:lpstr>From FASTQ to matrix: Cell Ranger</vt:lpstr>
      <vt:lpstr>Where do artefacts come from — 1: ambient RNA</vt:lpstr>
      <vt:lpstr>Where the artefacts come from — 2: doublets</vt:lpstr>
      <vt:lpstr>Where the artefacts come from — 3: dying cells</vt:lpstr>
      <vt:lpstr>Where the artefacts come from — 4: the dissociation itself</vt:lpstr>
      <vt:lpstr>Composition bias: you measure the survivors</vt:lpstr>
      <vt:lpstr>Block 3 — The count matrix</vt:lpstr>
      <vt:lpstr>What it looks like</vt:lpstr>
      <vt:lpstr>What a zero means</vt:lpstr>
      <vt:lpstr>The “dropout” debate, settled enough for practice</vt:lpstr>
      <vt:lpstr>Normalisation problem 1: depth varies enormously</vt:lpstr>
      <vt:lpstr>Why log10 is imperfect</vt:lpstr>
      <vt:lpstr>Which to use</vt:lpstr>
      <vt:lpstr>Feature selection: highly variable genes</vt:lpstr>
      <vt:lpstr>Block 4 — Dimensionality reduction</vt:lpstr>
      <vt:lpstr>PCA first, always</vt:lpstr>
      <vt:lpstr>The HVG trap</vt:lpstr>
      <vt:lpstr>Scaling</vt:lpstr>
      <vt:lpstr>How many PCs?</vt:lpstr>
      <vt:lpstr>PowerPoint Presentation</vt:lpstr>
      <vt:lpstr>t-SNE and UMAP: what they are for</vt:lpstr>
      <vt:lpstr>t-SNE and UMAP: what they are for</vt:lpstr>
      <vt:lpstr>The UMAP algorithm, conceptually</vt:lpstr>
      <vt:lpstr>What you may and may not conclude from a UMAP</vt:lpstr>
      <vt:lpstr>UMAP is stochastic — demonstrate it to yourself</vt:lpstr>
      <vt:lpstr>The scRNA-seq pipeline, one slide</vt:lpstr>
      <vt:lpstr>The Seurat object</vt:lpstr>
      <vt:lpstr>This afternoon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Single-Cell RNA-seq: Technology and Preprocessing</dc:title>
  <dc:creator>Instructor</dc:creator>
  <cp:keywords/>
  <cp:lastModifiedBy>Karagic, Nidal</cp:lastModifiedBy>
  <cp:revision>1</cp:revision>
  <dcterms:created xsi:type="dcterms:W3CDTF">2026-09-30T08:47:21Z</dcterms:created>
  <dcterms:modified xsi:type="dcterms:W3CDTF">2026-10-14T19:31:32Z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30 September 2026</vt:lpwstr>
  </property>
  <property fmtid="{D5CDD505-2E9C-101B-9397-08002B2CF9AE}" pid="3" name="output">
    <vt:lpwstr/>
  </property>
  <property fmtid="{D5CDD505-2E9C-101B-9397-08002B2CF9AE}" pid="4" name="subtitle">
    <vt:lpwstr>Day 4 — Transcriptomics Summer School, Sarajevo</vt:lpwstr>
  </property>
</Properties>
</file>